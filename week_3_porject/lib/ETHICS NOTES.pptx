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148"/>
  </p:notesMasterIdLst>
  <p:sldIdLst>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353" r:id="rId23"/>
    <p:sldId id="354" r:id="rId24"/>
    <p:sldId id="355" r:id="rId25"/>
    <p:sldId id="277" r:id="rId26"/>
    <p:sldId id="350" r:id="rId27"/>
    <p:sldId id="351" r:id="rId28"/>
    <p:sldId id="352"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7" r:id="rId98"/>
    <p:sldId id="348" r:id="rId99"/>
    <p:sldId id="349" r:id="rId100"/>
    <p:sldId id="356" r:id="rId101"/>
    <p:sldId id="357" r:id="rId102"/>
    <p:sldId id="358" r:id="rId103"/>
    <p:sldId id="359" r:id="rId104"/>
    <p:sldId id="360" r:id="rId105"/>
    <p:sldId id="361" r:id="rId106"/>
    <p:sldId id="362" r:id="rId107"/>
    <p:sldId id="363" r:id="rId108"/>
    <p:sldId id="364" r:id="rId109"/>
    <p:sldId id="365" r:id="rId110"/>
    <p:sldId id="366" r:id="rId111"/>
    <p:sldId id="367" r:id="rId112"/>
    <p:sldId id="368" r:id="rId113"/>
    <p:sldId id="369" r:id="rId114"/>
    <p:sldId id="370" r:id="rId115"/>
    <p:sldId id="371" r:id="rId116"/>
    <p:sldId id="372" r:id="rId117"/>
    <p:sldId id="373" r:id="rId118"/>
    <p:sldId id="374" r:id="rId119"/>
    <p:sldId id="375" r:id="rId120"/>
    <p:sldId id="376" r:id="rId121"/>
    <p:sldId id="377" r:id="rId122"/>
    <p:sldId id="378" r:id="rId123"/>
    <p:sldId id="379" r:id="rId124"/>
    <p:sldId id="380" r:id="rId125"/>
    <p:sldId id="381" r:id="rId126"/>
    <p:sldId id="382" r:id="rId127"/>
    <p:sldId id="383" r:id="rId128"/>
    <p:sldId id="384" r:id="rId129"/>
    <p:sldId id="385" r:id="rId130"/>
    <p:sldId id="386" r:id="rId131"/>
    <p:sldId id="387" r:id="rId132"/>
    <p:sldId id="388" r:id="rId133"/>
    <p:sldId id="389" r:id="rId134"/>
    <p:sldId id="390" r:id="rId135"/>
    <p:sldId id="391" r:id="rId136"/>
    <p:sldId id="392" r:id="rId137"/>
    <p:sldId id="393" r:id="rId138"/>
    <p:sldId id="394" r:id="rId139"/>
    <p:sldId id="395" r:id="rId140"/>
    <p:sldId id="396" r:id="rId141"/>
    <p:sldId id="397" r:id="rId142"/>
    <p:sldId id="398" r:id="rId143"/>
    <p:sldId id="399" r:id="rId144"/>
    <p:sldId id="400" r:id="rId145"/>
    <p:sldId id="401" r:id="rId146"/>
    <p:sldId id="402" r:id="rId1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2932" autoAdjust="0"/>
  </p:normalViewPr>
  <p:slideViewPr>
    <p:cSldViewPr snapToGrid="0">
      <p:cViewPr varScale="1">
        <p:scale>
          <a:sx n="69" d="100"/>
          <a:sy n="69" d="100"/>
        </p:scale>
        <p:origin x="40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presProps" Target="presProps.xml"/><Relationship Id="rId5" Type="http://schemas.openxmlformats.org/officeDocument/2006/relationships/slide" Target="slides/slide3.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slide" Target="slides/slide132.xml"/><Relationship Id="rId139" Type="http://schemas.openxmlformats.org/officeDocument/2006/relationships/slide" Target="slides/slide137.xml"/><Relationship Id="rId80" Type="http://schemas.openxmlformats.org/officeDocument/2006/relationships/slide" Target="slides/slide78.xml"/><Relationship Id="rId85" Type="http://schemas.openxmlformats.org/officeDocument/2006/relationships/slide" Target="slides/slide83.xml"/><Relationship Id="rId150" Type="http://schemas.openxmlformats.org/officeDocument/2006/relationships/viewProps" Target="viewProps.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slide" Target="slides/slide138.xml"/><Relationship Id="rId145" Type="http://schemas.openxmlformats.org/officeDocument/2006/relationships/slide" Target="slides/slide143.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51" Type="http://schemas.openxmlformats.org/officeDocument/2006/relationships/theme" Target="theme/theme1.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tableStyles" Target="tableStyles.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4D570DD-5C45-4E81-92FD-E5C5A297911D}" type="doc">
      <dgm:prSet loTypeId="urn:microsoft.com/office/officeart/2005/8/layout/radial2" loCatId="relationship" qsTypeId="urn:microsoft.com/office/officeart/2005/8/quickstyle/simple1" qsCatId="simple" csTypeId="urn:microsoft.com/office/officeart/2005/8/colors/accent1_2" csCatId="accent1" phldr="1"/>
      <dgm:spPr/>
      <dgm:t>
        <a:bodyPr/>
        <a:lstStyle/>
        <a:p>
          <a:endParaRPr lang="en-GB"/>
        </a:p>
      </dgm:t>
    </dgm:pt>
    <dgm:pt modelId="{B0C50FE0-060E-4FC4-AFF6-3DCDA02DFA0C}">
      <dgm:prSet phldrT="[Text]"/>
      <dgm:spPr/>
      <dgm:t>
        <a:bodyPr/>
        <a:lstStyle/>
        <a:p>
          <a:r>
            <a:rPr lang="en-GB" dirty="0">
              <a:solidFill>
                <a:schemeClr val="bg1"/>
              </a:solidFill>
            </a:rPr>
            <a:t>Social Ethics</a:t>
          </a:r>
        </a:p>
      </dgm:t>
    </dgm:pt>
    <dgm:pt modelId="{7DF3987C-AE22-42EB-81C0-A5954A2CD45A}" type="parTrans" cxnId="{332FFB1A-A7B0-4BDA-A565-B48A10DDFCDF}">
      <dgm:prSet/>
      <dgm:spPr/>
      <dgm:t>
        <a:bodyPr/>
        <a:lstStyle/>
        <a:p>
          <a:endParaRPr lang="en-GB">
            <a:solidFill>
              <a:schemeClr val="bg1"/>
            </a:solidFill>
          </a:endParaRPr>
        </a:p>
      </dgm:t>
    </dgm:pt>
    <dgm:pt modelId="{26A74F3B-559B-4A20-AEAA-F681816E507F}" type="sibTrans" cxnId="{332FFB1A-A7B0-4BDA-A565-B48A10DDFCDF}">
      <dgm:prSet/>
      <dgm:spPr/>
      <dgm:t>
        <a:bodyPr/>
        <a:lstStyle/>
        <a:p>
          <a:endParaRPr lang="en-GB"/>
        </a:p>
      </dgm:t>
    </dgm:pt>
    <dgm:pt modelId="{7435E833-D6AA-4212-8406-1C3B970FB1FB}">
      <dgm:prSet phldrT="[Text]"/>
      <dgm:spPr/>
      <dgm:t>
        <a:bodyPr/>
        <a:lstStyle/>
        <a:p>
          <a:r>
            <a:rPr lang="en-GB" dirty="0">
              <a:solidFill>
                <a:schemeClr val="bg1"/>
              </a:solidFill>
            </a:rPr>
            <a:t>Professional Ethics</a:t>
          </a:r>
        </a:p>
      </dgm:t>
    </dgm:pt>
    <dgm:pt modelId="{AEDC9413-153D-434D-8F8F-1518FCEDBCC4}" type="parTrans" cxnId="{A3C3C13D-2C2C-45A6-8911-C2CB3CDDE871}">
      <dgm:prSet/>
      <dgm:spPr/>
      <dgm:t>
        <a:bodyPr/>
        <a:lstStyle/>
        <a:p>
          <a:endParaRPr lang="en-GB">
            <a:solidFill>
              <a:schemeClr val="bg1"/>
            </a:solidFill>
          </a:endParaRPr>
        </a:p>
      </dgm:t>
    </dgm:pt>
    <dgm:pt modelId="{71B94F3D-BCC6-4C9D-A0E7-C0C7BDB50BEA}" type="sibTrans" cxnId="{A3C3C13D-2C2C-45A6-8911-C2CB3CDDE871}">
      <dgm:prSet/>
      <dgm:spPr/>
      <dgm:t>
        <a:bodyPr/>
        <a:lstStyle/>
        <a:p>
          <a:endParaRPr lang="en-GB"/>
        </a:p>
      </dgm:t>
    </dgm:pt>
    <dgm:pt modelId="{0691C906-0EE3-42CE-8567-146CB30989B4}">
      <dgm:prSet phldrT="[Text]"/>
      <dgm:spPr/>
      <dgm:t>
        <a:bodyPr/>
        <a:lstStyle/>
        <a:p>
          <a:r>
            <a:rPr lang="en-GB" dirty="0">
              <a:solidFill>
                <a:schemeClr val="bg1"/>
              </a:solidFill>
            </a:rPr>
            <a:t>Personal Ethics</a:t>
          </a:r>
        </a:p>
      </dgm:t>
    </dgm:pt>
    <dgm:pt modelId="{8FDEFBC8-50E6-4C1A-8C54-BE5177B55622}" type="parTrans" cxnId="{6A8FA347-1194-4791-97C3-43ED50BD2E34}">
      <dgm:prSet/>
      <dgm:spPr/>
      <dgm:t>
        <a:bodyPr/>
        <a:lstStyle/>
        <a:p>
          <a:endParaRPr lang="en-GB">
            <a:solidFill>
              <a:schemeClr val="bg1"/>
            </a:solidFill>
          </a:endParaRPr>
        </a:p>
      </dgm:t>
    </dgm:pt>
    <dgm:pt modelId="{F0187AED-CE1D-471C-9AEC-62C4F390156A}" type="sibTrans" cxnId="{6A8FA347-1194-4791-97C3-43ED50BD2E34}">
      <dgm:prSet/>
      <dgm:spPr/>
      <dgm:t>
        <a:bodyPr/>
        <a:lstStyle/>
        <a:p>
          <a:endParaRPr lang="en-GB"/>
        </a:p>
      </dgm:t>
    </dgm:pt>
    <dgm:pt modelId="{4D81D208-45D6-4773-BEB0-5D4C01554EDE}" type="pres">
      <dgm:prSet presAssocID="{44D570DD-5C45-4E81-92FD-E5C5A297911D}" presName="composite" presStyleCnt="0">
        <dgm:presLayoutVars>
          <dgm:chMax val="5"/>
          <dgm:dir/>
          <dgm:animLvl val="ctr"/>
          <dgm:resizeHandles val="exact"/>
        </dgm:presLayoutVars>
      </dgm:prSet>
      <dgm:spPr/>
      <dgm:t>
        <a:bodyPr/>
        <a:lstStyle/>
        <a:p>
          <a:endParaRPr lang="en-US"/>
        </a:p>
      </dgm:t>
    </dgm:pt>
    <dgm:pt modelId="{83D000A6-CE42-4B74-803D-1120A3457C2B}" type="pres">
      <dgm:prSet presAssocID="{44D570DD-5C45-4E81-92FD-E5C5A297911D}" presName="cycle" presStyleCnt="0"/>
      <dgm:spPr/>
    </dgm:pt>
    <dgm:pt modelId="{7DFFD545-9E2F-42CA-BB8F-24956685E403}" type="pres">
      <dgm:prSet presAssocID="{44D570DD-5C45-4E81-92FD-E5C5A297911D}" presName="centerShape" presStyleCnt="0"/>
      <dgm:spPr/>
    </dgm:pt>
    <dgm:pt modelId="{48852907-0021-4117-AA60-2085883F4B3A}" type="pres">
      <dgm:prSet presAssocID="{44D570DD-5C45-4E81-92FD-E5C5A297911D}" presName="connSite" presStyleLbl="node1" presStyleIdx="0" presStyleCnt="4"/>
      <dgm:spPr/>
    </dgm:pt>
    <dgm:pt modelId="{000D5E4F-0C0E-4C42-AEB0-D889B6040788}" type="pres">
      <dgm:prSet presAssocID="{44D570DD-5C45-4E81-92FD-E5C5A297911D}" presName="visible" presStyleLbl="node1" presStyleIdx="0" presStyleCnt="4"/>
      <dgm:spPr/>
    </dgm:pt>
    <dgm:pt modelId="{EE29D311-748A-469F-A2DF-F3B959DE1465}" type="pres">
      <dgm:prSet presAssocID="{7DF3987C-AE22-42EB-81C0-A5954A2CD45A}" presName="Name25" presStyleLbl="parChTrans1D1" presStyleIdx="0" presStyleCnt="3"/>
      <dgm:spPr/>
      <dgm:t>
        <a:bodyPr/>
        <a:lstStyle/>
        <a:p>
          <a:endParaRPr lang="en-US"/>
        </a:p>
      </dgm:t>
    </dgm:pt>
    <dgm:pt modelId="{F9B3499A-5F36-4A1A-9AD9-64AE5C6C3FD1}" type="pres">
      <dgm:prSet presAssocID="{B0C50FE0-060E-4FC4-AFF6-3DCDA02DFA0C}" presName="node" presStyleCnt="0"/>
      <dgm:spPr/>
    </dgm:pt>
    <dgm:pt modelId="{D77A63A2-ECB1-441D-9949-42790B04F17F}" type="pres">
      <dgm:prSet presAssocID="{B0C50FE0-060E-4FC4-AFF6-3DCDA02DFA0C}" presName="parentNode" presStyleLbl="node1" presStyleIdx="1" presStyleCnt="4">
        <dgm:presLayoutVars>
          <dgm:chMax val="1"/>
          <dgm:bulletEnabled val="1"/>
        </dgm:presLayoutVars>
      </dgm:prSet>
      <dgm:spPr/>
      <dgm:t>
        <a:bodyPr/>
        <a:lstStyle/>
        <a:p>
          <a:endParaRPr lang="en-US"/>
        </a:p>
      </dgm:t>
    </dgm:pt>
    <dgm:pt modelId="{09CB1E06-4403-4F94-B6CB-1D7B7B500FEB}" type="pres">
      <dgm:prSet presAssocID="{B0C50FE0-060E-4FC4-AFF6-3DCDA02DFA0C}" presName="childNode" presStyleLbl="revTx" presStyleIdx="0" presStyleCnt="0">
        <dgm:presLayoutVars>
          <dgm:bulletEnabled val="1"/>
        </dgm:presLayoutVars>
      </dgm:prSet>
      <dgm:spPr/>
    </dgm:pt>
    <dgm:pt modelId="{EE76EAB5-E3CA-435A-A2C2-96929FCB4BB6}" type="pres">
      <dgm:prSet presAssocID="{AEDC9413-153D-434D-8F8F-1518FCEDBCC4}" presName="Name25" presStyleLbl="parChTrans1D1" presStyleIdx="1" presStyleCnt="3"/>
      <dgm:spPr/>
      <dgm:t>
        <a:bodyPr/>
        <a:lstStyle/>
        <a:p>
          <a:endParaRPr lang="en-US"/>
        </a:p>
      </dgm:t>
    </dgm:pt>
    <dgm:pt modelId="{752C8CDF-3FAB-4B77-A31E-71270FE3AE0D}" type="pres">
      <dgm:prSet presAssocID="{7435E833-D6AA-4212-8406-1C3B970FB1FB}" presName="node" presStyleCnt="0"/>
      <dgm:spPr/>
    </dgm:pt>
    <dgm:pt modelId="{7EA1C618-2BE8-4CD3-A985-AF0F2DBC745C}" type="pres">
      <dgm:prSet presAssocID="{7435E833-D6AA-4212-8406-1C3B970FB1FB}" presName="parentNode" presStyleLbl="node1" presStyleIdx="2" presStyleCnt="4">
        <dgm:presLayoutVars>
          <dgm:chMax val="1"/>
          <dgm:bulletEnabled val="1"/>
        </dgm:presLayoutVars>
      </dgm:prSet>
      <dgm:spPr/>
      <dgm:t>
        <a:bodyPr/>
        <a:lstStyle/>
        <a:p>
          <a:endParaRPr lang="en-US"/>
        </a:p>
      </dgm:t>
    </dgm:pt>
    <dgm:pt modelId="{860FD315-1656-42C1-83B0-6005A2966321}" type="pres">
      <dgm:prSet presAssocID="{7435E833-D6AA-4212-8406-1C3B970FB1FB}" presName="childNode" presStyleLbl="revTx" presStyleIdx="0" presStyleCnt="0">
        <dgm:presLayoutVars>
          <dgm:bulletEnabled val="1"/>
        </dgm:presLayoutVars>
      </dgm:prSet>
      <dgm:spPr/>
    </dgm:pt>
    <dgm:pt modelId="{59499CD4-DF91-4C77-B14A-56155C07589A}" type="pres">
      <dgm:prSet presAssocID="{8FDEFBC8-50E6-4C1A-8C54-BE5177B55622}" presName="Name25" presStyleLbl="parChTrans1D1" presStyleIdx="2" presStyleCnt="3"/>
      <dgm:spPr/>
      <dgm:t>
        <a:bodyPr/>
        <a:lstStyle/>
        <a:p>
          <a:endParaRPr lang="en-US"/>
        </a:p>
      </dgm:t>
    </dgm:pt>
    <dgm:pt modelId="{D9EBD56C-3AEC-47FE-8CD3-468E46C49D45}" type="pres">
      <dgm:prSet presAssocID="{0691C906-0EE3-42CE-8567-146CB30989B4}" presName="node" presStyleCnt="0"/>
      <dgm:spPr/>
    </dgm:pt>
    <dgm:pt modelId="{E3DA3F5B-2283-4A1C-8FC3-D9FC76AE1E92}" type="pres">
      <dgm:prSet presAssocID="{0691C906-0EE3-42CE-8567-146CB30989B4}" presName="parentNode" presStyleLbl="node1" presStyleIdx="3" presStyleCnt="4">
        <dgm:presLayoutVars>
          <dgm:chMax val="1"/>
          <dgm:bulletEnabled val="1"/>
        </dgm:presLayoutVars>
      </dgm:prSet>
      <dgm:spPr/>
      <dgm:t>
        <a:bodyPr/>
        <a:lstStyle/>
        <a:p>
          <a:endParaRPr lang="en-US"/>
        </a:p>
      </dgm:t>
    </dgm:pt>
    <dgm:pt modelId="{8D3D29B9-489D-4874-B30F-F6096F80E53E}" type="pres">
      <dgm:prSet presAssocID="{0691C906-0EE3-42CE-8567-146CB30989B4}" presName="childNode" presStyleLbl="revTx" presStyleIdx="0" presStyleCnt="0">
        <dgm:presLayoutVars>
          <dgm:bulletEnabled val="1"/>
        </dgm:presLayoutVars>
      </dgm:prSet>
      <dgm:spPr/>
    </dgm:pt>
  </dgm:ptLst>
  <dgm:cxnLst>
    <dgm:cxn modelId="{4DC48D4A-001D-4ADD-873C-92669F740350}" type="presOf" srcId="{AEDC9413-153D-434D-8F8F-1518FCEDBCC4}" destId="{EE76EAB5-E3CA-435A-A2C2-96929FCB4BB6}" srcOrd="0" destOrd="0" presId="urn:microsoft.com/office/officeart/2005/8/layout/radial2"/>
    <dgm:cxn modelId="{15170760-2563-4E9B-8EF7-594597864C50}" type="presOf" srcId="{B0C50FE0-060E-4FC4-AFF6-3DCDA02DFA0C}" destId="{D77A63A2-ECB1-441D-9949-42790B04F17F}" srcOrd="0" destOrd="0" presId="urn:microsoft.com/office/officeart/2005/8/layout/radial2"/>
    <dgm:cxn modelId="{A3C3C13D-2C2C-45A6-8911-C2CB3CDDE871}" srcId="{44D570DD-5C45-4E81-92FD-E5C5A297911D}" destId="{7435E833-D6AA-4212-8406-1C3B970FB1FB}" srcOrd="1" destOrd="0" parTransId="{AEDC9413-153D-434D-8F8F-1518FCEDBCC4}" sibTransId="{71B94F3D-BCC6-4C9D-A0E7-C0C7BDB50BEA}"/>
    <dgm:cxn modelId="{FC8782A8-ABE3-4A61-80A7-025FCE2E8373}" type="presOf" srcId="{7DF3987C-AE22-42EB-81C0-A5954A2CD45A}" destId="{EE29D311-748A-469F-A2DF-F3B959DE1465}" srcOrd="0" destOrd="0" presId="urn:microsoft.com/office/officeart/2005/8/layout/radial2"/>
    <dgm:cxn modelId="{6A8FA347-1194-4791-97C3-43ED50BD2E34}" srcId="{44D570DD-5C45-4E81-92FD-E5C5A297911D}" destId="{0691C906-0EE3-42CE-8567-146CB30989B4}" srcOrd="2" destOrd="0" parTransId="{8FDEFBC8-50E6-4C1A-8C54-BE5177B55622}" sibTransId="{F0187AED-CE1D-471C-9AEC-62C4F390156A}"/>
    <dgm:cxn modelId="{30553C6E-FEB6-443B-980E-80B0844E343D}" type="presOf" srcId="{8FDEFBC8-50E6-4C1A-8C54-BE5177B55622}" destId="{59499CD4-DF91-4C77-B14A-56155C07589A}" srcOrd="0" destOrd="0" presId="urn:microsoft.com/office/officeart/2005/8/layout/radial2"/>
    <dgm:cxn modelId="{103AC8C8-058C-4BC6-AED4-72F5B1C098A0}" type="presOf" srcId="{44D570DD-5C45-4E81-92FD-E5C5A297911D}" destId="{4D81D208-45D6-4773-BEB0-5D4C01554EDE}" srcOrd="0" destOrd="0" presId="urn:microsoft.com/office/officeart/2005/8/layout/radial2"/>
    <dgm:cxn modelId="{D1D75194-820B-49DC-8CD2-A6D8C1E36E21}" type="presOf" srcId="{0691C906-0EE3-42CE-8567-146CB30989B4}" destId="{E3DA3F5B-2283-4A1C-8FC3-D9FC76AE1E92}" srcOrd="0" destOrd="0" presId="urn:microsoft.com/office/officeart/2005/8/layout/radial2"/>
    <dgm:cxn modelId="{332FFB1A-A7B0-4BDA-A565-B48A10DDFCDF}" srcId="{44D570DD-5C45-4E81-92FD-E5C5A297911D}" destId="{B0C50FE0-060E-4FC4-AFF6-3DCDA02DFA0C}" srcOrd="0" destOrd="0" parTransId="{7DF3987C-AE22-42EB-81C0-A5954A2CD45A}" sibTransId="{26A74F3B-559B-4A20-AEAA-F681816E507F}"/>
    <dgm:cxn modelId="{ED67C269-9CB5-4288-BD7B-FBEAB1F0367B}" type="presOf" srcId="{7435E833-D6AA-4212-8406-1C3B970FB1FB}" destId="{7EA1C618-2BE8-4CD3-A985-AF0F2DBC745C}" srcOrd="0" destOrd="0" presId="urn:microsoft.com/office/officeart/2005/8/layout/radial2"/>
    <dgm:cxn modelId="{03B04790-CCBB-45ED-B666-E3D1ACFFE888}" type="presParOf" srcId="{4D81D208-45D6-4773-BEB0-5D4C01554EDE}" destId="{83D000A6-CE42-4B74-803D-1120A3457C2B}" srcOrd="0" destOrd="0" presId="urn:microsoft.com/office/officeart/2005/8/layout/radial2"/>
    <dgm:cxn modelId="{A4FD80C3-4F39-400C-958E-D9ACD423D692}" type="presParOf" srcId="{83D000A6-CE42-4B74-803D-1120A3457C2B}" destId="{7DFFD545-9E2F-42CA-BB8F-24956685E403}" srcOrd="0" destOrd="0" presId="urn:microsoft.com/office/officeart/2005/8/layout/radial2"/>
    <dgm:cxn modelId="{9D94477E-9106-4DD4-B071-250D64DF018A}" type="presParOf" srcId="{7DFFD545-9E2F-42CA-BB8F-24956685E403}" destId="{48852907-0021-4117-AA60-2085883F4B3A}" srcOrd="0" destOrd="0" presId="urn:microsoft.com/office/officeart/2005/8/layout/radial2"/>
    <dgm:cxn modelId="{A99BCD6A-758A-44AA-BF9A-3ECCF6FD3B68}" type="presParOf" srcId="{7DFFD545-9E2F-42CA-BB8F-24956685E403}" destId="{000D5E4F-0C0E-4C42-AEB0-D889B6040788}" srcOrd="1" destOrd="0" presId="urn:microsoft.com/office/officeart/2005/8/layout/radial2"/>
    <dgm:cxn modelId="{D2FDA357-EA36-4ABE-89C1-2D690B0440F8}" type="presParOf" srcId="{83D000A6-CE42-4B74-803D-1120A3457C2B}" destId="{EE29D311-748A-469F-A2DF-F3B959DE1465}" srcOrd="1" destOrd="0" presId="urn:microsoft.com/office/officeart/2005/8/layout/radial2"/>
    <dgm:cxn modelId="{ECC7B6FA-AE7C-4543-A535-2F3C05DF18FE}" type="presParOf" srcId="{83D000A6-CE42-4B74-803D-1120A3457C2B}" destId="{F9B3499A-5F36-4A1A-9AD9-64AE5C6C3FD1}" srcOrd="2" destOrd="0" presId="urn:microsoft.com/office/officeart/2005/8/layout/radial2"/>
    <dgm:cxn modelId="{9DA69F8E-B244-464A-A5C1-36708382E05C}" type="presParOf" srcId="{F9B3499A-5F36-4A1A-9AD9-64AE5C6C3FD1}" destId="{D77A63A2-ECB1-441D-9949-42790B04F17F}" srcOrd="0" destOrd="0" presId="urn:microsoft.com/office/officeart/2005/8/layout/radial2"/>
    <dgm:cxn modelId="{CE77D66A-F39D-4C56-BECB-C3B8B2B42917}" type="presParOf" srcId="{F9B3499A-5F36-4A1A-9AD9-64AE5C6C3FD1}" destId="{09CB1E06-4403-4F94-B6CB-1D7B7B500FEB}" srcOrd="1" destOrd="0" presId="urn:microsoft.com/office/officeart/2005/8/layout/radial2"/>
    <dgm:cxn modelId="{5EADF974-4894-48E6-997A-D608A5A6B16B}" type="presParOf" srcId="{83D000A6-CE42-4B74-803D-1120A3457C2B}" destId="{EE76EAB5-E3CA-435A-A2C2-96929FCB4BB6}" srcOrd="3" destOrd="0" presId="urn:microsoft.com/office/officeart/2005/8/layout/radial2"/>
    <dgm:cxn modelId="{BC53493D-8735-49FA-890E-EA6D62B72E3C}" type="presParOf" srcId="{83D000A6-CE42-4B74-803D-1120A3457C2B}" destId="{752C8CDF-3FAB-4B77-A31E-71270FE3AE0D}" srcOrd="4" destOrd="0" presId="urn:microsoft.com/office/officeart/2005/8/layout/radial2"/>
    <dgm:cxn modelId="{8E8278BF-76C0-4D20-A9E3-A1CFB1AC83F9}" type="presParOf" srcId="{752C8CDF-3FAB-4B77-A31E-71270FE3AE0D}" destId="{7EA1C618-2BE8-4CD3-A985-AF0F2DBC745C}" srcOrd="0" destOrd="0" presId="urn:microsoft.com/office/officeart/2005/8/layout/radial2"/>
    <dgm:cxn modelId="{57662D4D-B8E0-4732-B1D9-E1770545F6A6}" type="presParOf" srcId="{752C8CDF-3FAB-4B77-A31E-71270FE3AE0D}" destId="{860FD315-1656-42C1-83B0-6005A2966321}" srcOrd="1" destOrd="0" presId="urn:microsoft.com/office/officeart/2005/8/layout/radial2"/>
    <dgm:cxn modelId="{DBEBE9B6-E64A-41C7-8C69-EE348CBC05EF}" type="presParOf" srcId="{83D000A6-CE42-4B74-803D-1120A3457C2B}" destId="{59499CD4-DF91-4C77-B14A-56155C07589A}" srcOrd="5" destOrd="0" presId="urn:microsoft.com/office/officeart/2005/8/layout/radial2"/>
    <dgm:cxn modelId="{8518EBDC-9B50-4FC6-B152-65B12EDCB53E}" type="presParOf" srcId="{83D000A6-CE42-4B74-803D-1120A3457C2B}" destId="{D9EBD56C-3AEC-47FE-8CD3-468E46C49D45}" srcOrd="6" destOrd="0" presId="urn:microsoft.com/office/officeart/2005/8/layout/radial2"/>
    <dgm:cxn modelId="{76FE7787-A9E6-4699-880E-A7487BB694E9}" type="presParOf" srcId="{D9EBD56C-3AEC-47FE-8CD3-468E46C49D45}" destId="{E3DA3F5B-2283-4A1C-8FC3-D9FC76AE1E92}" srcOrd="0" destOrd="0" presId="urn:microsoft.com/office/officeart/2005/8/layout/radial2"/>
    <dgm:cxn modelId="{9E05FF54-49AF-4726-9F50-C829F4F17A85}" type="presParOf" srcId="{D9EBD56C-3AEC-47FE-8CD3-468E46C49D45}" destId="{8D3D29B9-489D-4874-B30F-F6096F80E53E}" srcOrd="1" destOrd="0" presId="urn:microsoft.com/office/officeart/2005/8/layout/radial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499CD4-DF91-4C77-B14A-56155C07589A}">
      <dsp:nvSpPr>
        <dsp:cNvPr id="0" name=""/>
        <dsp:cNvSpPr/>
      </dsp:nvSpPr>
      <dsp:spPr>
        <a:xfrm rot="2562136">
          <a:off x="3676519" y="3610375"/>
          <a:ext cx="778650" cy="43681"/>
        </a:xfrm>
        <a:custGeom>
          <a:avLst/>
          <a:gdLst/>
          <a:ahLst/>
          <a:cxnLst/>
          <a:rect l="0" t="0" r="0" b="0"/>
          <a:pathLst>
            <a:path>
              <a:moveTo>
                <a:pt x="0" y="21840"/>
              </a:moveTo>
              <a:lnTo>
                <a:pt x="778650" y="2184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E76EAB5-E3CA-435A-A2C2-96929FCB4BB6}">
      <dsp:nvSpPr>
        <dsp:cNvPr id="0" name=""/>
        <dsp:cNvSpPr/>
      </dsp:nvSpPr>
      <dsp:spPr>
        <a:xfrm>
          <a:off x="3779734" y="2548473"/>
          <a:ext cx="865706" cy="43681"/>
        </a:xfrm>
        <a:custGeom>
          <a:avLst/>
          <a:gdLst/>
          <a:ahLst/>
          <a:cxnLst/>
          <a:rect l="0" t="0" r="0" b="0"/>
          <a:pathLst>
            <a:path>
              <a:moveTo>
                <a:pt x="0" y="21840"/>
              </a:moveTo>
              <a:lnTo>
                <a:pt x="865706" y="2184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E29D311-748A-469F-A2DF-F3B959DE1465}">
      <dsp:nvSpPr>
        <dsp:cNvPr id="0" name=""/>
        <dsp:cNvSpPr/>
      </dsp:nvSpPr>
      <dsp:spPr>
        <a:xfrm rot="19037864">
          <a:off x="3676519" y="1486571"/>
          <a:ext cx="778650" cy="43681"/>
        </a:xfrm>
        <a:custGeom>
          <a:avLst/>
          <a:gdLst/>
          <a:ahLst/>
          <a:cxnLst/>
          <a:rect l="0" t="0" r="0" b="0"/>
          <a:pathLst>
            <a:path>
              <a:moveTo>
                <a:pt x="0" y="21840"/>
              </a:moveTo>
              <a:lnTo>
                <a:pt x="778650" y="2184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00D5E4F-0C0E-4C42-AEB0-D889B6040788}">
      <dsp:nvSpPr>
        <dsp:cNvPr id="0" name=""/>
        <dsp:cNvSpPr/>
      </dsp:nvSpPr>
      <dsp:spPr>
        <a:xfrm>
          <a:off x="1680063" y="1335214"/>
          <a:ext cx="2470200" cy="247020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77A63A2-ECB1-441D-9949-42790B04F17F}">
      <dsp:nvSpPr>
        <dsp:cNvPr id="0" name=""/>
        <dsp:cNvSpPr/>
      </dsp:nvSpPr>
      <dsp:spPr>
        <a:xfrm>
          <a:off x="4155490" y="737"/>
          <a:ext cx="1482120" cy="148212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GB" sz="1600" kern="1200" dirty="0">
              <a:solidFill>
                <a:schemeClr val="bg1"/>
              </a:solidFill>
            </a:rPr>
            <a:t>Social Ethics</a:t>
          </a:r>
        </a:p>
      </dsp:txBody>
      <dsp:txXfrm>
        <a:off x="4372541" y="217788"/>
        <a:ext cx="1048018" cy="1048018"/>
      </dsp:txXfrm>
    </dsp:sp>
    <dsp:sp modelId="{7EA1C618-2BE8-4CD3-A985-AF0F2DBC745C}">
      <dsp:nvSpPr>
        <dsp:cNvPr id="0" name=""/>
        <dsp:cNvSpPr/>
      </dsp:nvSpPr>
      <dsp:spPr>
        <a:xfrm>
          <a:off x="4645440" y="1829254"/>
          <a:ext cx="1482120" cy="148212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GB" sz="1600" kern="1200" dirty="0">
              <a:solidFill>
                <a:schemeClr val="bg1"/>
              </a:solidFill>
            </a:rPr>
            <a:t>Professional Ethics</a:t>
          </a:r>
        </a:p>
      </dsp:txBody>
      <dsp:txXfrm>
        <a:off x="4862491" y="2046305"/>
        <a:ext cx="1048018" cy="1048018"/>
      </dsp:txXfrm>
    </dsp:sp>
    <dsp:sp modelId="{E3DA3F5B-2283-4A1C-8FC3-D9FC76AE1E92}">
      <dsp:nvSpPr>
        <dsp:cNvPr id="0" name=""/>
        <dsp:cNvSpPr/>
      </dsp:nvSpPr>
      <dsp:spPr>
        <a:xfrm>
          <a:off x="4155490" y="3657770"/>
          <a:ext cx="1482120" cy="148212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GB" sz="1600" kern="1200" dirty="0">
              <a:solidFill>
                <a:schemeClr val="bg1"/>
              </a:solidFill>
            </a:rPr>
            <a:t>Personal Ethics</a:t>
          </a:r>
        </a:p>
      </dsp:txBody>
      <dsp:txXfrm>
        <a:off x="4372541" y="3874821"/>
        <a:ext cx="1048018" cy="1048018"/>
      </dsp:txXfrm>
    </dsp:sp>
  </dsp:spTree>
</dsp:drawing>
</file>

<file path=ppt/diagrams/layout1.xml><?xml version="1.0" encoding="utf-8"?>
<dgm:layoutDef xmlns:dgm="http://schemas.openxmlformats.org/drawingml/2006/diagram" xmlns:a="http://schemas.openxmlformats.org/drawingml/2006/main" uniqueId="urn:microsoft.com/office/officeart/2005/8/layout/radial2">
  <dgm:title val=""/>
  <dgm:desc val=""/>
  <dgm:catLst>
    <dgm:cat type="relationship" pri="20000"/>
    <dgm:cat type="convert" pri="9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ite">
    <dgm:varLst>
      <dgm:chMax val="5"/>
      <dgm:dir/>
      <dgm:animLvl val="ctr"/>
      <dgm:resizeHandles val="exact"/>
    </dgm:varLst>
    <dgm:alg type="composite"/>
    <dgm:shape xmlns:r="http://schemas.openxmlformats.org/officeDocument/2006/relationships" r:blip="">
      <dgm:adjLst/>
    </dgm:shape>
    <dgm:presOf/>
    <dgm:constrLst>
      <dgm:constr type="w" for="ch" forName="cycle" refType="w"/>
      <dgm:constr type="h" for="ch" forName="cycle" refType="h"/>
    </dgm:constrLst>
    <dgm:ruleLst/>
    <dgm:layoutNode name="cycle">
      <dgm:choose name="Name0">
        <dgm:if name="Name1" func="var" arg="dir" op="equ" val="norm">
          <dgm:choose name="Name2">
            <dgm:if name="Name3" axis="ch" ptType="node" func="cnt" op="lte" val="1">
              <dgm:alg type="cycle">
                <dgm:param type="stAng" val="90"/>
                <dgm:param type="spanAng" val="360"/>
                <dgm:param type="ctrShpMap" val="fNode"/>
              </dgm:alg>
            </dgm:if>
            <dgm:if name="Name4" axis="ch" ptType="node" func="cnt" op="equ" val="2">
              <dgm:alg type="cycle">
                <dgm:param type="stAng" val="70"/>
                <dgm:param type="spanAng" val="40"/>
                <dgm:param type="ctrShpMap" val="fNode"/>
              </dgm:alg>
            </dgm:if>
            <dgm:if name="Name5" axis="ch" ptType="node" func="cnt" op="equ" val="3">
              <dgm:alg type="cycle">
                <dgm:param type="stAng" val="60"/>
                <dgm:param type="spanAng" val="60"/>
                <dgm:param type="ctrShpMap" val="fNode"/>
              </dgm:alg>
            </dgm:if>
            <dgm:else name="Name6">
              <dgm:alg type="cycle">
                <dgm:param type="stAng" val="45"/>
                <dgm:param type="spanAng" val="90"/>
                <dgm:param type="ctrShpMap" val="fNode"/>
              </dgm:alg>
            </dgm:else>
          </dgm:choose>
        </dgm:if>
        <dgm:else name="Name7">
          <dgm:choose name="Name8">
            <dgm:if name="Name9" axis="ch" ptType="node" func="cnt" op="lte" val="1">
              <dgm:alg type="cycle">
                <dgm:param type="stAng" val="-90"/>
                <dgm:param type="spanAng" val="-360"/>
                <dgm:param type="ctrShpMap" val="fNode"/>
              </dgm:alg>
            </dgm:if>
            <dgm:if name="Name10" axis="ch" ptType="node" func="cnt" op="equ" val="2">
              <dgm:alg type="cycle">
                <dgm:param type="stAng" val="-70"/>
                <dgm:param type="spanAng" val="-40"/>
                <dgm:param type="ctrShpMap" val="fNode"/>
              </dgm:alg>
            </dgm:if>
            <dgm:if name="Name11" axis="ch" ptType="node" func="cnt" op="equ" val="3">
              <dgm:alg type="cycle">
                <dgm:param type="stAng" val="-60"/>
                <dgm:param type="spanAng" val="-60"/>
                <dgm:param type="ctrShpMap" val="fNode"/>
              </dgm:alg>
            </dgm:if>
            <dgm:else name="Name12">
              <dgm:alg type="cycle">
                <dgm:param type="stAng" val="-45"/>
                <dgm:param type="spanAng" val="-90"/>
                <dgm:param type="ctrShpMap" val="fNode"/>
              </dgm:alg>
            </dgm:else>
          </dgm:choose>
        </dgm:else>
      </dgm:choose>
      <dgm:shape xmlns:r="http://schemas.openxmlformats.org/officeDocument/2006/relationships" r:blip="">
        <dgm:adjLst/>
      </dgm:shape>
      <dgm:presOf/>
      <dgm:constrLst>
        <dgm:constr type="sp" val="20"/>
        <dgm:constr type="w" for="ch" forName="centerShape" refType="w"/>
        <dgm:constr type="w" for="ch" forName="node" refType="w" refFor="ch" refForName="centerShape" fact="1.5"/>
        <dgm:constr type="sibSp" refType="w" refFor="ch" refForName="centerShape" op="equ" fact="0.08"/>
        <dgm:constr type="primFontSz" for="des" forName="parentNode" op="equ" val="65"/>
        <dgm:constr type="secFontSz" for="des" forName="childNode" op="equ" val="65"/>
      </dgm:constrLst>
      <dgm:ruleLst/>
      <dgm:choose name="Name13">
        <dgm:if name="Name14" axis="ch" ptType="node" hideLastTrans="0" func="cnt" op="gte" val="1">
          <dgm:layoutNode name="centerShape" styleLbl="node0">
            <dgm:alg type="composite"/>
            <dgm:shape xmlns:r="http://schemas.openxmlformats.org/officeDocument/2006/relationships" r:blip="">
              <dgm:adjLst/>
            </dgm:shape>
            <dgm:presOf axis="ch" ptType="node" cnt="1"/>
            <dgm:constrLst>
              <dgm:constr type="w" for="ch" forName="connSite" refType="w" fact="0.7"/>
              <dgm:constr type="h" for="ch" forName="connSite" refType="w" fact="0.7"/>
              <dgm:constr type="ctrX" for="ch" forName="connSite" refType="w" fact="0.5"/>
              <dgm:constr type="ctrY" for="ch" forName="connSite" refType="h" fact="0.5"/>
              <dgm:constr type="w" for="ch" forName="visible" refType="w"/>
              <dgm:constr type="h" for="ch" forName="visible" refType="w"/>
              <dgm:constr type="ctrX" for="ch" forName="visible" refType="w" fact="0.5"/>
              <dgm:constr type="ctrY" for="ch" forName="visible" refType="h" fact="0.5"/>
            </dgm:constrLst>
            <dgm:ruleLst/>
            <dgm:layoutNode name="connSite">
              <dgm:alg type="sp"/>
              <dgm:shape xmlns:r="http://schemas.openxmlformats.org/officeDocument/2006/relationships" type="ellipse" r:blip="" hideGeom="1">
                <dgm:adjLst/>
              </dgm:shape>
              <dgm:presOf/>
              <dgm:constrLst/>
              <dgm:ruleLst/>
            </dgm:layoutNode>
            <dgm:layoutNode name="visible">
              <dgm:alg type="sp"/>
              <dgm:shape xmlns:r="http://schemas.openxmlformats.org/officeDocument/2006/relationships" type="ellipse" r:blip="" blipPhldr="1">
                <dgm:adjLst/>
              </dgm:shape>
              <dgm:presOf/>
              <dgm:constrLst/>
              <dgm:ruleLst/>
            </dgm:layoutNode>
          </dgm:layoutNode>
        </dgm:if>
        <dgm:else name="Name15"/>
      </dgm:choose>
      <dgm:forEach name="Name16" axis="ch">
        <dgm:forEach name="Name17" axis="self" ptType="node">
          <dgm:layoutNode name="node">
            <dgm:alg type="composite"/>
            <dgm:shape xmlns:r="http://schemas.openxmlformats.org/officeDocument/2006/relationships" r:blip="">
              <dgm:adjLst/>
            </dgm:shape>
            <dgm:presOf/>
            <dgm:choose name="Name18">
              <dgm:if name="Name19" func="var" arg="dir" op="equ" val="norm">
                <dgm:constrLst>
                  <dgm:constr type="t" for="ch" forName="parentNode"/>
                  <dgm:constr type="l" for="ch" forName="parentNode"/>
                  <dgm:constr type="w" for="ch" forName="parentNode" refType="w" fact="0.4"/>
                  <dgm:constr type="h" for="ch" forName="parentNode" refType="w" refFor="ch" refForName="parentNode" op="equ"/>
                  <dgm:constr type="ctrY" for="ch" forName="childNode" refType="h" refFor="ch" refForName="parentNode" fact="0.5"/>
                  <dgm:constr type="l" for="ch" forName="childNode" refType="w" refFor="ch" refForName="parentNode" op="equ" fact="1.1"/>
                  <dgm:constr type="w" for="ch" forName="childNode" refType="w" fact="0.6"/>
                  <dgm:constr type="h" for="ch" forName="childNode" refType="h" refFor="ch" refForName="parentNode"/>
                </dgm:constrLst>
              </dgm:if>
              <dgm:else name="Name20">
                <dgm:constrLst>
                  <dgm:constr type="t" for="ch" forName="parentNode"/>
                  <dgm:constr type="r" for="ch" forName="parentNode" refType="w"/>
                  <dgm:constr type="w" for="ch" forName="parentNode" refType="w" fact="0.4"/>
                  <dgm:constr type="h" for="ch" forName="parentNode" refType="w" refFor="ch" refForName="parentNode" op="equ"/>
                  <dgm:constr type="ctrY" for="ch" forName="childNode" refType="h" refFor="ch" refForName="parentNode" fact="0.5"/>
                  <dgm:constr type="l" for="ch" forName="childNode"/>
                  <dgm:constr type="w" for="ch" forName="childNode" refType="w" fact="0.6"/>
                  <dgm:constr type="h" for="ch" forName="childNode" refType="h" refFor="ch" refForName="parentNode"/>
                </dgm:constrLst>
              </dgm:else>
            </dgm:choose>
            <dgm:ruleLst/>
            <dgm:layoutNode name="parentNode" styleLbl="node1">
              <dgm:varLst>
                <dgm:chMax val="1"/>
                <dgm:bulletEnabled val="1"/>
              </dgm:varLst>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childNode" styleLbl="revTx" moveWith="parentNode">
              <dgm:varLst>
                <dgm:bulletEnabled val="1"/>
              </dgm:varLst>
              <dgm:alg type="tx">
                <dgm:param type="txAnchorVertCh" val="mid"/>
                <dgm:param type="stBulletLvl" val="1"/>
              </dgm:alg>
              <dgm:choose name="Name21">
                <dgm:if name="Name22" axis="ch" ptType="node" func="cnt" op="gte" val="1">
                  <dgm:shape xmlns:r="http://schemas.openxmlformats.org/officeDocument/2006/relationships" type="rect" r:blip="">
                    <dgm:adjLst/>
                  </dgm:shape>
                </dgm:if>
                <dgm:else name="Name23">
                  <dgm:shape xmlns:r="http://schemas.openxmlformats.org/officeDocument/2006/relationships" type="rect" r:blip="" hideGeom="1">
                    <dgm:adjLst/>
                  </dgm:shape>
                </dgm:else>
              </dgm:choose>
              <dgm:presOf axis="des" ptType="node"/>
              <dgm:constrLst>
                <dgm:constr type="tMarg"/>
                <dgm:constr type="bMarg"/>
                <dgm:constr type="lMarg"/>
                <dgm:constr type="rMarg"/>
              </dgm:constrLst>
              <dgm:ruleLst>
                <dgm:rule type="secFontSz" val="5" fact="NaN" max="NaN"/>
              </dgm:ruleLst>
            </dgm:layoutNode>
          </dgm:layoutNode>
        </dgm:forEach>
        <dgm:forEach name="Name24" axis="self" ptType="parTrans" cnt="1">
          <dgm:layoutNode name="Name25">
            <dgm:alg type="conn">
              <dgm:param type="dim" val="1D"/>
              <dgm:param type="endSty" val="noArr"/>
              <dgm:param type="begPts" val="auto"/>
              <dgm:param type="endPts" val="auto"/>
              <dgm:param type="srcNode" val="connSite"/>
              <dgm:param type="dstNode" val="parentNode"/>
            </dgm:alg>
            <dgm:shape xmlns:r="http://schemas.openxmlformats.org/officeDocument/2006/relationships" type="conn" r:blip="" zOrderOff="-99">
              <dgm:adjLst/>
            </dgm:shape>
            <dgm:presOf axis="self"/>
            <dgm:constrLst>
              <dgm:constr type="connDist"/>
              <dgm:constr type="w" val="1"/>
              <dgm:constr type="h" val="5"/>
              <dgm:constr type="begPad"/>
              <dgm:constr type="endPad"/>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A9AAB4-B48B-4406-9043-F1DDF6047ED0}" type="datetimeFigureOut">
              <a:rPr lang="en-GB" smtClean="0"/>
              <a:t>20/11/2025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CB45C4-CEE8-4070-945A-C8E4F21D6728}" type="slidenum">
              <a:rPr lang="en-GB" smtClean="0"/>
              <a:t>‹#›</a:t>
            </a:fld>
            <a:endParaRPr lang="en-GB"/>
          </a:p>
        </p:txBody>
      </p:sp>
    </p:spTree>
    <p:extLst>
      <p:ext uri="{BB962C8B-B14F-4D97-AF65-F5344CB8AC3E}">
        <p14:creationId xmlns:p14="http://schemas.microsoft.com/office/powerpoint/2010/main" val="37257622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What does it</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FB6CFB4-4AB8-44F9-9A9E-C4D087C06EBE}"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942592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solidFill>
                  <a:srgbClr val="002060"/>
                </a:solidFill>
                <a:latin typeface="Garamond" panose="02020404030301010803" pitchFamily="18" charset="0"/>
              </a:rPr>
              <a:t>Take the work of a pharmacist for instance. The job is not a problem but if you have to sell abortion</a:t>
            </a:r>
            <a:r>
              <a:rPr lang="en-US" baseline="0" dirty="0" smtClean="0">
                <a:solidFill>
                  <a:srgbClr val="002060"/>
                </a:solidFill>
                <a:latin typeface="Garamond" panose="02020404030301010803" pitchFamily="18" charset="0"/>
              </a:rPr>
              <a:t> pills and you are a Christian who knows that abortion is sinful. Then your conscience comes to play. </a:t>
            </a:r>
            <a:endParaRPr lang="en-GB" dirty="0"/>
          </a:p>
        </p:txBody>
      </p:sp>
      <p:sp>
        <p:nvSpPr>
          <p:cNvPr id="4" name="Slide Number Placeholder 3"/>
          <p:cNvSpPr>
            <a:spLocks noGrp="1"/>
          </p:cNvSpPr>
          <p:nvPr>
            <p:ph type="sldNum" sz="quarter" idx="10"/>
          </p:nvPr>
        </p:nvSpPr>
        <p:spPr/>
        <p:txBody>
          <a:bodyPr/>
          <a:lstStyle/>
          <a:p>
            <a:fld id="{3DCB45C4-CEE8-4070-945A-C8E4F21D6728}" type="slidenum">
              <a:rPr lang="en-GB" smtClean="0"/>
              <a:t>25</a:t>
            </a:fld>
            <a:endParaRPr lang="en-GB"/>
          </a:p>
        </p:txBody>
      </p:sp>
    </p:spTree>
    <p:extLst>
      <p:ext uri="{BB962C8B-B14F-4D97-AF65-F5344CB8AC3E}">
        <p14:creationId xmlns:p14="http://schemas.microsoft.com/office/powerpoint/2010/main" val="26506700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solidFill>
                  <a:srgbClr val="002060"/>
                </a:solidFill>
                <a:latin typeface="Garamond" panose="02020404030301010803" pitchFamily="18" charset="0"/>
              </a:rPr>
              <a:t>Take the work of a pharmacist for instance. The job is not a problem but if you have to sell abortion</a:t>
            </a:r>
            <a:r>
              <a:rPr lang="en-US" baseline="0" dirty="0" smtClean="0">
                <a:solidFill>
                  <a:srgbClr val="002060"/>
                </a:solidFill>
                <a:latin typeface="Garamond" panose="02020404030301010803" pitchFamily="18" charset="0"/>
              </a:rPr>
              <a:t> pills and you are a Christian who knows that abortion is sinful. Then your conscience comes to play. </a:t>
            </a:r>
            <a:endParaRPr lang="en-GB" dirty="0"/>
          </a:p>
        </p:txBody>
      </p:sp>
      <p:sp>
        <p:nvSpPr>
          <p:cNvPr id="4" name="Slide Number Placeholder 3"/>
          <p:cNvSpPr>
            <a:spLocks noGrp="1"/>
          </p:cNvSpPr>
          <p:nvPr>
            <p:ph type="sldNum" sz="quarter" idx="10"/>
          </p:nvPr>
        </p:nvSpPr>
        <p:spPr/>
        <p:txBody>
          <a:bodyPr/>
          <a:lstStyle/>
          <a:p>
            <a:fld id="{3DCB45C4-CEE8-4070-945A-C8E4F21D6728}" type="slidenum">
              <a:rPr lang="en-GB" smtClean="0"/>
              <a:t>26</a:t>
            </a:fld>
            <a:endParaRPr lang="en-GB"/>
          </a:p>
        </p:txBody>
      </p:sp>
    </p:spTree>
    <p:extLst>
      <p:ext uri="{BB962C8B-B14F-4D97-AF65-F5344CB8AC3E}">
        <p14:creationId xmlns:p14="http://schemas.microsoft.com/office/powerpoint/2010/main" val="31070498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solidFill>
                  <a:srgbClr val="002060"/>
                </a:solidFill>
                <a:latin typeface="Garamond" panose="02020404030301010803" pitchFamily="18" charset="0"/>
              </a:rPr>
              <a:t>Take the work of a pharmacist for instance. The job is not a problem but if you have to sell abortion</a:t>
            </a:r>
            <a:r>
              <a:rPr lang="en-US" baseline="0" dirty="0" smtClean="0">
                <a:solidFill>
                  <a:srgbClr val="002060"/>
                </a:solidFill>
                <a:latin typeface="Garamond" panose="02020404030301010803" pitchFamily="18" charset="0"/>
              </a:rPr>
              <a:t> pills and you are a Christian who knows that abortion is sinful. Then your conscience comes to play. </a:t>
            </a:r>
            <a:endParaRPr lang="en-GB" dirty="0"/>
          </a:p>
        </p:txBody>
      </p:sp>
      <p:sp>
        <p:nvSpPr>
          <p:cNvPr id="4" name="Slide Number Placeholder 3"/>
          <p:cNvSpPr>
            <a:spLocks noGrp="1"/>
          </p:cNvSpPr>
          <p:nvPr>
            <p:ph type="sldNum" sz="quarter" idx="10"/>
          </p:nvPr>
        </p:nvSpPr>
        <p:spPr/>
        <p:txBody>
          <a:bodyPr/>
          <a:lstStyle/>
          <a:p>
            <a:fld id="{3DCB45C4-CEE8-4070-945A-C8E4F21D6728}" type="slidenum">
              <a:rPr lang="en-GB" smtClean="0"/>
              <a:t>27</a:t>
            </a:fld>
            <a:endParaRPr lang="en-GB"/>
          </a:p>
        </p:txBody>
      </p:sp>
    </p:spTree>
    <p:extLst>
      <p:ext uri="{BB962C8B-B14F-4D97-AF65-F5344CB8AC3E}">
        <p14:creationId xmlns:p14="http://schemas.microsoft.com/office/powerpoint/2010/main" val="29999682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2"/>
                </a:solidFill>
                <a:latin typeface="+mn-lt"/>
                <a:ea typeface="+mn-ea"/>
                <a:cs typeface="+mn-cs"/>
              </a:rPr>
              <a:t>One of the tasks we have in this text is to treat both philosophical and theological approaches to ethics from a Christian perspective. Too often, texts in theological ethics ignore the importance of such thinkers as Plato, Aristotle, Immanuel Kant, and Friedrich Nietzsche, while texts in philosophical ethics ignore the work of theologians such as Augustine, Aquinas, John Calvin, John Wesley, and Soren Kierkegaard (many of whom are also considered “philosophers”. In reality, theological issues have influenced many so-called secular thinkers, and philosophers have influenced much of Christian thought on ethical issues. As a result, we intend to bring these two disciplines into conversation with each other. We begin by laying out some of the different</a:t>
            </a:r>
          </a:p>
          <a:p>
            <a:r>
              <a:rPr lang="en-US" sz="1200" b="0" i="0" u="none" strike="noStrike" kern="1200" baseline="0" dirty="0">
                <a:solidFill>
                  <a:schemeClr val="tx2"/>
                </a:solidFill>
                <a:latin typeface="+mn-lt"/>
                <a:ea typeface="+mn-ea"/>
                <a:cs typeface="+mn-cs"/>
              </a:rPr>
              <a:t>approaches to these areas of ethics.</a:t>
            </a:r>
            <a:endParaRPr lang="en-GB" dirty="0"/>
          </a:p>
          <a:p>
            <a:endParaRPr lang="en-GB"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D8BFC79-C46E-4299-8A35-15DF17D6C023}"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59</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521006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Many Protestant Christians, especially those in the evangelical tradition, look first to the Bible for moral guidance. Texts such as the Decalogue, or Ten Commandments (Exod. 20:1-17; Deut. 5:6—-21), and the Sermon on the Mount (Matt. 5—7) have a special place since they set out basic rules or principles that believers need to follow if they are to consider themselves true disciples. Protestants generally look to the Bible first and foremost and then to important theological figures who have interpreted the Bible in important ways. Such thinkers as Augustine, Luther, Calvin, and Wesley play important roles, but they are never on the same level of authority as Scripture. </a:t>
            </a:r>
          </a:p>
          <a:p>
            <a:r>
              <a:rPr lang="en-US" sz="1200" b="0" i="0" u="none" strike="noStrike" kern="1200" baseline="0" dirty="0">
                <a:solidFill>
                  <a:schemeClr val="tx1"/>
                </a:solidFill>
                <a:latin typeface="+mn-lt"/>
                <a:ea typeface="+mn-ea"/>
                <a:cs typeface="+mn-cs"/>
              </a:rPr>
              <a:t>In contrast, the Roman Catholic tradition holds that the Bible needs the authority of the church to address questions that Jesus and his disciples never faced. Catholics turn first to how their church has traditionally understood various passages and look especially to such figures as Augustine and Aquinas and how they interpreted and applied the tradition in their own historical and cultural contexts. For Catholics, one needs the necessary guidance of the church as found in such documents as the Catechism of the Catholic Church, papal encyclicals, and various ecumenical councils. From this per-</a:t>
            </a:r>
            <a:r>
              <a:rPr lang="en-US" sz="1200" b="0" i="0" u="none" strike="noStrike" kern="1200" baseline="0" dirty="0" err="1">
                <a:solidFill>
                  <a:schemeClr val="tx1"/>
                </a:solidFill>
                <a:latin typeface="+mn-lt"/>
                <a:ea typeface="+mn-ea"/>
                <a:cs typeface="+mn-cs"/>
              </a:rPr>
              <a:t>spective</a:t>
            </a:r>
            <a:r>
              <a:rPr lang="en-US" sz="1200" b="0" i="0" u="none" strike="noStrike" kern="1200" baseline="0" dirty="0">
                <a:solidFill>
                  <a:schemeClr val="tx1"/>
                </a:solidFill>
                <a:latin typeface="+mn-lt"/>
                <a:ea typeface="+mn-ea"/>
                <a:cs typeface="+mn-cs"/>
              </a:rPr>
              <a:t>, Scripture cannot be read in isolation from the authoritative role of the Christian community. Both Protestants and Catholics understand that the moral message of the Christian Scriptures has to be grasped, interpreted, and applied. How Chris-tians do this requires thinking about the meaning of the text, the context of the text, and whether or not that text has a direct bearing on our </a:t>
            </a:r>
            <a:r>
              <a:rPr lang="en-US" sz="1200" b="0" i="0" u="none" strike="noStrike" kern="1200" baseline="0" dirty="0" err="1">
                <a:solidFill>
                  <a:schemeClr val="tx1"/>
                </a:solidFill>
                <a:latin typeface="+mn-lt"/>
                <a:ea typeface="+mn-ea"/>
                <a:cs typeface="+mn-cs"/>
              </a:rPr>
              <a:t>contempo-rary</a:t>
            </a:r>
            <a:r>
              <a:rPr lang="en-US" sz="1200" b="0" i="0" u="none" strike="noStrike" kern="1200" baseline="0" dirty="0">
                <a:solidFill>
                  <a:schemeClr val="tx1"/>
                </a:solidFill>
                <a:latin typeface="+mn-lt"/>
                <a:ea typeface="+mn-ea"/>
                <a:cs typeface="+mn-cs"/>
              </a:rPr>
              <a:t> discussions. Within the context of moral theology, there are five main alternatives: biblical ethics, divine command ethics, agapistic ethics, narrative ethics, and natural law ethics. </a:t>
            </a:r>
            <a:endParaRPr lang="en-GB"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D8BFC79-C46E-4299-8A35-15DF17D6C023}"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707439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3DCB45C4-CEE8-4070-945A-C8E4F21D6728}" type="slidenum">
              <a:rPr lang="en-GB" smtClean="0"/>
              <a:t>65</a:t>
            </a:fld>
            <a:endParaRPr lang="en-GB"/>
          </a:p>
        </p:txBody>
      </p:sp>
    </p:spTree>
    <p:extLst>
      <p:ext uri="{BB962C8B-B14F-4D97-AF65-F5344CB8AC3E}">
        <p14:creationId xmlns:p14="http://schemas.microsoft.com/office/powerpoint/2010/main" val="17204383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Often, this is understood as political power, as in the case of Machiavelli, though it could mean physical, psychological or other kinds of power. Although this is not a widely confessed. Nonetheless it is too often practiced it has flaws fatal – 1. It fails to note the difference between power and goodness. It is possible to be powerful without being good and it is possible to be good without being powerful. 2. Evils thoughts from Nero to Stalin are sufficient evidence to refute the theory that    might make right. The testimony of history is that power corrupts and absolute power corrupts absolutely.</a:t>
            </a:r>
            <a:endParaRPr lang="en-GB" sz="1200" dirty="0"/>
          </a:p>
          <a:p>
            <a:endParaRPr lang="en-GB"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D8BFC79-C46E-4299-8A35-15DF17D6C023}"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67</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225033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response, it should be noted first that even the whole race could be wrong. Whole communities, like Jonestown, have committed mass suicide. What if the vast majority of the human race decides that suicide is the best “solution” to the world’s problems? Should dissenters be forced to conform? Second, the human race is changing, as are ethical practices. Child sacrifice was once more commonly approved as was slavery. Hence, we say the race has a better expression of values. But “better” implies a “best” by which the progress is measured. We cannot know that the human race is better or worse unless there is a perfect standard outside it by which it can be measured.</a:t>
            </a:r>
            <a:endParaRPr lang="en-GB" dirty="0"/>
          </a:p>
          <a:p>
            <a:endParaRPr lang="en-GB"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D8BFC79-C46E-4299-8A35-15DF17D6C023}"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68</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352249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D8BFC79-C46E-4299-8A35-15DF17D6C023}"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69</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277789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D8BFC79-C46E-4299-8A35-15DF17D6C023}"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70</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615769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D8BFC79-C46E-4299-8A35-15DF17D6C023}"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71</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418446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D8BFC79-C46E-4299-8A35-15DF17D6C023}"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945773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D8BFC79-C46E-4299-8A35-15DF17D6C023}"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73</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458687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D8BFC79-C46E-4299-8A35-15DF17D6C023}"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74</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165331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Jesus taught that the two great commandments in God’s law were to love God and to love your neighbor (Matt. 22:37-40). He provided the model for the expression of love to God and others. His own habits of religious activities (prayer, worship and obedience) provide a model to Christians to follow. His parable of the Good Samaritan (Luke 10: 30-37), provides insight in how we are to treat others even if we do not think of them as our neighbors. He also taught that Christians are to “love their enemies and pray for those who persecute them in order to be sons of the Father in heaven” (Matt. 5:44, 45)</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apostle Paul taught that love is the “law of Christ” and thereby supreme and sufficient (Gal. 5:14; 6:2). He also instructed that love is the foundation of Christian obedience. Even if we manifest the gift of the Spirit and do good works, they do not profit us unless they are done in love (1 Cor. 13:1-3) Paul also taught that God shows His love to us in that Christ died for us (Rom. 5:8) and that nothing will separate us from the love of Christ (Rom. 8:37-39). Such love is not just a theological truth; it is a love that “compels us” (2 Cor. 5:14) and provides us with an ability to live the Christian life.</a:t>
            </a:r>
            <a:endParaRPr lang="en-GB"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D8BFC79-C46E-4299-8A35-15DF17D6C023}"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75</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941565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i="0" dirty="0"/>
              <a:t>OT prophets like Amos and Ezekiel called for justice – a foundation which Christ Himself reiterated severally in the NT. He confronted the religious leaders of His day and warned them not to neglect “the more important matters of the law – justice, mercy and faithfulness” (Matt. 23:23). In the same way, Paul admonished Christians not to be just hearers, but also doers of the word (Rom. 2:13)</a:t>
            </a:r>
            <a:endParaRPr lang="en-GB" i="0" dirty="0"/>
          </a:p>
          <a:p>
            <a:pPr lvl="1"/>
            <a:r>
              <a:rPr lang="en-US" i="0" dirty="0"/>
              <a:t>A biblical imperative on justice is a crucial moral foundation.</a:t>
            </a:r>
            <a:endParaRPr lang="en-GB" i="0" dirty="0"/>
          </a:p>
          <a:p>
            <a:endParaRPr lang="en-GB"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D8BFC79-C46E-4299-8A35-15DF17D6C023}"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76</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59176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 biblical injunctions for honesty include; Gen. 43:12; 2 Kin. 12:15; 22:4-7; Neh. 13:13.</a:t>
            </a:r>
            <a:endParaRPr lang="en-GB" dirty="0"/>
          </a:p>
          <a:p>
            <a:r>
              <a:rPr lang="en-US" dirty="0"/>
              <a:t>Honesty requires telling the truth. The Third Commandment forbids the swearing of false oaths, the Ninth Commandment prohibits the bearing of false testimony (Ex. 20:7, 16; Deut. 5:11, 20; cf. Lev. 19:12; Jer. 7:9). In the OT, false witnesses were to suffer the same punishment that they had wished for the innocent (Deut. 19:16-20) </a:t>
            </a:r>
            <a:endParaRPr lang="en-GB" dirty="0"/>
          </a:p>
          <a:p>
            <a:r>
              <a:rPr lang="en-US" dirty="0"/>
              <a:t>Telling the truth also involved more than false testimony in court, believers are not to spread false reports (Prov. 12:17; 14:5, 25) or report the truth maliciously or engage in slander (Lev.19:16; Prov. 26:20). Speaking evil is prohibited (Ps. 34:13; Prov.24:28; Eph. 4:31; Jas. 4:11; 1 Pet. 3:10) and it disqualifies a person from God’s favor (Ps. 15:3) and from a leadership position in the church (1 Tim. 3:8; Titus 2:3)</a:t>
            </a:r>
            <a:endParaRPr lang="en-GB" dirty="0"/>
          </a:p>
          <a:p>
            <a:endParaRPr lang="en-GB"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D8BFC79-C46E-4299-8A35-15DF17D6C023}"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77</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086685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In quick incidental decisions</a:t>
            </a:r>
            <a:endParaRPr lang="en-GB" dirty="0"/>
          </a:p>
          <a:p>
            <a:pPr lvl="0"/>
            <a:r>
              <a:rPr lang="en-US" dirty="0"/>
              <a:t>Values help us when norms conflict. It does always resolve the issue e.g. obedience to God or man</a:t>
            </a:r>
            <a:endParaRPr lang="en-GB" dirty="0"/>
          </a:p>
          <a:p>
            <a:pPr lvl="0"/>
            <a:r>
              <a:rPr lang="en-US" dirty="0"/>
              <a:t>Values usually lead to habitual decisions. Real life is made out of big decisions. It is rather made in small decisions. E.g. adultery starts from the head (brain) and not in bed. Norms make us to take big decisions.</a:t>
            </a:r>
            <a:endParaRPr lang="en-GB" dirty="0"/>
          </a:p>
          <a:p>
            <a:endParaRPr lang="en-GB"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D8BFC79-C46E-4299-8A35-15DF17D6C023}"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84</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448966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It is upon this question that creation is seen to have moral significance as well as theological and social significance. The scientists, existentialists and humanists point to man’s beginning as an accident, like chance or an happenstance to which man has no control and cannot trace his roots. According to Darwin, man evolved from lower forms or primates and has developed to the present stage. Other scientists say our fate is determined. We are controlled by forces beyond our control. </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Man is not the result of happenstance as the scientists would have us to believe. Creation is rational and morally significant showing and directing us to our very beginning. It gives us moral responsibility. </a:t>
            </a:r>
            <a:endParaRPr lang="en-GB"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D8BFC79-C46E-4299-8A35-15DF17D6C023}"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85</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95499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Bible has revealed certain moral precepts that define morality. Scripture consistently teaches that God is the sovereign ruler who can do what He wishes in the universe and among the inhabitants of the earth. God is the absolute standard of morality, His nature and character. The Bible has ethical standards and it is derivative from God who alone is the standard for morality. What God spoke in the Bible applies universally to all cultures. </a:t>
            </a:r>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implication of the scientific theory is that it has little regard for mankind. It reduces our dignity. This theory has no place for morality and places less emphasis or value on morality. Creation upholds man as morally valuable and dignified. Man is empowered and entrusted with the rest of creation (Gen. 1:27-31) and as a steward and caretaker who is responsible (Gen. 2:19, 20). Man has intelligence and discernment. The scientific view has no basis and proofs to validate their theories about origins.</a:t>
            </a:r>
            <a:endParaRPr lang="en-GB"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D8BFC79-C46E-4299-8A35-15DF17D6C023}"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90</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930983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 as a moral being can evaluate actions (habits) conduct and character and being involved in the process he is able to discern habits. Man has the capability and capacity of discerning consequences of actions and he is able to look ahead (even though with some limitations) and evaluate consequences. He sees beyond and has foresight and illumination. Man knows his limits and being aware he can act responsibly. </a:t>
            </a:r>
            <a:endParaRPr lang="en-GB" dirty="0"/>
          </a:p>
          <a:p>
            <a:r>
              <a:rPr lang="en-US" dirty="0"/>
              <a:t>Ethics helps us to distinguish between right and wrong and to show the justification for the distinction. It helps us in making daily decisions in a right way and to deal with ethical issues like abortion, capital punishment, euthanasia etc. ethics is in every facet of life and in all professions. Its study is essential.</a:t>
            </a:r>
            <a:endParaRPr lang="en-GB" dirty="0"/>
          </a:p>
          <a:p>
            <a:endParaRPr lang="en-GB"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D8BFC79-C46E-4299-8A35-15DF17D6C023}"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91</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090936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D8BFC79-C46E-4299-8A35-15DF17D6C023}"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955900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D8BFC79-C46E-4299-8A35-15DF17D6C023}"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93</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343601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D8BFC79-C46E-4299-8A35-15DF17D6C023}"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94</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2199182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D8BFC79-C46E-4299-8A35-15DF17D6C023}"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96</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8117263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D8BFC79-C46E-4299-8A35-15DF17D6C023}"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98</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1854931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1" dirty="0">
                <a:latin typeface="Arial" pitchFamily="34" charset="0"/>
                <a:cs typeface="Arial" pitchFamily="34" charset="0"/>
              </a:rPr>
              <a:t>NOTE:</a:t>
            </a:r>
          </a:p>
          <a:p>
            <a:r>
              <a:rPr lang="en-US" i="1" dirty="0">
                <a:latin typeface="Arial" pitchFamily="34" charset="0"/>
                <a:cs typeface="Arial" pitchFamily="34" charset="0"/>
              </a:rPr>
              <a:t>To change the  image on this slide, select the picture and delete it. Then click the Pictures icon in the placeholder to insert your own image.</a:t>
            </a:r>
          </a:p>
        </p:txBody>
      </p:sp>
      <p:sp>
        <p:nvSpPr>
          <p:cNvPr id="4" name="Slide Number Placeholder 3"/>
          <p:cNvSpPr>
            <a:spLocks noGrp="1"/>
          </p:cNvSpPr>
          <p:nvPr>
            <p:ph type="sldNum" sz="quarter" idx="10"/>
          </p:nvPr>
        </p:nvSpPr>
        <p:spPr/>
        <p:txBody>
          <a:bodyPr/>
          <a:lstStyle/>
          <a:p>
            <a:fld id="{0A3C37BE-C303-496D-B5CD-85F2937540FC}" type="slidenum">
              <a:rPr lang="en-US" smtClean="0"/>
              <a:t>99</a:t>
            </a:fld>
            <a:endParaRPr lang="en-US"/>
          </a:p>
        </p:txBody>
      </p:sp>
    </p:spTree>
    <p:extLst>
      <p:ext uri="{BB962C8B-B14F-4D97-AF65-F5344CB8AC3E}">
        <p14:creationId xmlns:p14="http://schemas.microsoft.com/office/powerpoint/2010/main" val="14401059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squares"/>
          <p:cNvGrpSpPr/>
          <p:nvPr/>
        </p:nvGrpSpPr>
        <p:grpSpPr>
          <a:xfrm>
            <a:off x="0" y="1135744"/>
            <a:ext cx="1622755" cy="799981"/>
            <a:chOff x="0" y="452558"/>
            <a:chExt cx="914400" cy="524182"/>
          </a:xfrm>
        </p:grpSpPr>
        <p:sp>
          <p:nvSpPr>
            <p:cNvPr id="8" name="Rounded Rectangle 7"/>
            <p:cNvSpPr/>
            <p:nvPr/>
          </p:nvSpPr>
          <p:spPr>
            <a:xfrm>
              <a:off x="591671" y="452558"/>
              <a:ext cx="322729" cy="52418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9" name="Rounded Rectangle 8"/>
            <p:cNvSpPr/>
            <p:nvPr/>
          </p:nvSpPr>
          <p:spPr>
            <a:xfrm>
              <a:off x="215154" y="452558"/>
              <a:ext cx="322729" cy="52418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0" name="Round Same Side Corner Rectangle 9"/>
            <p:cNvSpPr/>
            <p:nvPr/>
          </p:nvSpPr>
          <p:spPr>
            <a:xfrm rot="5400000">
              <a:off x="-181408" y="633966"/>
              <a:ext cx="524182" cy="161366"/>
            </a:xfrm>
            <a:prstGeom prst="round2SameRect">
              <a:avLst>
                <a:gd name="adj1" fmla="val 29167"/>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sp>
        <p:nvSpPr>
          <p:cNvPr id="2" name="Title 1"/>
          <p:cNvSpPr>
            <a:spLocks noGrp="1"/>
          </p:cNvSpPr>
          <p:nvPr>
            <p:ph type="ctrTitle"/>
          </p:nvPr>
        </p:nvSpPr>
        <p:spPr>
          <a:xfrm>
            <a:off x="1828801" y="362396"/>
            <a:ext cx="9144000" cy="1676400"/>
          </a:xfrm>
        </p:spPr>
        <p:txBody>
          <a:bodyPr>
            <a:noAutofit/>
          </a:bodyPr>
          <a:lstStyle>
            <a:lvl1pPr>
              <a:lnSpc>
                <a:spcPct val="80000"/>
              </a:lnSpc>
              <a:defRPr sz="6000"/>
            </a:lvl1pPr>
          </a:lstStyle>
          <a:p>
            <a:r>
              <a:rPr lang="en-US"/>
              <a:t>Click to edit Master title style</a:t>
            </a:r>
            <a:endParaRPr/>
          </a:p>
        </p:txBody>
      </p:sp>
      <p:sp>
        <p:nvSpPr>
          <p:cNvPr id="3" name="Subtitle 2"/>
          <p:cNvSpPr>
            <a:spLocks noGrp="1"/>
          </p:cNvSpPr>
          <p:nvPr>
            <p:ph type="subTitle" idx="1"/>
          </p:nvPr>
        </p:nvSpPr>
        <p:spPr>
          <a:xfrm>
            <a:off x="1828801" y="2089595"/>
            <a:ext cx="9144000" cy="886344"/>
          </a:xfrm>
        </p:spPr>
        <p:txBody>
          <a:bodyPr>
            <a:normAutofit/>
          </a:bodyPr>
          <a:lstStyle>
            <a:lvl1pPr marL="0" indent="0" algn="l">
              <a:buNone/>
              <a:defRPr sz="2800">
                <a:solidFill>
                  <a:schemeClr val="accent1">
                    <a:lumMod val="75000"/>
                  </a:schemeClr>
                </a:solidFill>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Click to edit Master subtitle style</a:t>
            </a:r>
            <a:endParaRPr dirty="0"/>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A7209051-6E81-43E8-9099-FF6A0C3DCFE8}" type="datetime1">
              <a:rPr lang="en-US"/>
              <a:t>11/20/2025</a:t>
            </a:fld>
            <a:endParaRPr/>
          </a:p>
        </p:txBody>
      </p:sp>
      <p:sp>
        <p:nvSpPr>
          <p:cNvPr id="6" name="Slide Number Placeholder 5"/>
          <p:cNvSpPr>
            <a:spLocks noGrp="1"/>
          </p:cNvSpPr>
          <p:nvPr>
            <p:ph type="sldNum" sz="quarter" idx="12"/>
          </p:nvPr>
        </p:nvSpPr>
        <p:spPr/>
        <p:txBody>
          <a:bodyPr/>
          <a:lstStyle/>
          <a:p>
            <a:fld id="{34C99D79-8A4B-4031-B1E0-AF26F8EDF2BC}" type="slidenum">
              <a:rPr/>
              <a:t>‹#›</a:t>
            </a:fld>
            <a:endParaRPr/>
          </a:p>
        </p:txBody>
      </p:sp>
    </p:spTree>
    <p:extLst>
      <p:ext uri="{BB962C8B-B14F-4D97-AF65-F5344CB8AC3E}">
        <p14:creationId xmlns:p14="http://schemas.microsoft.com/office/powerpoint/2010/main" val="28017030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0CC3EA6D-DF0B-4D4B-B359-5F1D1D0E30A4}" type="datetime1">
              <a:rPr lang="en-US"/>
              <a:t>11/20/2025</a:t>
            </a:fld>
            <a:endParaRPr/>
          </a:p>
        </p:txBody>
      </p:sp>
      <p:sp>
        <p:nvSpPr>
          <p:cNvPr id="6" name="Slide Number Placeholder 5"/>
          <p:cNvSpPr>
            <a:spLocks noGrp="1"/>
          </p:cNvSpPr>
          <p:nvPr>
            <p:ph type="sldNum" sz="quarter" idx="12"/>
          </p:nvPr>
        </p:nvSpPr>
        <p:spPr/>
        <p:txBody>
          <a:bodyPr/>
          <a:lstStyle/>
          <a:p>
            <a:fld id="{34C99D79-8A4B-4031-B1E0-AF26F8EDF2BC}" type="slidenum">
              <a:rPr/>
              <a:t>‹#›</a:t>
            </a:fld>
            <a:endParaRPr/>
          </a:p>
        </p:txBody>
      </p:sp>
    </p:spTree>
    <p:extLst>
      <p:ext uri="{BB962C8B-B14F-4D97-AF65-F5344CB8AC3E}">
        <p14:creationId xmlns:p14="http://schemas.microsoft.com/office/powerpoint/2010/main" val="364277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7" name="squares"/>
          <p:cNvGrpSpPr/>
          <p:nvPr/>
        </p:nvGrpSpPr>
        <p:grpSpPr>
          <a:xfrm>
            <a:off x="0" y="3124415"/>
            <a:ext cx="1622755" cy="805061"/>
            <a:chOff x="0" y="2343311"/>
            <a:chExt cx="1217066" cy="603796"/>
          </a:xfrm>
        </p:grpSpPr>
        <p:sp>
          <p:nvSpPr>
            <p:cNvPr id="8" name="Rounded Rectangle 7"/>
            <p:cNvSpPr/>
            <p:nvPr/>
          </p:nvSpPr>
          <p:spPr>
            <a:xfrm>
              <a:off x="787514" y="2347123"/>
              <a:ext cx="429552" cy="599984"/>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9" name="Rounded Rectangle 8"/>
            <p:cNvSpPr/>
            <p:nvPr/>
          </p:nvSpPr>
          <p:spPr>
            <a:xfrm>
              <a:off x="286370" y="2347123"/>
              <a:ext cx="429552" cy="59998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0" name="Round Same Side Corner Rectangle 9"/>
            <p:cNvSpPr/>
            <p:nvPr/>
          </p:nvSpPr>
          <p:spPr>
            <a:xfrm rot="5400000">
              <a:off x="-192604" y="2535915"/>
              <a:ext cx="599986" cy="214778"/>
            </a:xfrm>
            <a:prstGeom prst="round2SameRect">
              <a:avLst>
                <a:gd name="adj1" fmla="val 29167"/>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grpSp>
        <p:nvGrpSpPr>
          <p:cNvPr id="19" name="bottom graphic"/>
          <p:cNvGrpSpPr/>
          <p:nvPr/>
        </p:nvGrpSpPr>
        <p:grpSpPr>
          <a:xfrm>
            <a:off x="1" y="5409217"/>
            <a:ext cx="12192000" cy="1462483"/>
            <a:chOff x="0" y="4056912"/>
            <a:chExt cx="9144000" cy="1096862"/>
          </a:xfrm>
        </p:grpSpPr>
        <p:sp>
          <p:nvSpPr>
            <p:cNvPr id="20" name="Freeform 19"/>
            <p:cNvSpPr/>
            <p:nvPr/>
          </p:nvSpPr>
          <p:spPr bwMode="ltGray">
            <a:xfrm rot="5400000">
              <a:off x="4119794" y="119293"/>
              <a:ext cx="904412" cy="9144000"/>
            </a:xfrm>
            <a:custGeom>
              <a:avLst/>
              <a:gdLst/>
              <a:ahLst/>
              <a:cxnLst/>
              <a:rect l="l" t="t" r="r" b="b"/>
              <a:pathLst>
                <a:path w="904412" h="9144000">
                  <a:moveTo>
                    <a:pt x="0" y="0"/>
                  </a:moveTo>
                  <a:lnTo>
                    <a:pt x="904412" y="0"/>
                  </a:lnTo>
                  <a:lnTo>
                    <a:pt x="904412" y="9144000"/>
                  </a:lnTo>
                  <a:lnTo>
                    <a:pt x="391235" y="9144000"/>
                  </a:lnTo>
                  <a:cubicBezTo>
                    <a:pt x="445385" y="6730684"/>
                    <a:pt x="250230" y="1995757"/>
                    <a:pt x="0" y="0"/>
                  </a:cubicBezTo>
                  <a:close/>
                </a:path>
              </a:pathLst>
            </a:custGeom>
            <a:solidFill>
              <a:schemeClr val="tx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1" name="Rectangle 72"/>
            <p:cNvSpPr/>
            <p:nvPr/>
          </p:nvSpPr>
          <p:spPr bwMode="ltGray">
            <a:xfrm rot="5400000">
              <a:off x="4023569" y="33343"/>
              <a:ext cx="1096862" cy="9144000"/>
            </a:xfrm>
            <a:custGeom>
              <a:avLst/>
              <a:gdLst/>
              <a:ahLst/>
              <a:cxnLst/>
              <a:rect l="l" t="t" r="r" b="b"/>
              <a:pathLst>
                <a:path w="1096862" h="9144000">
                  <a:moveTo>
                    <a:pt x="1096861" y="9136375"/>
                  </a:moveTo>
                  <a:lnTo>
                    <a:pt x="1096861" y="0"/>
                  </a:lnTo>
                  <a:lnTo>
                    <a:pt x="1096862" y="0"/>
                  </a:lnTo>
                  <a:lnTo>
                    <a:pt x="1096862" y="9136375"/>
                  </a:lnTo>
                  <a:close/>
                  <a:moveTo>
                    <a:pt x="0" y="0"/>
                  </a:moveTo>
                  <a:lnTo>
                    <a:pt x="142171" y="0"/>
                  </a:lnTo>
                  <a:cubicBezTo>
                    <a:pt x="214017" y="532804"/>
                    <a:pt x="281641" y="1260834"/>
                    <a:pt x="340913" y="2087809"/>
                  </a:cubicBezTo>
                  <a:cubicBezTo>
                    <a:pt x="492781" y="4358443"/>
                    <a:pt x="587048" y="7374964"/>
                    <a:pt x="547354" y="9144000"/>
                  </a:cubicBezTo>
                  <a:lnTo>
                    <a:pt x="452132" y="9144000"/>
                  </a:lnTo>
                  <a:cubicBezTo>
                    <a:pt x="484963" y="4670358"/>
                    <a:pt x="240277" y="2482661"/>
                    <a:pt x="0" y="0"/>
                  </a:cubicBezTo>
                  <a:close/>
                </a:path>
              </a:pathLst>
            </a:custGeom>
            <a:solidFill>
              <a:schemeClr val="tx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sz="1800"/>
            </a:p>
          </p:txBody>
        </p:sp>
      </p:grpSp>
      <p:sp>
        <p:nvSpPr>
          <p:cNvPr id="2" name="Title 1"/>
          <p:cNvSpPr>
            <a:spLocks noGrp="1"/>
          </p:cNvSpPr>
          <p:nvPr>
            <p:ph type="title"/>
          </p:nvPr>
        </p:nvSpPr>
        <p:spPr>
          <a:xfrm>
            <a:off x="1828801" y="1932519"/>
            <a:ext cx="9144000" cy="2105367"/>
          </a:xfrm>
        </p:spPr>
        <p:txBody>
          <a:bodyPr anchor="b">
            <a:normAutofit/>
          </a:bodyPr>
          <a:lstStyle>
            <a:lvl1pPr algn="l">
              <a:defRPr sz="6000" b="0" cap="none" baseline="0"/>
            </a:lvl1pPr>
          </a:lstStyle>
          <a:p>
            <a:r>
              <a:rPr lang="en-US"/>
              <a:t>Click to edit Master title style</a:t>
            </a:r>
            <a:endParaRPr/>
          </a:p>
        </p:txBody>
      </p:sp>
      <p:sp>
        <p:nvSpPr>
          <p:cNvPr id="3" name="Text Placeholder 2"/>
          <p:cNvSpPr>
            <a:spLocks noGrp="1"/>
          </p:cNvSpPr>
          <p:nvPr>
            <p:ph type="body" idx="1"/>
          </p:nvPr>
        </p:nvSpPr>
        <p:spPr>
          <a:xfrm>
            <a:off x="1828801" y="4084265"/>
            <a:ext cx="9144000" cy="933297"/>
          </a:xfrm>
        </p:spPr>
        <p:txBody>
          <a:bodyPr anchor="t">
            <a:normAutofit/>
          </a:bodyPr>
          <a:lstStyle>
            <a:lvl1pPr marL="0" indent="0">
              <a:buNone/>
              <a:defRPr sz="2800">
                <a:solidFill>
                  <a:schemeClr val="accent1">
                    <a:lumMod val="75000"/>
                  </a:schemeClr>
                </a:solidFill>
              </a:defRPr>
            </a:lvl1pPr>
            <a:lvl2pPr marL="609493" indent="0">
              <a:buNone/>
              <a:defRPr sz="2400">
                <a:solidFill>
                  <a:schemeClr val="tx1">
                    <a:tint val="75000"/>
                  </a:schemeClr>
                </a:solidFill>
              </a:defRPr>
            </a:lvl2pPr>
            <a:lvl3pPr marL="1218987" indent="0">
              <a:buNone/>
              <a:defRPr sz="2100">
                <a:solidFill>
                  <a:schemeClr val="tx1">
                    <a:tint val="75000"/>
                  </a:schemeClr>
                </a:solidFill>
              </a:defRPr>
            </a:lvl3pPr>
            <a:lvl4pPr marL="1828480" indent="0">
              <a:buNone/>
              <a:defRPr sz="1900">
                <a:solidFill>
                  <a:schemeClr val="tx1">
                    <a:tint val="75000"/>
                  </a:schemeClr>
                </a:solidFill>
              </a:defRPr>
            </a:lvl4pPr>
            <a:lvl5pPr marL="2437973" indent="0">
              <a:buNone/>
              <a:defRPr sz="1900">
                <a:solidFill>
                  <a:schemeClr val="tx1">
                    <a:tint val="75000"/>
                  </a:schemeClr>
                </a:solidFill>
              </a:defRPr>
            </a:lvl5pPr>
            <a:lvl6pPr marL="3047467" indent="0">
              <a:buNone/>
              <a:defRPr sz="1900">
                <a:solidFill>
                  <a:schemeClr val="tx1">
                    <a:tint val="75000"/>
                  </a:schemeClr>
                </a:solidFill>
              </a:defRPr>
            </a:lvl6pPr>
            <a:lvl7pPr marL="3656960" indent="0">
              <a:buNone/>
              <a:defRPr sz="1900">
                <a:solidFill>
                  <a:schemeClr val="tx1">
                    <a:tint val="75000"/>
                  </a:schemeClr>
                </a:solidFill>
              </a:defRPr>
            </a:lvl7pPr>
            <a:lvl8pPr marL="4266453" indent="0">
              <a:buNone/>
              <a:defRPr sz="1900">
                <a:solidFill>
                  <a:schemeClr val="tx1">
                    <a:tint val="75000"/>
                  </a:schemeClr>
                </a:solidFill>
              </a:defRPr>
            </a:lvl8pPr>
            <a:lvl9pPr marL="4875947" indent="0">
              <a:buNone/>
              <a:defRPr sz="19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977EDB99-15BC-4479-BAC5-1E502E66917A}" type="datetime1">
              <a:rPr lang="en-US"/>
              <a:t>11/20/2025</a:t>
            </a:fld>
            <a:endParaRPr/>
          </a:p>
        </p:txBody>
      </p:sp>
      <p:sp>
        <p:nvSpPr>
          <p:cNvPr id="6" name="Slide Number Placeholder 5"/>
          <p:cNvSpPr>
            <a:spLocks noGrp="1"/>
          </p:cNvSpPr>
          <p:nvPr>
            <p:ph type="sldNum" sz="quarter" idx="12"/>
          </p:nvPr>
        </p:nvSpPr>
        <p:spPr/>
        <p:txBody>
          <a:bodyPr/>
          <a:lstStyle/>
          <a:p>
            <a:fld id="{34C99D79-8A4B-4031-B1E0-AF26F8EDF2BC}" type="slidenum">
              <a:rPr/>
              <a:t>‹#›</a:t>
            </a:fld>
            <a:endParaRPr/>
          </a:p>
        </p:txBody>
      </p:sp>
    </p:spTree>
    <p:extLst>
      <p:ext uri="{BB962C8B-B14F-4D97-AF65-F5344CB8AC3E}">
        <p14:creationId xmlns:p14="http://schemas.microsoft.com/office/powerpoint/2010/main" val="2644004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141709" y="152400"/>
            <a:ext cx="9753600" cy="1295400"/>
          </a:xfrm>
        </p:spPr>
        <p:txBody>
          <a:bodyPr/>
          <a:lstStyle/>
          <a:p>
            <a:r>
              <a:rPr lang="en-US"/>
              <a:t>Click to edit Master title style</a:t>
            </a:r>
            <a:endParaRPr/>
          </a:p>
        </p:txBody>
      </p:sp>
      <p:sp>
        <p:nvSpPr>
          <p:cNvPr id="3" name="Content Placeholder 2"/>
          <p:cNvSpPr>
            <a:spLocks noGrp="1"/>
          </p:cNvSpPr>
          <p:nvPr>
            <p:ph sz="half" idx="1"/>
          </p:nvPr>
        </p:nvSpPr>
        <p:spPr>
          <a:xfrm>
            <a:off x="1141709" y="1600200"/>
            <a:ext cx="4876800" cy="457200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095999" y="1600200"/>
            <a:ext cx="4876800" cy="457200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4067C2A3-CD19-48AB-9F64-ECCF75182EDD}" type="datetime1">
              <a:rPr lang="en-US"/>
              <a:t>11/20/2025</a:t>
            </a:fld>
            <a:endParaRPr/>
          </a:p>
        </p:txBody>
      </p:sp>
      <p:sp>
        <p:nvSpPr>
          <p:cNvPr id="7" name="Slide Number Placeholder 6"/>
          <p:cNvSpPr>
            <a:spLocks noGrp="1"/>
          </p:cNvSpPr>
          <p:nvPr>
            <p:ph type="sldNum" sz="quarter" idx="12"/>
          </p:nvPr>
        </p:nvSpPr>
        <p:spPr/>
        <p:txBody>
          <a:bodyPr/>
          <a:lstStyle/>
          <a:p>
            <a:fld id="{34C99D79-8A4B-4031-B1E0-AF26F8EDF2BC}" type="slidenum">
              <a:rPr/>
              <a:t>‹#›</a:t>
            </a:fld>
            <a:endParaRPr/>
          </a:p>
        </p:txBody>
      </p:sp>
    </p:spTree>
    <p:extLst>
      <p:ext uri="{BB962C8B-B14F-4D97-AF65-F5344CB8AC3E}">
        <p14:creationId xmlns:p14="http://schemas.microsoft.com/office/powerpoint/2010/main" val="2374198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709" y="152400"/>
            <a:ext cx="9753600" cy="1295400"/>
          </a:xfrm>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141709" y="1524001"/>
            <a:ext cx="4876800" cy="816429"/>
          </a:xfrm>
        </p:spPr>
        <p:txBody>
          <a:bodyPr anchor="ctr">
            <a:normAutofit/>
          </a:bodyPr>
          <a:lstStyle>
            <a:lvl1pPr marL="0" indent="0">
              <a:buNone/>
              <a:defRPr sz="2800" b="0">
                <a:solidFill>
                  <a:schemeClr val="accent1">
                    <a:lumMod val="75000"/>
                  </a:schemeClr>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4" name="Content Placeholder 3"/>
          <p:cNvSpPr>
            <a:spLocks noGrp="1"/>
          </p:cNvSpPr>
          <p:nvPr>
            <p:ph sz="half" idx="2"/>
          </p:nvPr>
        </p:nvSpPr>
        <p:spPr>
          <a:xfrm>
            <a:off x="1141709" y="2413001"/>
            <a:ext cx="4876800" cy="3759199"/>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095999" y="1524001"/>
            <a:ext cx="4876800" cy="816429"/>
          </a:xfrm>
        </p:spPr>
        <p:txBody>
          <a:bodyPr anchor="ctr">
            <a:normAutofit/>
          </a:bodyPr>
          <a:lstStyle>
            <a:lvl1pPr marL="0" indent="0">
              <a:buNone/>
              <a:defRPr sz="2800" b="0">
                <a:solidFill>
                  <a:schemeClr val="accent1">
                    <a:lumMod val="75000"/>
                  </a:schemeClr>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6" name="Content Placeholder 5"/>
          <p:cNvSpPr>
            <a:spLocks noGrp="1"/>
          </p:cNvSpPr>
          <p:nvPr>
            <p:ph sz="quarter" idx="4"/>
          </p:nvPr>
        </p:nvSpPr>
        <p:spPr>
          <a:xfrm>
            <a:off x="6095999" y="2413001"/>
            <a:ext cx="4876800" cy="3759199"/>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r>
              <a:rPr lang="en-US" dirty="0"/>
              <a:t>Add a footer</a:t>
            </a:r>
          </a:p>
        </p:txBody>
      </p:sp>
      <p:sp>
        <p:nvSpPr>
          <p:cNvPr id="7" name="Date Placeholder 6"/>
          <p:cNvSpPr>
            <a:spLocks noGrp="1"/>
          </p:cNvSpPr>
          <p:nvPr>
            <p:ph type="dt" sz="half" idx="10"/>
          </p:nvPr>
        </p:nvSpPr>
        <p:spPr/>
        <p:txBody>
          <a:bodyPr/>
          <a:lstStyle/>
          <a:p>
            <a:fld id="{0363E8C1-7C87-4705-AB97-8CD17D208E3F}" type="datetime1">
              <a:rPr lang="en-US"/>
              <a:t>11/20/2025</a:t>
            </a:fld>
            <a:endParaRPr/>
          </a:p>
        </p:txBody>
      </p:sp>
      <p:sp>
        <p:nvSpPr>
          <p:cNvPr id="9" name="Slide Number Placeholder 8"/>
          <p:cNvSpPr>
            <a:spLocks noGrp="1"/>
          </p:cNvSpPr>
          <p:nvPr>
            <p:ph type="sldNum" sz="quarter" idx="12"/>
          </p:nvPr>
        </p:nvSpPr>
        <p:spPr/>
        <p:txBody>
          <a:bodyPr/>
          <a:lstStyle/>
          <a:p>
            <a:fld id="{34C99D79-8A4B-4031-B1E0-AF26F8EDF2BC}" type="slidenum">
              <a:rPr/>
              <a:t>‹#›</a:t>
            </a:fld>
            <a:endParaRPr/>
          </a:p>
        </p:txBody>
      </p:sp>
    </p:spTree>
    <p:extLst>
      <p:ext uri="{BB962C8B-B14F-4D97-AF65-F5344CB8AC3E}">
        <p14:creationId xmlns:p14="http://schemas.microsoft.com/office/powerpoint/2010/main" val="2136909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4" name="Footer Placeholder 3"/>
          <p:cNvSpPr>
            <a:spLocks noGrp="1"/>
          </p:cNvSpPr>
          <p:nvPr>
            <p:ph type="ftr" sz="quarter" idx="11"/>
          </p:nvPr>
        </p:nvSpPr>
        <p:spPr/>
        <p:txBody>
          <a:bodyPr/>
          <a:lstStyle/>
          <a:p>
            <a:r>
              <a:rPr lang="en-US" dirty="0"/>
              <a:t>Add a footer</a:t>
            </a:r>
          </a:p>
        </p:txBody>
      </p:sp>
      <p:sp>
        <p:nvSpPr>
          <p:cNvPr id="3" name="Date Placeholder 2"/>
          <p:cNvSpPr>
            <a:spLocks noGrp="1"/>
          </p:cNvSpPr>
          <p:nvPr>
            <p:ph type="dt" sz="half" idx="10"/>
          </p:nvPr>
        </p:nvSpPr>
        <p:spPr/>
        <p:txBody>
          <a:bodyPr/>
          <a:lstStyle/>
          <a:p>
            <a:fld id="{E20C624E-DF92-4841-B9B9-DD11AA239B85}" type="datetime1">
              <a:rPr lang="en-US"/>
              <a:t>11/20/2025</a:t>
            </a:fld>
            <a:endParaRPr/>
          </a:p>
        </p:txBody>
      </p:sp>
      <p:sp>
        <p:nvSpPr>
          <p:cNvPr id="5" name="Slide Number Placeholder 4"/>
          <p:cNvSpPr>
            <a:spLocks noGrp="1"/>
          </p:cNvSpPr>
          <p:nvPr>
            <p:ph type="sldNum" sz="quarter" idx="12"/>
          </p:nvPr>
        </p:nvSpPr>
        <p:spPr/>
        <p:txBody>
          <a:bodyPr/>
          <a:lstStyle/>
          <a:p>
            <a:fld id="{34C99D79-8A4B-4031-B1E0-AF26F8EDF2BC}" type="slidenum">
              <a:rPr/>
              <a:t>‹#›</a:t>
            </a:fld>
            <a:endParaRPr/>
          </a:p>
        </p:txBody>
      </p:sp>
    </p:spTree>
    <p:extLst>
      <p:ext uri="{BB962C8B-B14F-4D97-AF65-F5344CB8AC3E}">
        <p14:creationId xmlns:p14="http://schemas.microsoft.com/office/powerpoint/2010/main" val="3471336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pSp>
        <p:nvGrpSpPr>
          <p:cNvPr id="8" name="bottom graphic"/>
          <p:cNvGrpSpPr/>
          <p:nvPr/>
        </p:nvGrpSpPr>
        <p:grpSpPr>
          <a:xfrm>
            <a:off x="1" y="5409217"/>
            <a:ext cx="12192000" cy="1462483"/>
            <a:chOff x="0" y="4056912"/>
            <a:chExt cx="9144000" cy="1096862"/>
          </a:xfrm>
        </p:grpSpPr>
        <p:sp>
          <p:nvSpPr>
            <p:cNvPr id="9" name="Freeform 8"/>
            <p:cNvSpPr/>
            <p:nvPr/>
          </p:nvSpPr>
          <p:spPr bwMode="ltGray">
            <a:xfrm rot="5400000">
              <a:off x="4119794" y="119293"/>
              <a:ext cx="904412" cy="9144000"/>
            </a:xfrm>
            <a:custGeom>
              <a:avLst/>
              <a:gdLst/>
              <a:ahLst/>
              <a:cxnLst/>
              <a:rect l="l" t="t" r="r" b="b"/>
              <a:pathLst>
                <a:path w="904412" h="9144000">
                  <a:moveTo>
                    <a:pt x="0" y="0"/>
                  </a:moveTo>
                  <a:lnTo>
                    <a:pt x="904412" y="0"/>
                  </a:lnTo>
                  <a:lnTo>
                    <a:pt x="904412" y="9144000"/>
                  </a:lnTo>
                  <a:lnTo>
                    <a:pt x="391235" y="9144000"/>
                  </a:lnTo>
                  <a:cubicBezTo>
                    <a:pt x="445385" y="6730684"/>
                    <a:pt x="250230" y="1995757"/>
                    <a:pt x="0" y="0"/>
                  </a:cubicBezTo>
                  <a:close/>
                </a:path>
              </a:pathLst>
            </a:custGeom>
            <a:solidFill>
              <a:schemeClr val="tx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0" name="Rectangle 72"/>
            <p:cNvSpPr/>
            <p:nvPr/>
          </p:nvSpPr>
          <p:spPr bwMode="ltGray">
            <a:xfrm rot="5400000">
              <a:off x="4023569" y="33343"/>
              <a:ext cx="1096862" cy="9144000"/>
            </a:xfrm>
            <a:custGeom>
              <a:avLst/>
              <a:gdLst/>
              <a:ahLst/>
              <a:cxnLst/>
              <a:rect l="l" t="t" r="r" b="b"/>
              <a:pathLst>
                <a:path w="1096862" h="9144000">
                  <a:moveTo>
                    <a:pt x="1096861" y="9136375"/>
                  </a:moveTo>
                  <a:lnTo>
                    <a:pt x="1096861" y="0"/>
                  </a:lnTo>
                  <a:lnTo>
                    <a:pt x="1096862" y="0"/>
                  </a:lnTo>
                  <a:lnTo>
                    <a:pt x="1096862" y="9136375"/>
                  </a:lnTo>
                  <a:close/>
                  <a:moveTo>
                    <a:pt x="0" y="0"/>
                  </a:moveTo>
                  <a:lnTo>
                    <a:pt x="142171" y="0"/>
                  </a:lnTo>
                  <a:cubicBezTo>
                    <a:pt x="214017" y="532804"/>
                    <a:pt x="281641" y="1260834"/>
                    <a:pt x="340913" y="2087809"/>
                  </a:cubicBezTo>
                  <a:cubicBezTo>
                    <a:pt x="492781" y="4358443"/>
                    <a:pt x="587048" y="7374964"/>
                    <a:pt x="547354" y="9144000"/>
                  </a:cubicBezTo>
                  <a:lnTo>
                    <a:pt x="452132" y="9144000"/>
                  </a:lnTo>
                  <a:cubicBezTo>
                    <a:pt x="484963" y="4670358"/>
                    <a:pt x="240277" y="2482661"/>
                    <a:pt x="0" y="0"/>
                  </a:cubicBezTo>
                  <a:close/>
                </a:path>
              </a:pathLst>
            </a:custGeom>
            <a:solidFill>
              <a:schemeClr val="tx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sz="1800"/>
            </a:p>
          </p:txBody>
        </p:sp>
      </p:grpSp>
      <p:sp>
        <p:nvSpPr>
          <p:cNvPr id="3" name="Footer Placeholder 2"/>
          <p:cNvSpPr>
            <a:spLocks noGrp="1"/>
          </p:cNvSpPr>
          <p:nvPr>
            <p:ph type="ftr" sz="quarter" idx="11"/>
          </p:nvPr>
        </p:nvSpPr>
        <p:spPr/>
        <p:txBody>
          <a:bodyPr/>
          <a:lstStyle/>
          <a:p>
            <a:r>
              <a:rPr lang="en-US" dirty="0"/>
              <a:t>Add a footer</a:t>
            </a:r>
          </a:p>
        </p:txBody>
      </p:sp>
      <p:sp>
        <p:nvSpPr>
          <p:cNvPr id="2" name="Date Placeholder 1"/>
          <p:cNvSpPr>
            <a:spLocks noGrp="1"/>
          </p:cNvSpPr>
          <p:nvPr>
            <p:ph type="dt" sz="half" idx="10"/>
          </p:nvPr>
        </p:nvSpPr>
        <p:spPr/>
        <p:txBody>
          <a:bodyPr/>
          <a:lstStyle/>
          <a:p>
            <a:fld id="{FBDA3AE1-4360-4D5B-BDBC-656B872DD533}" type="datetime1">
              <a:rPr lang="en-US"/>
              <a:t>11/20/2025</a:t>
            </a:fld>
            <a:endParaRPr/>
          </a:p>
        </p:txBody>
      </p:sp>
      <p:sp>
        <p:nvSpPr>
          <p:cNvPr id="4" name="Slide Number Placeholder 3"/>
          <p:cNvSpPr>
            <a:spLocks noGrp="1"/>
          </p:cNvSpPr>
          <p:nvPr>
            <p:ph type="sldNum" sz="quarter" idx="12"/>
          </p:nvPr>
        </p:nvSpPr>
        <p:spPr/>
        <p:txBody>
          <a:bodyPr/>
          <a:lstStyle/>
          <a:p>
            <a:fld id="{34C99D79-8A4B-4031-B1E0-AF26F8EDF2BC}" type="slidenum">
              <a:rPr/>
              <a:t>‹#›</a:t>
            </a:fld>
            <a:endParaRPr/>
          </a:p>
        </p:txBody>
      </p:sp>
    </p:spTree>
    <p:extLst>
      <p:ext uri="{BB962C8B-B14F-4D97-AF65-F5344CB8AC3E}">
        <p14:creationId xmlns:p14="http://schemas.microsoft.com/office/powerpoint/2010/main" val="1773514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normAutofit/>
          </a:bodyPr>
          <a:lstStyle>
            <a:lvl1pPr algn="l">
              <a:defRPr sz="3600" b="0"/>
            </a:lvl1pPr>
          </a:lstStyle>
          <a:p>
            <a:r>
              <a:rPr lang="en-US"/>
              <a:t>Click to edit Master title style</a:t>
            </a:r>
            <a:endParaRPr/>
          </a:p>
        </p:txBody>
      </p:sp>
      <p:sp>
        <p:nvSpPr>
          <p:cNvPr id="3" name="Content Placeholder 2"/>
          <p:cNvSpPr>
            <a:spLocks noGrp="1"/>
          </p:cNvSpPr>
          <p:nvPr>
            <p:ph idx="1"/>
          </p:nvPr>
        </p:nvSpPr>
        <p:spPr>
          <a:xfrm>
            <a:off x="4876800" y="1600200"/>
            <a:ext cx="6096001" cy="457200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1219200" y="1600202"/>
            <a:ext cx="3454400" cy="4571999"/>
          </a:xfrm>
        </p:spPr>
        <p:txBody>
          <a:bodyPr>
            <a:normAutofit/>
          </a:bodyPr>
          <a:lstStyle>
            <a:lvl1pPr marL="0" indent="0">
              <a:buNone/>
              <a:defRPr sz="2800">
                <a:solidFill>
                  <a:schemeClr val="accent1">
                    <a:lumMod val="75000"/>
                  </a:schemeClr>
                </a:solidFill>
              </a:defRPr>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20990708-46A4-4851-883E-8DFB8939107E}" type="datetime1">
              <a:rPr lang="en-US"/>
              <a:t>11/20/2025</a:t>
            </a:fld>
            <a:endParaRPr/>
          </a:p>
        </p:txBody>
      </p:sp>
      <p:sp>
        <p:nvSpPr>
          <p:cNvPr id="7" name="Slide Number Placeholder 6"/>
          <p:cNvSpPr>
            <a:spLocks noGrp="1"/>
          </p:cNvSpPr>
          <p:nvPr>
            <p:ph type="sldNum" sz="quarter" idx="12"/>
          </p:nvPr>
        </p:nvSpPr>
        <p:spPr/>
        <p:txBody>
          <a:bodyPr/>
          <a:lstStyle/>
          <a:p>
            <a:fld id="{34C99D79-8A4B-4031-B1E0-AF26F8EDF2BC}" type="slidenum">
              <a:rPr/>
              <a:t>‹#›</a:t>
            </a:fld>
            <a:endParaRPr/>
          </a:p>
        </p:txBody>
      </p:sp>
    </p:spTree>
    <p:extLst>
      <p:ext uri="{BB962C8B-B14F-4D97-AF65-F5344CB8AC3E}">
        <p14:creationId xmlns:p14="http://schemas.microsoft.com/office/powerpoint/2010/main" val="3854771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normAutofit/>
          </a:bodyPr>
          <a:lstStyle>
            <a:lvl1pPr algn="l">
              <a:defRPr sz="3600" b="0"/>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1219205" y="1600200"/>
            <a:ext cx="6705596" cy="3657600"/>
          </a:xfrm>
          <a:prstGeom prst="roundRect">
            <a:avLst>
              <a:gd name="adj" fmla="val 3098"/>
            </a:avLst>
          </a:prstGeom>
        </p:spPr>
        <p:txBody>
          <a:bodyPr>
            <a:normAutofit/>
          </a:bodyPr>
          <a:lstStyle>
            <a:lvl1pPr marL="0" indent="0">
              <a:buNone/>
              <a:defRPr sz="2700"/>
            </a:lvl1pPr>
            <a:lvl2pPr marL="609493" indent="0">
              <a:buNone/>
              <a:defRPr sz="3700"/>
            </a:lvl2pPr>
            <a:lvl3pPr marL="1218987" indent="0">
              <a:buNone/>
              <a:defRPr sz="3200"/>
            </a:lvl3pPr>
            <a:lvl4pPr marL="1828480" indent="0">
              <a:buNone/>
              <a:defRPr sz="2700"/>
            </a:lvl4pPr>
            <a:lvl5pPr marL="2437973" indent="0">
              <a:buNone/>
              <a:defRPr sz="2700"/>
            </a:lvl5pPr>
            <a:lvl6pPr marL="3047467" indent="0">
              <a:buNone/>
              <a:defRPr sz="2700"/>
            </a:lvl6pPr>
            <a:lvl7pPr marL="3656960" indent="0">
              <a:buNone/>
              <a:defRPr sz="2700"/>
            </a:lvl7pPr>
            <a:lvl8pPr marL="4266453" indent="0">
              <a:buNone/>
              <a:defRPr sz="2700"/>
            </a:lvl8pPr>
            <a:lvl9pPr marL="4875947" indent="0">
              <a:buNone/>
              <a:defRPr sz="2700"/>
            </a:lvl9pPr>
          </a:lstStyle>
          <a:p>
            <a:r>
              <a:rPr lang="en-US"/>
              <a:t>Click icon to add picture</a:t>
            </a:r>
            <a:endParaRPr/>
          </a:p>
        </p:txBody>
      </p:sp>
      <p:sp>
        <p:nvSpPr>
          <p:cNvPr id="4" name="Text Placeholder 3"/>
          <p:cNvSpPr>
            <a:spLocks noGrp="1"/>
          </p:cNvSpPr>
          <p:nvPr>
            <p:ph type="body" sz="half" idx="2"/>
          </p:nvPr>
        </p:nvSpPr>
        <p:spPr>
          <a:xfrm>
            <a:off x="8128000" y="1600200"/>
            <a:ext cx="2844800" cy="3759200"/>
          </a:xfrm>
        </p:spPr>
        <p:txBody>
          <a:bodyPr anchor="b">
            <a:normAutofit/>
          </a:bodyPr>
          <a:lstStyle>
            <a:lvl1pPr marL="0" indent="0">
              <a:buNone/>
              <a:defRPr sz="2800">
                <a:solidFill>
                  <a:schemeClr val="accent1">
                    <a:lumMod val="75000"/>
                  </a:schemeClr>
                </a:solidFill>
              </a:defRPr>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AE88EFFC-86AE-4294-A319-CAFC2651994B}" type="datetime1">
              <a:rPr lang="en-US"/>
              <a:t>11/20/2025</a:t>
            </a:fld>
            <a:endParaRPr/>
          </a:p>
        </p:txBody>
      </p:sp>
      <p:sp>
        <p:nvSpPr>
          <p:cNvPr id="7" name="Slide Number Placeholder 6"/>
          <p:cNvSpPr>
            <a:spLocks noGrp="1"/>
          </p:cNvSpPr>
          <p:nvPr>
            <p:ph type="sldNum" sz="quarter" idx="12"/>
          </p:nvPr>
        </p:nvSpPr>
        <p:spPr/>
        <p:txBody>
          <a:bodyPr/>
          <a:lstStyle/>
          <a:p>
            <a:fld id="{34C99D79-8A4B-4031-B1E0-AF26F8EDF2BC}" type="slidenum">
              <a:rPr/>
              <a:t>‹#›</a:t>
            </a:fld>
            <a:endParaRPr/>
          </a:p>
        </p:txBody>
      </p:sp>
    </p:spTree>
    <p:extLst>
      <p:ext uri="{BB962C8B-B14F-4D97-AF65-F5344CB8AC3E}">
        <p14:creationId xmlns:p14="http://schemas.microsoft.com/office/powerpoint/2010/main" val="2490329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EDCEAB04-7709-4C1E-A61A-74684A0170FC}" type="datetime1">
              <a:rPr lang="en-US"/>
              <a:t>11/20/2025</a:t>
            </a:fld>
            <a:endParaRPr/>
          </a:p>
        </p:txBody>
      </p:sp>
      <p:sp>
        <p:nvSpPr>
          <p:cNvPr id="6" name="Slide Number Placeholder 5"/>
          <p:cNvSpPr>
            <a:spLocks noGrp="1"/>
          </p:cNvSpPr>
          <p:nvPr>
            <p:ph type="sldNum" sz="quarter" idx="12"/>
          </p:nvPr>
        </p:nvSpPr>
        <p:spPr/>
        <p:txBody>
          <a:bodyPr/>
          <a:lstStyle/>
          <a:p>
            <a:fld id="{34C99D79-8A4B-4031-B1E0-AF26F8EDF2BC}" type="slidenum">
              <a:rPr/>
              <a:t>‹#›</a:t>
            </a:fld>
            <a:endParaRPr/>
          </a:p>
        </p:txBody>
      </p:sp>
    </p:spTree>
    <p:extLst>
      <p:ext uri="{BB962C8B-B14F-4D97-AF65-F5344CB8AC3E}">
        <p14:creationId xmlns:p14="http://schemas.microsoft.com/office/powerpoint/2010/main" val="27625673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7" name="squares"/>
          <p:cNvGrpSpPr/>
          <p:nvPr/>
        </p:nvGrpSpPr>
        <p:grpSpPr>
          <a:xfrm rot="5400000">
            <a:off x="9585642" y="233796"/>
            <a:ext cx="1063300" cy="524183"/>
            <a:chOff x="0" y="452558"/>
            <a:chExt cx="914400" cy="524182"/>
          </a:xfrm>
        </p:grpSpPr>
        <p:sp>
          <p:nvSpPr>
            <p:cNvPr id="8" name="Rounded Rectangle 7"/>
            <p:cNvSpPr/>
            <p:nvPr/>
          </p:nvSpPr>
          <p:spPr>
            <a:xfrm>
              <a:off x="591671" y="452558"/>
              <a:ext cx="322729" cy="52418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9" name="Rounded Rectangle 8"/>
            <p:cNvSpPr/>
            <p:nvPr/>
          </p:nvSpPr>
          <p:spPr>
            <a:xfrm>
              <a:off x="215154" y="452558"/>
              <a:ext cx="322729" cy="52418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0" name="Round Same Side Corner Rectangle 9"/>
            <p:cNvSpPr/>
            <p:nvPr/>
          </p:nvSpPr>
          <p:spPr>
            <a:xfrm rot="5400000">
              <a:off x="-181408" y="633966"/>
              <a:ext cx="524182" cy="161366"/>
            </a:xfrm>
            <a:prstGeom prst="round2SameRect">
              <a:avLst>
                <a:gd name="adj1" fmla="val 29167"/>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grpSp>
        <p:nvGrpSpPr>
          <p:cNvPr id="15" name="bottom graphic"/>
          <p:cNvGrpSpPr/>
          <p:nvPr/>
        </p:nvGrpSpPr>
        <p:grpSpPr>
          <a:xfrm>
            <a:off x="1" y="5395518"/>
            <a:ext cx="12192000" cy="1462483"/>
            <a:chOff x="0" y="4046638"/>
            <a:chExt cx="9144000" cy="1096862"/>
          </a:xfrm>
        </p:grpSpPr>
        <p:sp>
          <p:nvSpPr>
            <p:cNvPr id="16" name="Freeform 15"/>
            <p:cNvSpPr/>
            <p:nvPr/>
          </p:nvSpPr>
          <p:spPr bwMode="ltGray">
            <a:xfrm rot="5400000">
              <a:off x="4119794" y="119293"/>
              <a:ext cx="904412" cy="9144000"/>
            </a:xfrm>
            <a:custGeom>
              <a:avLst/>
              <a:gdLst/>
              <a:ahLst/>
              <a:cxnLst/>
              <a:rect l="l" t="t" r="r" b="b"/>
              <a:pathLst>
                <a:path w="904412" h="9144000">
                  <a:moveTo>
                    <a:pt x="0" y="0"/>
                  </a:moveTo>
                  <a:lnTo>
                    <a:pt x="904412" y="0"/>
                  </a:lnTo>
                  <a:lnTo>
                    <a:pt x="904412" y="9144000"/>
                  </a:lnTo>
                  <a:lnTo>
                    <a:pt x="391235" y="9144000"/>
                  </a:lnTo>
                  <a:cubicBezTo>
                    <a:pt x="445385" y="6730684"/>
                    <a:pt x="250230" y="1995757"/>
                    <a:pt x="0" y="0"/>
                  </a:cubicBezTo>
                  <a:close/>
                </a:path>
              </a:pathLst>
            </a:custGeom>
            <a:solidFill>
              <a:schemeClr val="tx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7" name="Rectangle 72"/>
            <p:cNvSpPr/>
            <p:nvPr/>
          </p:nvSpPr>
          <p:spPr bwMode="ltGray">
            <a:xfrm rot="5400000">
              <a:off x="4023569" y="23069"/>
              <a:ext cx="1096862" cy="9144000"/>
            </a:xfrm>
            <a:custGeom>
              <a:avLst/>
              <a:gdLst/>
              <a:ahLst/>
              <a:cxnLst/>
              <a:rect l="l" t="t" r="r" b="b"/>
              <a:pathLst>
                <a:path w="1096862" h="9144000">
                  <a:moveTo>
                    <a:pt x="1096861" y="9136375"/>
                  </a:moveTo>
                  <a:lnTo>
                    <a:pt x="1096861" y="0"/>
                  </a:lnTo>
                  <a:lnTo>
                    <a:pt x="1096862" y="0"/>
                  </a:lnTo>
                  <a:lnTo>
                    <a:pt x="1096862" y="9136375"/>
                  </a:lnTo>
                  <a:close/>
                  <a:moveTo>
                    <a:pt x="0" y="0"/>
                  </a:moveTo>
                  <a:lnTo>
                    <a:pt x="142171" y="0"/>
                  </a:lnTo>
                  <a:cubicBezTo>
                    <a:pt x="214017" y="532804"/>
                    <a:pt x="281641" y="1260834"/>
                    <a:pt x="340913" y="2087809"/>
                  </a:cubicBezTo>
                  <a:cubicBezTo>
                    <a:pt x="492781" y="4358443"/>
                    <a:pt x="587048" y="7374964"/>
                    <a:pt x="547354" y="9144000"/>
                  </a:cubicBezTo>
                  <a:lnTo>
                    <a:pt x="452132" y="9144000"/>
                  </a:lnTo>
                  <a:cubicBezTo>
                    <a:pt x="484963" y="4670358"/>
                    <a:pt x="240277" y="2482661"/>
                    <a:pt x="0" y="0"/>
                  </a:cubicBezTo>
                  <a:close/>
                </a:path>
              </a:pathLst>
            </a:custGeom>
            <a:solidFill>
              <a:schemeClr val="tx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sz="1800"/>
            </a:p>
          </p:txBody>
        </p:sp>
      </p:grpSp>
      <p:sp>
        <p:nvSpPr>
          <p:cNvPr id="2" name="Vertical Title 1"/>
          <p:cNvSpPr>
            <a:spLocks noGrp="1"/>
          </p:cNvSpPr>
          <p:nvPr>
            <p:ph type="title" orient="vert"/>
          </p:nvPr>
        </p:nvSpPr>
        <p:spPr>
          <a:xfrm>
            <a:off x="9753600" y="1150515"/>
            <a:ext cx="1828800" cy="5021685"/>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219200" y="1150515"/>
            <a:ext cx="8229600" cy="5021685"/>
          </a:xfrm>
        </p:spPr>
        <p:txBody>
          <a:bodyPr vert="eaVert"/>
          <a:lstStyle>
            <a:lvl5pPr>
              <a:defRPr/>
            </a:lvl5pPr>
            <a:lvl6pPr>
              <a:defRPr/>
            </a:lvl6pPr>
            <a:lvl7pPr>
              <a:defRPr/>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0C79BD0D-E0B1-4CED-AC65-708AC79EB9CD}" type="datetime1">
              <a:rPr lang="en-US"/>
              <a:t>11/20/2025</a:t>
            </a:fld>
            <a:endParaRPr/>
          </a:p>
        </p:txBody>
      </p:sp>
      <p:sp>
        <p:nvSpPr>
          <p:cNvPr id="6" name="Slide Number Placeholder 5"/>
          <p:cNvSpPr>
            <a:spLocks noGrp="1"/>
          </p:cNvSpPr>
          <p:nvPr>
            <p:ph type="sldNum" sz="quarter" idx="12"/>
          </p:nvPr>
        </p:nvSpPr>
        <p:spPr/>
        <p:txBody>
          <a:bodyPr/>
          <a:lstStyle/>
          <a:p>
            <a:fld id="{34C99D79-8A4B-4031-B1E0-AF26F8EDF2BC}" type="slidenum">
              <a:rPr/>
              <a:t>‹#›</a:t>
            </a:fld>
            <a:endParaRPr/>
          </a:p>
        </p:txBody>
      </p:sp>
    </p:spTree>
    <p:extLst>
      <p:ext uri="{BB962C8B-B14F-4D97-AF65-F5344CB8AC3E}">
        <p14:creationId xmlns:p14="http://schemas.microsoft.com/office/powerpoint/2010/main" val="5737417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95EFF86-76A9-4007-A332-52973F1AC1DF}" type="datetimeFigureOut">
              <a:rPr lang="en-GB" smtClean="0"/>
              <a:t>20/11/2025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B3469C3-E26F-4911-A779-D0943B426884}" type="slidenum">
              <a:rPr lang="en-GB" smtClean="0"/>
              <a:t>‹#›</a:t>
            </a:fld>
            <a:endParaRPr lang="en-GB"/>
          </a:p>
        </p:txBody>
      </p:sp>
    </p:spTree>
    <p:extLst>
      <p:ext uri="{BB962C8B-B14F-4D97-AF65-F5344CB8AC3E}">
        <p14:creationId xmlns:p14="http://schemas.microsoft.com/office/powerpoint/2010/main" val="42321475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95EFF86-76A9-4007-A332-52973F1AC1DF}" type="datetimeFigureOut">
              <a:rPr lang="en-GB" smtClean="0"/>
              <a:t>20/11/2025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B3469C3-E26F-4911-A779-D0943B426884}" type="slidenum">
              <a:rPr lang="en-GB" smtClean="0"/>
              <a:t>‹#›</a:t>
            </a:fld>
            <a:endParaRPr lang="en-GB"/>
          </a:p>
        </p:txBody>
      </p:sp>
    </p:spTree>
    <p:extLst>
      <p:ext uri="{BB962C8B-B14F-4D97-AF65-F5344CB8AC3E}">
        <p14:creationId xmlns:p14="http://schemas.microsoft.com/office/powerpoint/2010/main" val="25992653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95EFF86-76A9-4007-A332-52973F1AC1DF}" type="datetimeFigureOut">
              <a:rPr lang="en-GB" smtClean="0"/>
              <a:t>20/11/2025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B3469C3-E26F-4911-A779-D0943B426884}" type="slidenum">
              <a:rPr lang="en-GB" smtClean="0"/>
              <a:t>‹#›</a:t>
            </a:fld>
            <a:endParaRPr lang="en-GB"/>
          </a:p>
        </p:txBody>
      </p:sp>
    </p:spTree>
    <p:extLst>
      <p:ext uri="{BB962C8B-B14F-4D97-AF65-F5344CB8AC3E}">
        <p14:creationId xmlns:p14="http://schemas.microsoft.com/office/powerpoint/2010/main" val="32694662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95EFF86-76A9-4007-A332-52973F1AC1DF}" type="datetimeFigureOut">
              <a:rPr lang="en-GB" smtClean="0"/>
              <a:t>20/11/2025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B3469C3-E26F-4911-A779-D0943B426884}" type="slidenum">
              <a:rPr lang="en-GB" smtClean="0"/>
              <a:t>‹#›</a:t>
            </a:fld>
            <a:endParaRPr lang="en-GB"/>
          </a:p>
        </p:txBody>
      </p:sp>
    </p:spTree>
    <p:extLst>
      <p:ext uri="{BB962C8B-B14F-4D97-AF65-F5344CB8AC3E}">
        <p14:creationId xmlns:p14="http://schemas.microsoft.com/office/powerpoint/2010/main" val="23349110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95EFF86-76A9-4007-A332-52973F1AC1DF}" type="datetimeFigureOut">
              <a:rPr lang="en-GB" smtClean="0"/>
              <a:t>20/11/2025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AB3469C3-E26F-4911-A779-D0943B426884}" type="slidenum">
              <a:rPr lang="en-GB" smtClean="0"/>
              <a:t>‹#›</a:t>
            </a:fld>
            <a:endParaRPr lang="en-GB"/>
          </a:p>
        </p:txBody>
      </p:sp>
    </p:spTree>
    <p:extLst>
      <p:ext uri="{BB962C8B-B14F-4D97-AF65-F5344CB8AC3E}">
        <p14:creationId xmlns:p14="http://schemas.microsoft.com/office/powerpoint/2010/main" val="6867801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95EFF86-76A9-4007-A332-52973F1AC1DF}" type="datetimeFigureOut">
              <a:rPr lang="en-GB" smtClean="0"/>
              <a:t>20/11/2025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AB3469C3-E26F-4911-A779-D0943B426884}" type="slidenum">
              <a:rPr lang="en-GB" smtClean="0"/>
              <a:t>‹#›</a:t>
            </a:fld>
            <a:endParaRPr lang="en-GB"/>
          </a:p>
        </p:txBody>
      </p:sp>
    </p:spTree>
    <p:extLst>
      <p:ext uri="{BB962C8B-B14F-4D97-AF65-F5344CB8AC3E}">
        <p14:creationId xmlns:p14="http://schemas.microsoft.com/office/powerpoint/2010/main" val="13354546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5EFF86-76A9-4007-A332-52973F1AC1DF}" type="datetimeFigureOut">
              <a:rPr lang="en-GB" smtClean="0"/>
              <a:t>20/11/2025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AB3469C3-E26F-4911-A779-D0943B426884}" type="slidenum">
              <a:rPr lang="en-GB" smtClean="0"/>
              <a:t>‹#›</a:t>
            </a:fld>
            <a:endParaRPr lang="en-GB"/>
          </a:p>
        </p:txBody>
      </p:sp>
    </p:spTree>
    <p:extLst>
      <p:ext uri="{BB962C8B-B14F-4D97-AF65-F5344CB8AC3E}">
        <p14:creationId xmlns:p14="http://schemas.microsoft.com/office/powerpoint/2010/main" val="410041682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95EFF86-76A9-4007-A332-52973F1AC1DF}" type="datetimeFigureOut">
              <a:rPr lang="en-GB" smtClean="0"/>
              <a:t>20/11/2025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B3469C3-E26F-4911-A779-D0943B426884}" type="slidenum">
              <a:rPr lang="en-GB" smtClean="0"/>
              <a:t>‹#›</a:t>
            </a:fld>
            <a:endParaRPr lang="en-GB"/>
          </a:p>
        </p:txBody>
      </p:sp>
    </p:spTree>
    <p:extLst>
      <p:ext uri="{BB962C8B-B14F-4D97-AF65-F5344CB8AC3E}">
        <p14:creationId xmlns:p14="http://schemas.microsoft.com/office/powerpoint/2010/main" val="37878868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95EFF86-76A9-4007-A332-52973F1AC1DF}" type="datetimeFigureOut">
              <a:rPr lang="en-GB" smtClean="0"/>
              <a:t>20/11/2025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B3469C3-E26F-4911-A779-D0943B426884}" type="slidenum">
              <a:rPr lang="en-GB" smtClean="0"/>
              <a:t>‹#›</a:t>
            </a:fld>
            <a:endParaRPr lang="en-GB"/>
          </a:p>
        </p:txBody>
      </p:sp>
    </p:spTree>
    <p:extLst>
      <p:ext uri="{BB962C8B-B14F-4D97-AF65-F5344CB8AC3E}">
        <p14:creationId xmlns:p14="http://schemas.microsoft.com/office/powerpoint/2010/main" val="25543959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95EFF86-76A9-4007-A332-52973F1AC1DF}" type="datetimeFigureOut">
              <a:rPr lang="en-GB" smtClean="0"/>
              <a:t>20/11/2025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B3469C3-E26F-4911-A779-D0943B426884}" type="slidenum">
              <a:rPr lang="en-GB" smtClean="0"/>
              <a:t>‹#›</a:t>
            </a:fld>
            <a:endParaRPr lang="en-GB"/>
          </a:p>
        </p:txBody>
      </p:sp>
    </p:spTree>
    <p:extLst>
      <p:ext uri="{BB962C8B-B14F-4D97-AF65-F5344CB8AC3E}">
        <p14:creationId xmlns:p14="http://schemas.microsoft.com/office/powerpoint/2010/main" val="398736386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95EFF86-76A9-4007-A332-52973F1AC1DF}" type="datetimeFigureOut">
              <a:rPr lang="en-GB" smtClean="0"/>
              <a:t>20/11/2025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B3469C3-E26F-4911-A779-D0943B426884}" type="slidenum">
              <a:rPr lang="en-GB" smtClean="0"/>
              <a:t>‹#›</a:t>
            </a:fld>
            <a:endParaRPr lang="en-GB"/>
          </a:p>
        </p:txBody>
      </p:sp>
    </p:spTree>
    <p:extLst>
      <p:ext uri="{BB962C8B-B14F-4D97-AF65-F5344CB8AC3E}">
        <p14:creationId xmlns:p14="http://schemas.microsoft.com/office/powerpoint/2010/main" val="387393328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userDrawn="1">
  <p:cSld name="1_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4800"/>
            </a:lvl1pPr>
          </a:lstStyle>
          <a:p>
            <a:r>
              <a:rPr lang="en-US" noProof="0"/>
              <a:t>Click To Edit Master Title Style</a:t>
            </a:r>
          </a:p>
        </p:txBody>
      </p:sp>
      <p:sp>
        <p:nvSpPr>
          <p:cNvPr id="3" name="Date Placeholder 2"/>
          <p:cNvSpPr>
            <a:spLocks noGrp="1"/>
          </p:cNvSpPr>
          <p:nvPr>
            <p:ph type="dt" sz="half" idx="10"/>
          </p:nvPr>
        </p:nvSpPr>
        <p:spPr/>
        <p:txBody>
          <a:bodyPr/>
          <a:lstStyle/>
          <a:p>
            <a:fld id="{3B77EF04-6424-4B70-94D1-FC932CBBDD9B}" type="datetimeFigureOut">
              <a:rPr lang="en-US" noProof="0" smtClean="0"/>
              <a:t>11/20/2025</a:t>
            </a:fld>
            <a:endParaRPr lang="en-US" noProof="0" dirty="0"/>
          </a:p>
        </p:txBody>
      </p:sp>
      <p:sp>
        <p:nvSpPr>
          <p:cNvPr id="4" name="Footer Placeholder 3"/>
          <p:cNvSpPr>
            <a:spLocks noGrp="1"/>
          </p:cNvSpPr>
          <p:nvPr>
            <p:ph type="ftr" sz="quarter" idx="11"/>
          </p:nvPr>
        </p:nvSpPr>
        <p:spPr/>
        <p:txBody>
          <a:bodyPr/>
          <a:lstStyle/>
          <a:p>
            <a:r>
              <a:rPr lang="en-US" noProof="0" dirty="0"/>
              <a:t>Add a footer </a:t>
            </a:r>
          </a:p>
        </p:txBody>
      </p:sp>
      <p:sp>
        <p:nvSpPr>
          <p:cNvPr id="5" name="Slide Number Placeholder 4"/>
          <p:cNvSpPr>
            <a:spLocks noGrp="1"/>
          </p:cNvSpPr>
          <p:nvPr>
            <p:ph type="sldNum" sz="quarter" idx="12"/>
          </p:nvPr>
        </p:nvSpPr>
        <p:spPr/>
        <p:txBody>
          <a:bodyPr/>
          <a:lstStyle/>
          <a:p>
            <a:fld id="{B38049E5-7B53-4E85-8972-7D6C4BCE5BB9}" type="slidenum">
              <a:rPr lang="en-US" noProof="0" smtClean="0"/>
              <a:t>‹#›</a:t>
            </a:fld>
            <a:endParaRPr lang="en-US" noProof="0" dirty="0"/>
          </a:p>
        </p:txBody>
      </p:sp>
      <p:sp>
        <p:nvSpPr>
          <p:cNvPr id="7" name="Text Placeholder 6">
            <a:extLst>
              <a:ext uri="{FF2B5EF4-FFF2-40B4-BE49-F238E27FC236}">
                <a16:creationId xmlns:a16="http://schemas.microsoft.com/office/drawing/2014/main" id="{CAFD1631-6749-4027-9415-B72D163BBD58}"/>
              </a:ext>
            </a:extLst>
          </p:cNvPr>
          <p:cNvSpPr>
            <a:spLocks noGrp="1"/>
          </p:cNvSpPr>
          <p:nvPr>
            <p:ph type="body" sz="quarter" idx="13"/>
          </p:nvPr>
        </p:nvSpPr>
        <p:spPr>
          <a:xfrm>
            <a:off x="1560471" y="2297695"/>
            <a:ext cx="9071059" cy="2767600"/>
          </a:xfrm>
        </p:spPr>
        <p:txBody>
          <a:bodyPr anchor="ctr"/>
          <a:lstStyle>
            <a:lvl1pPr marL="0" indent="0" algn="ctr">
              <a:buNone/>
              <a:defRPr sz="6000"/>
            </a:lvl1pPr>
          </a:lstStyle>
          <a:p>
            <a:pPr lvl="0"/>
            <a:r>
              <a:rPr lang="en-US" noProof="0"/>
              <a:t>Click to edit Master text styles</a:t>
            </a:r>
          </a:p>
        </p:txBody>
      </p:sp>
    </p:spTree>
    <p:extLst>
      <p:ext uri="{BB962C8B-B14F-4D97-AF65-F5344CB8AC3E}">
        <p14:creationId xmlns:p14="http://schemas.microsoft.com/office/powerpoint/2010/main" val="897167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userDrawn="1">
  <p:cSld name="Picture, TItle, and Caption">
    <p:spTree>
      <p:nvGrpSpPr>
        <p:cNvPr id="1" name=""/>
        <p:cNvGrpSpPr/>
        <p:nvPr/>
      </p:nvGrpSpPr>
      <p:grpSpPr>
        <a:xfrm>
          <a:off x="0" y="0"/>
          <a:ext cx="0" cy="0"/>
          <a:chOff x="0" y="0"/>
          <a:chExt cx="0" cy="0"/>
        </a:xfrm>
      </p:grpSpPr>
      <p:sp>
        <p:nvSpPr>
          <p:cNvPr id="8" name="Rectangle 7" title="Background Shape"/>
          <p:cNvSpPr/>
          <p:nvPr/>
        </p:nvSpPr>
        <p:spPr>
          <a:xfrm>
            <a:off x="-1" y="376"/>
            <a:ext cx="6234898" cy="685762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a:extLst>
              <a:ext uri="{FF2B5EF4-FFF2-40B4-BE49-F238E27FC236}">
                <a16:creationId xmlns:a16="http://schemas.microsoft.com/office/drawing/2014/main" id="{1F430D42-50DC-4502-A3E8-251FE7F0809D}"/>
              </a:ext>
            </a:extLst>
          </p:cNvPr>
          <p:cNvSpPr/>
          <p:nvPr userDrawn="1"/>
        </p:nvSpPr>
        <p:spPr>
          <a:xfrm>
            <a:off x="507591" y="5289755"/>
            <a:ext cx="5270049" cy="1012722"/>
          </a:xfrm>
          <a:prstGeom prst="rect">
            <a:avLst/>
          </a:prstGeom>
          <a:solidFill>
            <a:schemeClr val="bg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solidFill>
                <a:schemeClr val="accent3"/>
              </a:solidFill>
            </a:endParaRPr>
          </a:p>
        </p:txBody>
      </p:sp>
      <p:sp>
        <p:nvSpPr>
          <p:cNvPr id="11" name="Rectangle: Diagonal Corners Snipped 10">
            <a:extLst>
              <a:ext uri="{FF2B5EF4-FFF2-40B4-BE49-F238E27FC236}">
                <a16:creationId xmlns:a16="http://schemas.microsoft.com/office/drawing/2014/main" id="{836AFDEB-3C72-49E0-9B45-DC9EFBA6587F}"/>
              </a:ext>
            </a:extLst>
          </p:cNvPr>
          <p:cNvSpPr/>
          <p:nvPr userDrawn="1"/>
        </p:nvSpPr>
        <p:spPr bwMode="white">
          <a:xfrm>
            <a:off x="507591" y="409286"/>
            <a:ext cx="5270049" cy="4732985"/>
          </a:xfrm>
          <a:prstGeom prst="snip2DiagRect">
            <a:avLst>
              <a:gd name="adj1" fmla="val 0"/>
              <a:gd name="adj2" fmla="val 10697"/>
            </a:avLst>
          </a:prstGeom>
          <a:solidFill>
            <a:schemeClr val="accent3"/>
          </a:solidFill>
          <a:ln>
            <a:noFill/>
          </a:ln>
          <a:effectLst>
            <a:outerShdw blurRad="63500" sx="102000" sy="102000" algn="ctr"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2" name="Title 1"/>
          <p:cNvSpPr>
            <a:spLocks noGrp="1"/>
          </p:cNvSpPr>
          <p:nvPr>
            <p:ph type="title" hasCustomPrompt="1"/>
          </p:nvPr>
        </p:nvSpPr>
        <p:spPr>
          <a:xfrm>
            <a:off x="6930776" y="477366"/>
            <a:ext cx="4644000" cy="1341602"/>
          </a:xfrm>
        </p:spPr>
        <p:txBody>
          <a:bodyPr anchor="ctr" anchorCtr="0">
            <a:normAutofit/>
          </a:bodyPr>
          <a:lstStyle>
            <a:lvl1pPr algn="ctr">
              <a:lnSpc>
                <a:spcPct val="84000"/>
              </a:lnSpc>
              <a:defRPr sz="4800" baseline="0">
                <a:solidFill>
                  <a:schemeClr val="tx2"/>
                </a:solidFill>
              </a:defRPr>
            </a:lvl1pPr>
          </a:lstStyle>
          <a:p>
            <a:r>
              <a:rPr lang="en-US" noProof="0"/>
              <a:t>Click To Edit Master Title Style</a:t>
            </a:r>
          </a:p>
        </p:txBody>
      </p:sp>
      <p:sp>
        <p:nvSpPr>
          <p:cNvPr id="4" name="Text Placeholder 3"/>
          <p:cNvSpPr>
            <a:spLocks noGrp="1"/>
          </p:cNvSpPr>
          <p:nvPr>
            <p:ph type="body" sz="half" idx="2"/>
          </p:nvPr>
        </p:nvSpPr>
        <p:spPr>
          <a:xfrm>
            <a:off x="6930775" y="1966451"/>
            <a:ext cx="4644001" cy="4388615"/>
          </a:xfrm>
        </p:spPr>
        <p:txBody>
          <a:bodyPr/>
          <a:lstStyle>
            <a:lvl1pPr marL="285750" indent="-285750">
              <a:lnSpc>
                <a:spcPct val="100000"/>
              </a:lnSpc>
              <a:spcBef>
                <a:spcPts val="0"/>
              </a:spcBef>
              <a:spcAft>
                <a:spcPts val="0"/>
              </a:spcAft>
              <a:buFont typeface="Arial" panose="020B0604020202020204" pitchFamily="34" charset="0"/>
              <a:buChar char="•"/>
              <a:defRPr sz="18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5" name="Date Placeholder 4"/>
          <p:cNvSpPr>
            <a:spLocks noGrp="1"/>
          </p:cNvSpPr>
          <p:nvPr>
            <p:ph type="dt" sz="half" idx="10"/>
          </p:nvPr>
        </p:nvSpPr>
        <p:spPr>
          <a:xfrm>
            <a:off x="507591" y="6453386"/>
            <a:ext cx="1204572" cy="404614"/>
          </a:xfrm>
        </p:spPr>
        <p:txBody>
          <a:bodyPr/>
          <a:lstStyle>
            <a:lvl1pPr>
              <a:defRPr>
                <a:solidFill>
                  <a:schemeClr val="bg1"/>
                </a:solidFill>
              </a:defRPr>
            </a:lvl1pPr>
          </a:lstStyle>
          <a:p>
            <a:fld id="{3B77EF04-6424-4B70-94D1-FC932CBBDD9B}" type="datetimeFigureOut">
              <a:rPr lang="en-US" noProof="0" smtClean="0"/>
              <a:pPr/>
              <a:t>11/20/2025</a:t>
            </a:fld>
            <a:endParaRPr lang="en-US" noProof="0" dirty="0"/>
          </a:p>
        </p:txBody>
      </p:sp>
      <p:sp>
        <p:nvSpPr>
          <p:cNvPr id="6" name="Footer Placeholder 5"/>
          <p:cNvSpPr>
            <a:spLocks noGrp="1"/>
          </p:cNvSpPr>
          <p:nvPr>
            <p:ph type="ftr" sz="quarter" idx="11"/>
          </p:nvPr>
        </p:nvSpPr>
        <p:spPr>
          <a:xfrm>
            <a:off x="3403965" y="6453386"/>
            <a:ext cx="2373675" cy="404614"/>
          </a:xfrm>
        </p:spPr>
        <p:txBody>
          <a:bodyPr/>
          <a:lstStyle>
            <a:lvl1pPr>
              <a:defRPr>
                <a:solidFill>
                  <a:schemeClr val="bg1"/>
                </a:solidFill>
              </a:defRPr>
            </a:lvl1pPr>
          </a:lstStyle>
          <a:p>
            <a:r>
              <a:rPr lang="en-US" noProof="0" dirty="0"/>
              <a:t>Add a footer </a:t>
            </a:r>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B38049E5-7B53-4E85-8972-7D6C4BCE5BB9}" type="slidenum">
              <a:rPr lang="en-US" noProof="0" smtClean="0"/>
              <a:t>‹#›</a:t>
            </a:fld>
            <a:endParaRPr lang="en-US" noProof="0" dirty="0"/>
          </a:p>
        </p:txBody>
      </p:sp>
      <p:sp>
        <p:nvSpPr>
          <p:cNvPr id="9" name="Rectangle 8" title="Divider Bar"/>
          <p:cNvSpPr/>
          <p:nvPr/>
        </p:nvSpPr>
        <p:spPr>
          <a:xfrm>
            <a:off x="6234897" y="-376"/>
            <a:ext cx="144000" cy="6876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L-Shape 11">
            <a:extLst>
              <a:ext uri="{FF2B5EF4-FFF2-40B4-BE49-F238E27FC236}">
                <a16:creationId xmlns:a16="http://schemas.microsoft.com/office/drawing/2014/main" id="{26A5AA85-E28D-4647-B000-742C83A8047D}"/>
              </a:ext>
            </a:extLst>
          </p:cNvPr>
          <p:cNvSpPr>
            <a:spLocks noChangeAspect="1"/>
          </p:cNvSpPr>
          <p:nvPr userDrawn="1"/>
        </p:nvSpPr>
        <p:spPr>
          <a:xfrm flipV="1">
            <a:off x="6845770" y="372071"/>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solidFill>
                <a:schemeClr val="tx2"/>
              </a:solidFill>
            </a:endParaRPr>
          </a:p>
        </p:txBody>
      </p:sp>
      <p:sp>
        <p:nvSpPr>
          <p:cNvPr id="13" name="L-Shape 12">
            <a:extLst>
              <a:ext uri="{FF2B5EF4-FFF2-40B4-BE49-F238E27FC236}">
                <a16:creationId xmlns:a16="http://schemas.microsoft.com/office/drawing/2014/main" id="{C3CD9875-0A2E-4F4D-ACB7-87DD98EED9D0}"/>
              </a:ext>
            </a:extLst>
          </p:cNvPr>
          <p:cNvSpPr>
            <a:spLocks noChangeAspect="1"/>
          </p:cNvSpPr>
          <p:nvPr userDrawn="1"/>
        </p:nvSpPr>
        <p:spPr>
          <a:xfrm flipH="1">
            <a:off x="11058438" y="5819525"/>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solidFill>
                <a:schemeClr val="tx2"/>
              </a:solidFill>
            </a:endParaRPr>
          </a:p>
        </p:txBody>
      </p:sp>
      <p:sp>
        <p:nvSpPr>
          <p:cNvPr id="10" name="Picture Placeholder 9">
            <a:extLst>
              <a:ext uri="{FF2B5EF4-FFF2-40B4-BE49-F238E27FC236}">
                <a16:creationId xmlns:a16="http://schemas.microsoft.com/office/drawing/2014/main" id="{3BDA3A4D-2561-4EEB-8787-E1A652565755}"/>
              </a:ext>
            </a:extLst>
          </p:cNvPr>
          <p:cNvSpPr>
            <a:spLocks noGrp="1"/>
          </p:cNvSpPr>
          <p:nvPr>
            <p:ph type="pic" sz="quarter" idx="13"/>
          </p:nvPr>
        </p:nvSpPr>
        <p:spPr>
          <a:xfrm>
            <a:off x="806245" y="668595"/>
            <a:ext cx="4646651" cy="4198373"/>
          </a:xfrm>
          <a:prstGeom prst="snip2DiagRect">
            <a:avLst>
              <a:gd name="adj1" fmla="val 0"/>
              <a:gd name="adj2" fmla="val 10300"/>
            </a:avLst>
          </a:prstGeom>
          <a:ln w="38100">
            <a:solidFill>
              <a:schemeClr val="bg1"/>
            </a:solidFill>
          </a:ln>
          <a:effectLst>
            <a:innerShdw blurRad="114300">
              <a:prstClr val="black"/>
            </a:innerShdw>
          </a:effectLst>
        </p:spPr>
        <p:txBody>
          <a:bodyPr/>
          <a:lstStyle>
            <a:lvl1pPr>
              <a:defRPr>
                <a:solidFill>
                  <a:schemeClr val="bg1"/>
                </a:solidFill>
              </a:defRPr>
            </a:lvl1pPr>
          </a:lstStyle>
          <a:p>
            <a:r>
              <a:rPr lang="en-US" noProof="0"/>
              <a:t>Click icon to add picture</a:t>
            </a:r>
            <a:endParaRPr lang="en-US" noProof="0" dirty="0"/>
          </a:p>
        </p:txBody>
      </p:sp>
      <p:sp>
        <p:nvSpPr>
          <p:cNvPr id="16" name="Text Placeholder 15">
            <a:extLst>
              <a:ext uri="{FF2B5EF4-FFF2-40B4-BE49-F238E27FC236}">
                <a16:creationId xmlns:a16="http://schemas.microsoft.com/office/drawing/2014/main" id="{FBB32A6B-92AA-4208-9120-FFC166CE751C}"/>
              </a:ext>
            </a:extLst>
          </p:cNvPr>
          <p:cNvSpPr>
            <a:spLocks noGrp="1"/>
          </p:cNvSpPr>
          <p:nvPr>
            <p:ph type="body" sz="quarter" idx="14"/>
          </p:nvPr>
        </p:nvSpPr>
        <p:spPr>
          <a:xfrm>
            <a:off x="570275" y="5352418"/>
            <a:ext cx="5148000" cy="900000"/>
          </a:xfrm>
          <a:solidFill>
            <a:schemeClr val="bg2"/>
          </a:solidFill>
          <a:effectLst>
            <a:innerShdw blurRad="114300">
              <a:prstClr val="black">
                <a:alpha val="34000"/>
              </a:prstClr>
            </a:innerShdw>
          </a:effectLst>
        </p:spPr>
        <p:txBody>
          <a:bodyPr anchor="ctr" anchorCtr="0"/>
          <a:lstStyle>
            <a:lvl1pPr marL="0" indent="0" algn="ctr">
              <a:buFont typeface="Arial" panose="020B0604020202020204" pitchFamily="34" charset="0"/>
              <a:buNone/>
              <a:defRPr sz="1800">
                <a:solidFill>
                  <a:schemeClr val="accent3"/>
                </a:solidFill>
              </a:defRPr>
            </a:lvl1pPr>
            <a:lvl2pPr marL="530352" indent="0" algn="ctr">
              <a:buFont typeface="Arial" panose="020B0604020202020204" pitchFamily="34" charset="0"/>
              <a:buNone/>
              <a:defRPr sz="1800">
                <a:solidFill>
                  <a:schemeClr val="accent3"/>
                </a:solidFill>
              </a:defRPr>
            </a:lvl2pPr>
            <a:lvl3pPr marL="987552" indent="0" algn="ctr">
              <a:buFont typeface="Arial" panose="020B0604020202020204" pitchFamily="34" charset="0"/>
              <a:buNone/>
              <a:defRPr sz="1600">
                <a:solidFill>
                  <a:schemeClr val="accent3"/>
                </a:solidFill>
              </a:defRPr>
            </a:lvl3pPr>
            <a:lvl4pPr marL="1444752" indent="0" algn="ctr">
              <a:buFont typeface="Arial" panose="020B0604020202020204" pitchFamily="34" charset="0"/>
              <a:buNone/>
              <a:defRPr sz="1600">
                <a:solidFill>
                  <a:schemeClr val="accent3"/>
                </a:solidFill>
              </a:defRPr>
            </a:lvl4pPr>
            <a:lvl5pPr marL="1901952" indent="0" algn="ctr">
              <a:buFont typeface="Arial" panose="020B0604020202020204" pitchFamily="34" charset="0"/>
              <a:buNone/>
              <a:defRPr sz="1400">
                <a:solidFill>
                  <a:schemeClr val="accent3"/>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 name="L-Shape 19">
            <a:extLst>
              <a:ext uri="{FF2B5EF4-FFF2-40B4-BE49-F238E27FC236}">
                <a16:creationId xmlns:a16="http://schemas.microsoft.com/office/drawing/2014/main" id="{CC096F9F-3AD4-4FC8-823F-DBD962E2E1C6}"/>
              </a:ext>
            </a:extLst>
          </p:cNvPr>
          <p:cNvSpPr>
            <a:spLocks noChangeAspect="1"/>
          </p:cNvSpPr>
          <p:nvPr userDrawn="1"/>
        </p:nvSpPr>
        <p:spPr>
          <a:xfrm flipH="1" flipV="1">
            <a:off x="11021316" y="361496"/>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solidFill>
                <a:schemeClr val="tx2"/>
              </a:solidFill>
            </a:endParaRPr>
          </a:p>
        </p:txBody>
      </p:sp>
      <p:sp>
        <p:nvSpPr>
          <p:cNvPr id="21" name="L-Shape 20">
            <a:extLst>
              <a:ext uri="{FF2B5EF4-FFF2-40B4-BE49-F238E27FC236}">
                <a16:creationId xmlns:a16="http://schemas.microsoft.com/office/drawing/2014/main" id="{9CFFEAD0-9992-49A8-A068-3357E08CD7C0}"/>
              </a:ext>
            </a:extLst>
          </p:cNvPr>
          <p:cNvSpPr>
            <a:spLocks noChangeAspect="1"/>
          </p:cNvSpPr>
          <p:nvPr userDrawn="1"/>
        </p:nvSpPr>
        <p:spPr>
          <a:xfrm>
            <a:off x="6865431" y="5819524"/>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solidFill>
                <a:schemeClr val="tx2"/>
              </a:solidFill>
            </a:endParaRPr>
          </a:p>
        </p:txBody>
      </p:sp>
      <p:cxnSp>
        <p:nvCxnSpPr>
          <p:cNvPr id="23" name="Straight Connector 22">
            <a:extLst>
              <a:ext uri="{FF2B5EF4-FFF2-40B4-BE49-F238E27FC236}">
                <a16:creationId xmlns:a16="http://schemas.microsoft.com/office/drawing/2014/main" id="{D470145D-417E-4648-AB08-0A7974A629E0}"/>
              </a:ext>
            </a:extLst>
          </p:cNvPr>
          <p:cNvCxnSpPr/>
          <p:nvPr userDrawn="1"/>
        </p:nvCxnSpPr>
        <p:spPr>
          <a:xfrm>
            <a:off x="7118556" y="1789472"/>
            <a:ext cx="4284000"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276621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cSld name="Title Slide with Picture">
    <p:spTree>
      <p:nvGrpSpPr>
        <p:cNvPr id="1" name=""/>
        <p:cNvGrpSpPr/>
        <p:nvPr/>
      </p:nvGrpSpPr>
      <p:grpSpPr>
        <a:xfrm>
          <a:off x="0" y="0"/>
          <a:ext cx="0" cy="0"/>
          <a:chOff x="0" y="0"/>
          <a:chExt cx="0" cy="0"/>
        </a:xfrm>
      </p:grpSpPr>
      <p:sp>
        <p:nvSpPr>
          <p:cNvPr id="2" name="Title 1"/>
          <p:cNvSpPr>
            <a:spLocks noGrp="1"/>
          </p:cNvSpPr>
          <p:nvPr>
            <p:ph type="ctrTitle"/>
          </p:nvPr>
        </p:nvSpPr>
        <p:spPr>
          <a:xfrm>
            <a:off x="1104900" y="2292094"/>
            <a:ext cx="5734050" cy="2219691"/>
          </a:xfrm>
        </p:spPr>
        <p:txBody>
          <a:bodyPr anchor="ctr">
            <a:normAutofit/>
          </a:bodyPr>
          <a:lstStyle>
            <a:lvl1pPr algn="l">
              <a:defRPr sz="4400" cap="all" baseline="0"/>
            </a:lvl1pPr>
          </a:lstStyle>
          <a:p>
            <a:r>
              <a:rPr lang="en-US"/>
              <a:t>Click to edit Master title style</a:t>
            </a:r>
            <a:endParaRPr/>
          </a:p>
        </p:txBody>
      </p:sp>
      <p:sp>
        <p:nvSpPr>
          <p:cNvPr id="3" name="Subtitle 2"/>
          <p:cNvSpPr>
            <a:spLocks noGrp="1"/>
          </p:cNvSpPr>
          <p:nvPr>
            <p:ph type="subTitle" idx="1"/>
          </p:nvPr>
        </p:nvSpPr>
        <p:spPr>
          <a:xfrm>
            <a:off x="1104900" y="4511784"/>
            <a:ext cx="5734050"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11" name="Picture Placeholder 10" descr="An empty placeholder to add an image. Click on the placeholder and select the image that you wish to add."/>
          <p:cNvSpPr>
            <a:spLocks noGrp="1"/>
          </p:cNvSpPr>
          <p:nvPr>
            <p:ph type="pic" sz="quarter" idx="13"/>
          </p:nvPr>
        </p:nvSpPr>
        <p:spPr>
          <a:xfrm>
            <a:off x="6981063" y="1310656"/>
            <a:ext cx="5210937" cy="4208604"/>
          </a:xfrm>
          <a:solidFill>
            <a:schemeClr val="tx1">
              <a:lumMod val="20000"/>
              <a:lumOff val="80000"/>
            </a:schemeClr>
          </a:solidFill>
        </p:spPr>
        <p:txBody>
          <a:bodyPr tIns="1005840"/>
          <a:lstStyle>
            <a:lvl1pPr marL="0" indent="0" algn="ctr">
              <a:buNone/>
              <a:defRPr/>
            </a:lvl1pPr>
          </a:lstStyle>
          <a:p>
            <a:r>
              <a:rPr lang="en-US"/>
              <a:t>Click icon to add picture</a:t>
            </a:r>
            <a:endParaRPr/>
          </a:p>
        </p:txBody>
      </p:sp>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4" name="Group 13"/>
          <p:cNvGrpSpPr/>
          <p:nvPr/>
        </p:nvGrpSpPr>
        <p:grpSpPr>
          <a:xfrm>
            <a:off x="0" y="1143000"/>
            <a:ext cx="12192000" cy="63125"/>
            <a:chOff x="507492" y="1501519"/>
            <a:chExt cx="8129016" cy="63125"/>
          </a:xfrm>
        </p:grpSpPr>
        <p:cxnSp>
          <p:nvCxnSpPr>
            <p:cNvPr id="15" name="Straight Connector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pic>
        <p:nvPicPr>
          <p:cNvPr id="10" name="Picture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5880" y="0"/>
            <a:ext cx="1747524" cy="2292094"/>
          </a:xfrm>
          <a:prstGeom prst="rect">
            <a:avLst/>
          </a:prstGeom>
        </p:spPr>
      </p:pic>
      <p:grpSp>
        <p:nvGrpSpPr>
          <p:cNvPr id="13" name="Group 12"/>
          <p:cNvGrpSpPr/>
          <p:nvPr/>
        </p:nvGrpSpPr>
        <p:grpSpPr>
          <a:xfrm rot="10800000">
            <a:off x="0" y="5645510"/>
            <a:ext cx="12192000" cy="63125"/>
            <a:chOff x="507492" y="1501519"/>
            <a:chExt cx="8129016" cy="63125"/>
          </a:xfrm>
        </p:grpSpPr>
        <p:cxnSp>
          <p:nvCxnSpPr>
            <p:cNvPr id="17" name="Straight Connector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307685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pSp>
        <p:nvGrpSpPr>
          <p:cNvPr id="11" name="bottom graphic"/>
          <p:cNvGrpSpPr/>
          <p:nvPr/>
        </p:nvGrpSpPr>
        <p:grpSpPr>
          <a:xfrm>
            <a:off x="1" y="5409217"/>
            <a:ext cx="12192000" cy="1462483"/>
            <a:chOff x="0" y="4056912"/>
            <a:chExt cx="9144000" cy="1096862"/>
          </a:xfrm>
        </p:grpSpPr>
        <p:sp>
          <p:nvSpPr>
            <p:cNvPr id="21" name="Freeform 20"/>
            <p:cNvSpPr/>
            <p:nvPr/>
          </p:nvSpPr>
          <p:spPr bwMode="ltGray">
            <a:xfrm rot="5400000">
              <a:off x="4119794" y="119293"/>
              <a:ext cx="904412" cy="9144000"/>
            </a:xfrm>
            <a:custGeom>
              <a:avLst/>
              <a:gdLst/>
              <a:ahLst/>
              <a:cxnLst/>
              <a:rect l="l" t="t" r="r" b="b"/>
              <a:pathLst>
                <a:path w="904412" h="9144000">
                  <a:moveTo>
                    <a:pt x="0" y="0"/>
                  </a:moveTo>
                  <a:lnTo>
                    <a:pt x="904412" y="0"/>
                  </a:lnTo>
                  <a:lnTo>
                    <a:pt x="904412" y="9144000"/>
                  </a:lnTo>
                  <a:lnTo>
                    <a:pt x="391235" y="9144000"/>
                  </a:lnTo>
                  <a:cubicBezTo>
                    <a:pt x="445385" y="6730684"/>
                    <a:pt x="250230" y="1995757"/>
                    <a:pt x="0" y="0"/>
                  </a:cubicBezTo>
                  <a:close/>
                </a:path>
              </a:pathLst>
            </a:custGeom>
            <a:solidFill>
              <a:schemeClr val="tx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8" name="Rectangle 72"/>
            <p:cNvSpPr/>
            <p:nvPr/>
          </p:nvSpPr>
          <p:spPr bwMode="ltGray">
            <a:xfrm rot="5400000">
              <a:off x="4023569" y="33343"/>
              <a:ext cx="1096862" cy="9144000"/>
            </a:xfrm>
            <a:custGeom>
              <a:avLst/>
              <a:gdLst/>
              <a:ahLst/>
              <a:cxnLst/>
              <a:rect l="l" t="t" r="r" b="b"/>
              <a:pathLst>
                <a:path w="1096862" h="9144000">
                  <a:moveTo>
                    <a:pt x="1096861" y="9136375"/>
                  </a:moveTo>
                  <a:lnTo>
                    <a:pt x="1096861" y="0"/>
                  </a:lnTo>
                  <a:lnTo>
                    <a:pt x="1096862" y="0"/>
                  </a:lnTo>
                  <a:lnTo>
                    <a:pt x="1096862" y="9136375"/>
                  </a:lnTo>
                  <a:close/>
                  <a:moveTo>
                    <a:pt x="0" y="0"/>
                  </a:moveTo>
                  <a:lnTo>
                    <a:pt x="142171" y="0"/>
                  </a:lnTo>
                  <a:cubicBezTo>
                    <a:pt x="214017" y="532804"/>
                    <a:pt x="281641" y="1260834"/>
                    <a:pt x="340913" y="2087809"/>
                  </a:cubicBezTo>
                  <a:cubicBezTo>
                    <a:pt x="492781" y="4358443"/>
                    <a:pt x="587048" y="7374964"/>
                    <a:pt x="547354" y="9144000"/>
                  </a:cubicBezTo>
                  <a:lnTo>
                    <a:pt x="452132" y="9144000"/>
                  </a:lnTo>
                  <a:cubicBezTo>
                    <a:pt x="484963" y="4670358"/>
                    <a:pt x="240277" y="2482661"/>
                    <a:pt x="0" y="0"/>
                  </a:cubicBezTo>
                  <a:close/>
                </a:path>
              </a:pathLst>
            </a:custGeom>
            <a:solidFill>
              <a:schemeClr val="tx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sz="1800"/>
            </a:p>
          </p:txBody>
        </p:sp>
      </p:grpSp>
      <p:grpSp>
        <p:nvGrpSpPr>
          <p:cNvPr id="7" name="squares"/>
          <p:cNvGrpSpPr/>
          <p:nvPr/>
        </p:nvGrpSpPr>
        <p:grpSpPr>
          <a:xfrm>
            <a:off x="1" y="800552"/>
            <a:ext cx="1063300" cy="524183"/>
            <a:chOff x="0" y="452558"/>
            <a:chExt cx="914400" cy="524182"/>
          </a:xfrm>
        </p:grpSpPr>
        <p:sp>
          <p:nvSpPr>
            <p:cNvPr id="8" name="Rounded Rectangle 7"/>
            <p:cNvSpPr/>
            <p:nvPr/>
          </p:nvSpPr>
          <p:spPr>
            <a:xfrm>
              <a:off x="591671" y="452558"/>
              <a:ext cx="322729" cy="52418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9" name="Rounded Rectangle 8"/>
            <p:cNvSpPr/>
            <p:nvPr/>
          </p:nvSpPr>
          <p:spPr>
            <a:xfrm>
              <a:off x="215154" y="452558"/>
              <a:ext cx="322729" cy="52418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0" name="Round Same Side Corner Rectangle 9"/>
            <p:cNvSpPr/>
            <p:nvPr/>
          </p:nvSpPr>
          <p:spPr>
            <a:xfrm rot="5400000">
              <a:off x="-181408" y="633966"/>
              <a:ext cx="524182" cy="161366"/>
            </a:xfrm>
            <a:prstGeom prst="round2SameRect">
              <a:avLst>
                <a:gd name="adj1" fmla="val 29167"/>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sp>
        <p:nvSpPr>
          <p:cNvPr id="2" name="Title Placeholder 1"/>
          <p:cNvSpPr>
            <a:spLocks noGrp="1"/>
          </p:cNvSpPr>
          <p:nvPr>
            <p:ph type="title"/>
          </p:nvPr>
        </p:nvSpPr>
        <p:spPr>
          <a:xfrm>
            <a:off x="1219201" y="152400"/>
            <a:ext cx="9753600" cy="1295400"/>
          </a:xfrm>
          <a:prstGeom prst="rect">
            <a:avLst/>
          </a:prstGeom>
        </p:spPr>
        <p:txBody>
          <a:bodyPr vert="horz" lIns="121899" tIns="60949" rIns="121899" bIns="60949" rtlCol="0" anchor="b">
            <a:normAutofit/>
          </a:bodyPr>
          <a:lstStyle/>
          <a:p>
            <a:r>
              <a:rPr lang="en-US"/>
              <a:t>Click to edit Master title style</a:t>
            </a:r>
            <a:endParaRPr/>
          </a:p>
        </p:txBody>
      </p:sp>
      <p:sp>
        <p:nvSpPr>
          <p:cNvPr id="3" name="Text Placeholder 2"/>
          <p:cNvSpPr>
            <a:spLocks noGrp="1"/>
          </p:cNvSpPr>
          <p:nvPr>
            <p:ph type="body" idx="1"/>
          </p:nvPr>
        </p:nvSpPr>
        <p:spPr>
          <a:xfrm>
            <a:off x="1219201" y="1600200"/>
            <a:ext cx="9753600" cy="4572000"/>
          </a:xfrm>
          <a:prstGeom prst="rect">
            <a:avLst/>
          </a:prstGeom>
        </p:spPr>
        <p:txBody>
          <a:bodyPr vert="horz" lIns="121899" tIns="60949" rIns="121899"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1219201" y="6448425"/>
            <a:ext cx="8290560" cy="180976"/>
          </a:xfrm>
          <a:prstGeom prst="rect">
            <a:avLst/>
          </a:prstGeom>
        </p:spPr>
        <p:txBody>
          <a:bodyPr vert="horz" lIns="121899" tIns="60949" rIns="121899" bIns="60949" rtlCol="0" anchor="ctr"/>
          <a:lstStyle>
            <a:lvl1pPr algn="l">
              <a:defRPr sz="1200">
                <a:solidFill>
                  <a:schemeClr val="tx1"/>
                </a:solidFill>
              </a:defRPr>
            </a:lvl1pPr>
          </a:lstStyle>
          <a:p>
            <a:r>
              <a:rPr lang="en-US" dirty="0"/>
              <a:t>Add a footer</a:t>
            </a:r>
          </a:p>
        </p:txBody>
      </p:sp>
      <p:sp>
        <p:nvSpPr>
          <p:cNvPr id="4" name="Date Placeholder 3"/>
          <p:cNvSpPr>
            <a:spLocks noGrp="1"/>
          </p:cNvSpPr>
          <p:nvPr>
            <p:ph type="dt" sz="half" idx="2"/>
          </p:nvPr>
        </p:nvSpPr>
        <p:spPr>
          <a:xfrm>
            <a:off x="9550400" y="6448425"/>
            <a:ext cx="1422400" cy="180976"/>
          </a:xfrm>
          <a:prstGeom prst="rect">
            <a:avLst/>
          </a:prstGeom>
        </p:spPr>
        <p:txBody>
          <a:bodyPr vert="horz" lIns="121899" tIns="60949" rIns="121899" bIns="60949" rtlCol="0" anchor="ctr"/>
          <a:lstStyle>
            <a:lvl1pPr algn="r">
              <a:defRPr sz="1200">
                <a:solidFill>
                  <a:schemeClr val="tx1"/>
                </a:solidFill>
              </a:defRPr>
            </a:lvl1pPr>
          </a:lstStyle>
          <a:p>
            <a:fld id="{D29E8617-6EA8-4B97-A5E8-E18E98765EE2}" type="datetime1">
              <a:rPr lang="en-US"/>
              <a:pPr/>
              <a:t>11/20/2025</a:t>
            </a:fld>
            <a:endParaRPr dirty="0"/>
          </a:p>
        </p:txBody>
      </p:sp>
      <p:sp>
        <p:nvSpPr>
          <p:cNvPr id="6" name="Slide Number Placeholder 5"/>
          <p:cNvSpPr>
            <a:spLocks noGrp="1"/>
          </p:cNvSpPr>
          <p:nvPr>
            <p:ph type="sldNum" sz="quarter" idx="4"/>
          </p:nvPr>
        </p:nvSpPr>
        <p:spPr>
          <a:xfrm>
            <a:off x="11074400" y="6448425"/>
            <a:ext cx="812800" cy="180976"/>
          </a:xfrm>
          <a:prstGeom prst="rect">
            <a:avLst/>
          </a:prstGeom>
        </p:spPr>
        <p:txBody>
          <a:bodyPr vert="horz" lIns="121899" tIns="60949" rIns="121899" bIns="60949" rtlCol="0" anchor="ctr"/>
          <a:lstStyle>
            <a:lvl1pPr algn="r">
              <a:defRPr sz="1200">
                <a:solidFill>
                  <a:schemeClr val="tx1"/>
                </a:solidFill>
              </a:defRPr>
            </a:lvl1pPr>
          </a:lstStyle>
          <a:p>
            <a:fld id="{34C99D79-8A4B-4031-B1E0-AF26F8EDF2BC}" type="slidenum">
              <a:rPr/>
              <a:pPr/>
              <a:t>‹#›</a:t>
            </a:fld>
            <a:endParaRPr/>
          </a:p>
        </p:txBody>
      </p:sp>
    </p:spTree>
    <p:extLst>
      <p:ext uri="{BB962C8B-B14F-4D97-AF65-F5344CB8AC3E}">
        <p14:creationId xmlns:p14="http://schemas.microsoft.com/office/powerpoint/2010/main" val="8692107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1218987" rtl="0" eaLnBrk="1" latinLnBrk="0" hangingPunct="1">
        <a:spcBef>
          <a:spcPct val="0"/>
        </a:spcBef>
        <a:buNone/>
        <a:defRPr sz="3600" kern="1200">
          <a:solidFill>
            <a:schemeClr val="tx1"/>
          </a:solidFill>
          <a:latin typeface="+mj-lt"/>
          <a:ea typeface="+mj-ea"/>
          <a:cs typeface="+mj-cs"/>
        </a:defRPr>
      </a:lvl1pPr>
    </p:titleStyle>
    <p:bodyStyle>
      <a:lvl1pPr marL="304747" indent="-304747" algn="l" defTabSz="1218987" rtl="0" eaLnBrk="1" latinLnBrk="0" hangingPunct="1">
        <a:lnSpc>
          <a:spcPct val="90000"/>
        </a:lnSpc>
        <a:spcBef>
          <a:spcPts val="1800"/>
        </a:spcBef>
        <a:buClr>
          <a:schemeClr val="accent1">
            <a:lumMod val="75000"/>
          </a:schemeClr>
        </a:buClr>
        <a:buFont typeface="Arial" pitchFamily="34" charset="0"/>
        <a:buChar char="•"/>
        <a:defRPr sz="2800" kern="1200">
          <a:solidFill>
            <a:schemeClr val="tx1"/>
          </a:solidFill>
          <a:latin typeface="+mn-lt"/>
          <a:ea typeface="+mn-ea"/>
          <a:cs typeface="+mn-cs"/>
        </a:defRPr>
      </a:lvl1pPr>
      <a:lvl2pPr marL="755772" indent="-304747" algn="l" defTabSz="1218987" rtl="0" eaLnBrk="1" latinLnBrk="0" hangingPunct="1">
        <a:lnSpc>
          <a:spcPct val="90000"/>
        </a:lnSpc>
        <a:spcBef>
          <a:spcPts val="1200"/>
        </a:spcBef>
        <a:buClr>
          <a:schemeClr val="accent1">
            <a:lumMod val="75000"/>
          </a:schemeClr>
        </a:buClr>
        <a:buFont typeface="Arial" pitchFamily="34" charset="0"/>
        <a:buChar char="–"/>
        <a:defRPr sz="2400" kern="1200">
          <a:solidFill>
            <a:schemeClr val="tx1"/>
          </a:solidFill>
          <a:latin typeface="+mn-lt"/>
          <a:ea typeface="+mn-ea"/>
          <a:cs typeface="+mn-cs"/>
        </a:defRPr>
      </a:lvl2pPr>
      <a:lvl3pPr marL="1206797" indent="-304747" algn="l" defTabSz="1218987" rtl="0" eaLnBrk="1" latinLnBrk="0" hangingPunct="1">
        <a:lnSpc>
          <a:spcPct val="90000"/>
        </a:lnSpc>
        <a:spcBef>
          <a:spcPts val="800"/>
        </a:spcBef>
        <a:buClr>
          <a:schemeClr val="accent1">
            <a:lumMod val="75000"/>
          </a:schemeClr>
        </a:buClr>
        <a:buFont typeface="Arial" pitchFamily="34" charset="0"/>
        <a:buChar char="•"/>
        <a:defRPr sz="2000" kern="1200">
          <a:solidFill>
            <a:schemeClr val="tx1"/>
          </a:solidFill>
          <a:latin typeface="+mn-lt"/>
          <a:ea typeface="+mn-ea"/>
          <a:cs typeface="+mn-cs"/>
        </a:defRPr>
      </a:lvl3pPr>
      <a:lvl4pPr marL="1657822" indent="-304747" algn="l" defTabSz="1218987" rtl="0" eaLnBrk="1" latinLnBrk="0" hangingPunct="1">
        <a:lnSpc>
          <a:spcPct val="90000"/>
        </a:lnSpc>
        <a:spcBef>
          <a:spcPts val="800"/>
        </a:spcBef>
        <a:buClr>
          <a:schemeClr val="accent1">
            <a:lumMod val="75000"/>
          </a:schemeClr>
        </a:buClr>
        <a:buFont typeface="Arial" pitchFamily="34" charset="0"/>
        <a:buChar char="•"/>
        <a:defRPr sz="2000" kern="1200">
          <a:solidFill>
            <a:schemeClr val="tx1"/>
          </a:solidFill>
          <a:latin typeface="+mn-lt"/>
          <a:ea typeface="+mn-ea"/>
          <a:cs typeface="+mn-cs"/>
        </a:defRPr>
      </a:lvl4pPr>
      <a:lvl5pPr marL="2108847" indent="-304747" algn="l" defTabSz="1218987" rtl="0" eaLnBrk="1" latinLnBrk="0" hangingPunct="1">
        <a:lnSpc>
          <a:spcPct val="90000"/>
        </a:lnSpc>
        <a:spcBef>
          <a:spcPts val="800"/>
        </a:spcBef>
        <a:buClr>
          <a:schemeClr val="accent1">
            <a:lumMod val="75000"/>
          </a:schemeClr>
        </a:buClr>
        <a:buFont typeface="Arial" pitchFamily="34" charset="0"/>
        <a:buChar char="•"/>
        <a:defRPr sz="2000" kern="1200">
          <a:solidFill>
            <a:schemeClr val="tx1"/>
          </a:solidFill>
          <a:latin typeface="+mn-lt"/>
          <a:ea typeface="+mn-ea"/>
          <a:cs typeface="+mn-cs"/>
        </a:defRPr>
      </a:lvl5pPr>
      <a:lvl6pPr marL="2559872" indent="-304747" algn="l" defTabSz="1218987" rtl="0" eaLnBrk="1" latinLnBrk="0" hangingPunct="1">
        <a:lnSpc>
          <a:spcPct val="90000"/>
        </a:lnSpc>
        <a:spcBef>
          <a:spcPts val="800"/>
        </a:spcBef>
        <a:buClr>
          <a:schemeClr val="accent1"/>
        </a:buClr>
        <a:buFont typeface="Arial" pitchFamily="34" charset="0"/>
        <a:buChar char="•"/>
        <a:defRPr sz="2000" kern="1200" baseline="0">
          <a:solidFill>
            <a:schemeClr val="tx1"/>
          </a:solidFill>
          <a:latin typeface="+mn-lt"/>
          <a:ea typeface="+mn-ea"/>
          <a:cs typeface="+mn-cs"/>
        </a:defRPr>
      </a:lvl6pPr>
      <a:lvl7pPr marL="3010897" indent="-304747" algn="l" defTabSz="1218987" rtl="0" eaLnBrk="1" latinLnBrk="0" hangingPunct="1">
        <a:lnSpc>
          <a:spcPct val="90000"/>
        </a:lnSpc>
        <a:spcBef>
          <a:spcPts val="800"/>
        </a:spcBef>
        <a:buClr>
          <a:schemeClr val="accent1"/>
        </a:buClr>
        <a:buFont typeface="Arial" pitchFamily="34" charset="0"/>
        <a:buChar char="•"/>
        <a:defRPr sz="2000" kern="1200" baseline="0">
          <a:solidFill>
            <a:schemeClr val="tx1"/>
          </a:solidFill>
          <a:latin typeface="+mn-lt"/>
          <a:ea typeface="+mn-ea"/>
          <a:cs typeface="+mn-cs"/>
        </a:defRPr>
      </a:lvl7pPr>
      <a:lvl8pPr marL="3461922" indent="-304747" algn="l" defTabSz="1218987" rtl="0" eaLnBrk="1" latinLnBrk="0" hangingPunct="1">
        <a:lnSpc>
          <a:spcPct val="90000"/>
        </a:lnSpc>
        <a:spcBef>
          <a:spcPts val="800"/>
        </a:spcBef>
        <a:buClr>
          <a:schemeClr val="accent1"/>
        </a:buClr>
        <a:buFont typeface="Arial" pitchFamily="34" charset="0"/>
        <a:buChar char="•"/>
        <a:defRPr sz="2000" kern="1200" baseline="0">
          <a:solidFill>
            <a:schemeClr val="tx1"/>
          </a:solidFill>
          <a:latin typeface="+mn-lt"/>
          <a:ea typeface="+mn-ea"/>
          <a:cs typeface="+mn-cs"/>
        </a:defRPr>
      </a:lvl8pPr>
      <a:lvl9pPr marL="3912947" indent="-304747" algn="l" defTabSz="1218987" rtl="0" eaLnBrk="1" latinLnBrk="0" hangingPunct="1">
        <a:lnSpc>
          <a:spcPct val="90000"/>
        </a:lnSpc>
        <a:spcBef>
          <a:spcPts val="800"/>
        </a:spcBef>
        <a:buClr>
          <a:schemeClr val="accent1"/>
        </a:buClr>
        <a:buFont typeface="Arial" pitchFamily="34" charset="0"/>
        <a:buChar char="•"/>
        <a:defRPr sz="2000" kern="1200" baseline="0">
          <a:solidFill>
            <a:schemeClr val="tx1"/>
          </a:solidFill>
          <a:latin typeface="+mn-lt"/>
          <a:ea typeface="+mn-ea"/>
          <a:cs typeface="+mn-cs"/>
        </a:defRPr>
      </a:lvl9pPr>
    </p:bodyStyle>
    <p:otherStyle>
      <a:defPPr>
        <a:defRPr/>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29E8617-6EA8-4B97-A5E8-E18E98765EE2}" type="datetime1">
              <a:rPr lang="en-US" smtClean="0"/>
              <a:pPr/>
              <a:t>11/20/2025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Add a footer</a:t>
            </a:r>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C99D79-8A4B-4031-B1E0-AF26F8EDF2BC}" type="slidenum">
              <a:rPr lang="en-US" smtClean="0"/>
              <a:pPr/>
              <a:t>‹#›</a:t>
            </a:fld>
            <a:endParaRPr lang="en-US"/>
          </a:p>
        </p:txBody>
      </p:sp>
    </p:spTree>
    <p:extLst>
      <p:ext uri="{BB962C8B-B14F-4D97-AF65-F5344CB8AC3E}">
        <p14:creationId xmlns:p14="http://schemas.microsoft.com/office/powerpoint/2010/main" val="94312263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2.png"/><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4.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4.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8.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4.xml"/></Relationships>
</file>

<file path=ppt/slides/_rels/slide9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8.xml"/><Relationship Id="rId1" Type="http://schemas.openxmlformats.org/officeDocument/2006/relationships/slideLayout" Target="../slideLayouts/slideLayout25.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0.xml"/></Relationships>
</file>

<file path=ppt/slides/_rels/slide10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0.xml"/></Relationships>
</file>

<file path=ppt/slides/_rels/slide10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0.xml"/></Relationships>
</file>

<file path=ppt/slides/_rels/slide10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0.xml"/></Relationships>
</file>

<file path=ppt/slides/_rels/slide10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0.xml"/></Relationships>
</file>

<file path=ppt/slides/_rels/slide10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0.xml"/></Relationships>
</file>

<file path=ppt/slides/_rels/slide10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0.xml"/></Relationships>
</file>

<file path=ppt/slides/_rels/slide1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0.xml"/></Relationships>
</file>

<file path=ppt/slides/_rels/slide1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0.xml"/></Relationships>
</file>

<file path=ppt/slides/_rels/slide1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0.xml"/></Relationships>
</file>

<file path=ppt/slides/_rels/slide1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0.xml"/></Relationships>
</file>

<file path=ppt/slides/_rels/slide11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2.xml"/></Relationships>
</file>

<file path=ppt/slides/_rels/slide11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0.xml"/></Relationships>
</file>

<file path=ppt/slides/_rels/slide1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0.xml"/></Relationships>
</file>

<file path=ppt/slides/_rels/slide1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0.xml"/></Relationships>
</file>

<file path=ppt/slides/_rels/slide1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0.xml"/></Relationships>
</file>

<file path=ppt/slides/_rels/slide1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0.xml"/></Relationships>
</file>

<file path=ppt/slides/_rels/slide1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0.xml"/></Relationships>
</file>

<file path=ppt/slides/_rels/slide1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0.xml"/></Relationships>
</file>

<file path=ppt/slides/_rels/slide12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0.xml"/></Relationships>
</file>

<file path=ppt/slides/_rels/slide12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0.xml"/></Relationships>
</file>

<file path=ppt/slides/_rels/slide12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0.xml"/></Relationships>
</file>

<file path=ppt/slides/_rels/slide12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0.xml"/></Relationships>
</file>

<file path=ppt/slides/_rels/slide12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0.xml"/></Relationships>
</file>

<file path=ppt/slides/_rels/slide12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0.xml"/></Relationships>
</file>

<file path=ppt/slides/_rels/slide12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0.xml"/></Relationships>
</file>

<file path=ppt/slides/_rels/slide12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0.xml"/></Relationships>
</file>

<file path=ppt/slides/_rels/slide13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2.xml"/></Relationships>
</file>

<file path=ppt/slides/_rels/slide13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7.xml"/></Relationships>
</file>

<file path=ppt/slides/_rels/slide13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7.xml"/></Relationships>
</file>

<file path=ppt/slides/_rels/slide13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6.xml"/></Relationships>
</file>

<file path=ppt/slides/_rels/slide13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7.xml"/></Relationships>
</file>

<file path=ppt/slides/_rels/slide13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7.xml"/></Relationships>
</file>

<file path=ppt/slides/_rels/slide13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7.xml"/></Relationships>
</file>

<file path=ppt/slides/_rels/slide13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7.xml"/></Relationships>
</file>

<file path=ppt/slides/_rels/slide13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7.xml"/></Relationships>
</file>

<file path=ppt/slides/_rels/slide13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14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7.xml"/></Relationships>
</file>

<file path=ppt/slides/_rels/slide14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7.xml"/></Relationships>
</file>

<file path=ppt/slides/_rels/slide14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7.xml"/></Relationships>
</file>

<file path=ppt/slides/_rels/slide14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7.xml"/></Relationships>
</file>

<file path=ppt/slides/_rels/slide14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7.xml"/></Relationships>
</file>

<file path=ppt/slides/_rels/slide14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8597CF9-872A-4B9C-8371-DBB55C43C0A4}"/>
              </a:ext>
            </a:extLst>
          </p:cNvPr>
          <p:cNvSpPr/>
          <p:nvPr/>
        </p:nvSpPr>
        <p:spPr>
          <a:xfrm>
            <a:off x="858982" y="1074510"/>
            <a:ext cx="10437092" cy="341632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400" b="1" i="0" u="none" strike="noStrike" kern="0" cap="none" spc="0" normalizeH="0" baseline="0" noProof="0" dirty="0" smtClean="0">
                <a:ln>
                  <a:noFill/>
                </a:ln>
                <a:solidFill>
                  <a:srgbClr val="002060"/>
                </a:solidFill>
                <a:effectLst/>
                <a:uLnTx/>
                <a:uFillTx/>
                <a:latin typeface="Garamond" panose="02020404030301010803" pitchFamily="18" charset="0"/>
                <a:ea typeface="+mn-ea"/>
                <a:cs typeface="+mn-cs"/>
              </a:rPr>
              <a:t>RELB 385</a:t>
            </a:r>
            <a:r>
              <a:rPr kumimoji="0" lang="en-US" sz="5400" b="1" i="0" u="none" strike="noStrike" kern="0" cap="none" spc="0" normalizeH="0" baseline="0" noProof="0" dirty="0">
                <a:ln>
                  <a:noFill/>
                </a:ln>
                <a:solidFill>
                  <a:srgbClr val="002060"/>
                </a:solidFill>
                <a:effectLst/>
                <a:uLnTx/>
                <a:uFillTx/>
                <a:latin typeface="Garamond" panose="02020404030301010803" pitchFamily="18" charset="0"/>
                <a:ea typeface="+mn-ea"/>
                <a:cs typeface="+mn-cs"/>
              </a:rPr>
              <a:t/>
            </a:r>
            <a:br>
              <a:rPr kumimoji="0" lang="en-US" sz="5400" b="1" i="0" u="none" strike="noStrike" kern="0" cap="none" spc="0" normalizeH="0" baseline="0" noProof="0" dirty="0">
                <a:ln>
                  <a:noFill/>
                </a:ln>
                <a:solidFill>
                  <a:srgbClr val="002060"/>
                </a:solidFill>
                <a:effectLst/>
                <a:uLnTx/>
                <a:uFillTx/>
                <a:latin typeface="Garamond" panose="02020404030301010803" pitchFamily="18" charset="0"/>
                <a:ea typeface="+mn-ea"/>
                <a:cs typeface="+mn-cs"/>
              </a:rPr>
            </a:br>
            <a:r>
              <a:rPr kumimoji="0" lang="en-US" sz="5400" b="1" i="0" u="none" strike="noStrike" kern="0" cap="none" spc="0" normalizeH="0" baseline="0" noProof="0" dirty="0">
                <a:ln>
                  <a:noFill/>
                </a:ln>
                <a:solidFill>
                  <a:srgbClr val="002060"/>
                </a:solidFill>
                <a:effectLst/>
                <a:uLnTx/>
                <a:uFillTx/>
                <a:latin typeface="Garamond" panose="02020404030301010803" pitchFamily="18" charset="0"/>
                <a:ea typeface="+mn-ea"/>
                <a:cs typeface="+mn-cs"/>
              </a:rPr>
              <a:t>INTRODUCTION TO </a:t>
            </a:r>
            <a:r>
              <a:rPr kumimoji="0" lang="en-US" sz="5400" b="1" i="0" u="none" strike="noStrike" kern="0" cap="none" spc="0" normalizeH="0" baseline="0" noProof="0" dirty="0" smtClean="0">
                <a:ln>
                  <a:noFill/>
                </a:ln>
                <a:solidFill>
                  <a:srgbClr val="002060"/>
                </a:solidFill>
                <a:effectLst/>
                <a:uLnTx/>
                <a:uFillTx/>
                <a:latin typeface="Garamond" panose="02020404030301010803" pitchFamily="18" charset="0"/>
                <a:ea typeface="+mn-ea"/>
                <a:cs typeface="+mn-cs"/>
              </a:rPr>
              <a:t>BIBLICAL FOUNDATIONS OF </a:t>
            </a:r>
            <a:r>
              <a:rPr kumimoji="0" lang="en-US" sz="5400" b="1" i="0" u="none" strike="noStrike" kern="0" cap="none" spc="0" normalizeH="0" baseline="0" noProof="0" dirty="0">
                <a:ln>
                  <a:noFill/>
                </a:ln>
                <a:solidFill>
                  <a:srgbClr val="002060"/>
                </a:solidFill>
                <a:effectLst/>
                <a:uLnTx/>
                <a:uFillTx/>
                <a:latin typeface="Garamond" panose="02020404030301010803" pitchFamily="18" charset="0"/>
                <a:ea typeface="+mn-ea"/>
                <a:cs typeface="+mn-cs"/>
              </a:rPr>
              <a:t>ETHICS</a:t>
            </a:r>
            <a:endParaRPr kumimoji="0" lang="en-GB" sz="1600" b="0" i="0" u="none" strike="noStrike" kern="0" cap="none" spc="0" normalizeH="0" baseline="0" noProof="0" dirty="0">
              <a:ln>
                <a:noFill/>
              </a:ln>
              <a:solidFill>
                <a:srgbClr val="002060"/>
              </a:solidFill>
              <a:effectLst/>
              <a:uLnTx/>
              <a:uFillTx/>
              <a:latin typeface="Constantia"/>
              <a:ea typeface="+mn-ea"/>
              <a:cs typeface="+mn-cs"/>
            </a:endParaRPr>
          </a:p>
        </p:txBody>
      </p:sp>
      <p:sp>
        <p:nvSpPr>
          <p:cNvPr id="13" name="Rectangle 12">
            <a:extLst>
              <a:ext uri="{FF2B5EF4-FFF2-40B4-BE49-F238E27FC236}">
                <a16:creationId xmlns:a16="http://schemas.microsoft.com/office/drawing/2014/main" id="{E882A3B2-6588-438A-8E92-CB945BB3F060}"/>
              </a:ext>
            </a:extLst>
          </p:cNvPr>
          <p:cNvSpPr/>
          <p:nvPr/>
        </p:nvSpPr>
        <p:spPr>
          <a:xfrm>
            <a:off x="2570264" y="4882386"/>
            <a:ext cx="6705599" cy="1222707"/>
          </a:xfrm>
          <a:prstGeom prst="rect">
            <a:avLst/>
          </a:prstGeom>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3600" b="1" i="0" u="none" strike="noStrike" kern="1200" cap="none" spc="0" normalizeH="0" baseline="0" noProof="0" dirty="0">
                <a:ln>
                  <a:noFill/>
                </a:ln>
                <a:solidFill>
                  <a:srgbClr val="000000"/>
                </a:solidFill>
                <a:effectLst/>
                <a:uLnTx/>
                <a:uFillTx/>
                <a:latin typeface="Garamond" panose="02020404030301010803" pitchFamily="18" charset="0"/>
                <a:ea typeface="+mn-ea"/>
                <a:cs typeface="+mn-cs"/>
              </a:rPr>
              <a:t>BY</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3600" b="1" i="0" u="none" strike="noStrike" kern="1200" cap="none" spc="0" normalizeH="0" baseline="0" noProof="0" dirty="0">
                <a:ln>
                  <a:noFill/>
                </a:ln>
                <a:solidFill>
                  <a:srgbClr val="000000"/>
                </a:solidFill>
                <a:effectLst/>
                <a:uLnTx/>
                <a:uFillTx/>
                <a:latin typeface="Garamond" panose="02020404030301010803" pitchFamily="18" charset="0"/>
                <a:ea typeface="+mn-ea"/>
                <a:cs typeface="+mn-cs"/>
              </a:rPr>
              <a:t>PASTOR SOLOMON APPIAH</a:t>
            </a:r>
          </a:p>
        </p:txBody>
      </p:sp>
    </p:spTree>
    <p:extLst>
      <p:ext uri="{BB962C8B-B14F-4D97-AF65-F5344CB8AC3E}">
        <p14:creationId xmlns:p14="http://schemas.microsoft.com/office/powerpoint/2010/main" val="1444703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noFill/>
        </p:spPr>
        <p:txBody>
          <a:bodyPr/>
          <a:lstStyle/>
          <a:p>
            <a:r>
              <a:rPr lang="en-US" b="1" dirty="0" smtClean="0">
                <a:solidFill>
                  <a:srgbClr val="002060"/>
                </a:solidFill>
                <a:latin typeface="Garamond" panose="02020404030301010803" pitchFamily="18" charset="0"/>
              </a:rPr>
              <a:t>Let’s take a quick test!</a:t>
            </a:r>
            <a:endParaRPr lang="en-US" b="1" dirty="0">
              <a:solidFill>
                <a:srgbClr val="002060"/>
              </a:solidFill>
              <a:latin typeface="Garamond" panose="020204040303010108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043709" y="1825625"/>
            <a:ext cx="9522692" cy="4351338"/>
          </a:xfrm>
        </p:spPr>
        <p:txBody>
          <a:bodyPr>
            <a:normAutofit/>
          </a:bodyPr>
          <a:lstStyle/>
          <a:p>
            <a:r>
              <a:rPr lang="en-US" sz="6000" dirty="0">
                <a:solidFill>
                  <a:srgbClr val="002060"/>
                </a:solidFill>
                <a:latin typeface="Garamond" panose="02020404030301010803" pitchFamily="18" charset="0"/>
              </a:rPr>
              <a:t> </a:t>
            </a:r>
            <a:r>
              <a:rPr lang="en-US" sz="6000" dirty="0" smtClean="0">
                <a:solidFill>
                  <a:srgbClr val="002060"/>
                </a:solidFill>
                <a:latin typeface="Garamond" panose="02020404030301010803" pitchFamily="18" charset="0"/>
              </a:rPr>
              <a:t>Is a morally blameless/perfect life possible in contemporary society? What arguments can you give for your answer? </a:t>
            </a:r>
            <a:endParaRPr lang="en-GB" sz="6000" b="1" dirty="0">
              <a:solidFill>
                <a:srgbClr val="002060"/>
              </a:solidFill>
              <a:latin typeface="Garamond" panose="02020404030301010803" pitchFamily="18" charset="0"/>
            </a:endParaRPr>
          </a:p>
        </p:txBody>
      </p:sp>
    </p:spTree>
    <p:extLst>
      <p:ext uri="{BB962C8B-B14F-4D97-AF65-F5344CB8AC3E}">
        <p14:creationId xmlns:p14="http://schemas.microsoft.com/office/powerpoint/2010/main" val="349467726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noFill/>
        </p:spPr>
        <p:txBody>
          <a:bodyPr/>
          <a:lstStyle/>
          <a:p>
            <a:r>
              <a:rPr lang="en-US" b="1" dirty="0">
                <a:solidFill>
                  <a:srgbClr val="002060"/>
                </a:solidFill>
                <a:latin typeface="Garamond" panose="02020404030301010803" pitchFamily="18" charset="0"/>
              </a:rPr>
              <a:t>Overview of the Course </a:t>
            </a: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p:txBody>
          <a:bodyPr/>
          <a:lstStyle/>
          <a:p>
            <a:r>
              <a:rPr lang="en-US" sz="2800" dirty="0">
                <a:solidFill>
                  <a:srgbClr val="002060"/>
                </a:solidFill>
                <a:latin typeface="Garamond" panose="02020404030301010803" pitchFamily="18" charset="0"/>
              </a:rPr>
              <a:t>Have you been caught up in a situation when knowing just what to do is not easy? </a:t>
            </a:r>
          </a:p>
          <a:p>
            <a:r>
              <a:rPr lang="en-US" sz="2800" dirty="0">
                <a:solidFill>
                  <a:srgbClr val="002060"/>
                </a:solidFill>
                <a:latin typeface="Garamond" panose="02020404030301010803" pitchFamily="18" charset="0"/>
              </a:rPr>
              <a:t>Since you have been making decisions from birth until now, can you identify one ethical basis for doing what you do? How will your ethical theory fare on the scale of the Bible? </a:t>
            </a:r>
          </a:p>
          <a:p>
            <a:r>
              <a:rPr lang="en-US" sz="2800" dirty="0">
                <a:solidFill>
                  <a:srgbClr val="002060"/>
                </a:solidFill>
                <a:latin typeface="Garamond" panose="02020404030301010803" pitchFamily="18" charset="0"/>
              </a:rPr>
              <a:t>Without an adequate discovery of biblical foundations of ethics, chances are that you may not be able relate your ethical decision-making to the Bible. </a:t>
            </a:r>
          </a:p>
          <a:p>
            <a:r>
              <a:rPr lang="en-US" sz="2800" dirty="0">
                <a:solidFill>
                  <a:srgbClr val="002060"/>
                </a:solidFill>
                <a:latin typeface="Garamond" panose="02020404030301010803" pitchFamily="18" charset="0"/>
              </a:rPr>
              <a:t>It is for this reason that I especially welcome you to </a:t>
            </a:r>
            <a:r>
              <a:rPr lang="en-US" sz="2800" b="1" dirty="0" smtClean="0">
                <a:solidFill>
                  <a:srgbClr val="002060"/>
                </a:solidFill>
                <a:latin typeface="Garamond" panose="02020404030301010803" pitchFamily="18" charset="0"/>
              </a:rPr>
              <a:t>RELB 385: Introduction to Biblical Foundations of Ethics. </a:t>
            </a:r>
            <a:endParaRPr lang="en-GB" sz="2800" b="1" dirty="0">
              <a:solidFill>
                <a:srgbClr val="002060"/>
              </a:solidFill>
              <a:latin typeface="Garamond" panose="02020404030301010803" pitchFamily="18" charset="0"/>
            </a:endParaRPr>
          </a:p>
        </p:txBody>
      </p:sp>
    </p:spTree>
    <p:extLst>
      <p:ext uri="{BB962C8B-B14F-4D97-AF65-F5344CB8AC3E}">
        <p14:creationId xmlns:p14="http://schemas.microsoft.com/office/powerpoint/2010/main" val="100487015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889FE-7B85-40C7-8441-909223A9B382}"/>
              </a:ext>
            </a:extLst>
          </p:cNvPr>
          <p:cNvSpPr>
            <a:spLocks noGrp="1"/>
          </p:cNvSpPr>
          <p:nvPr>
            <p:ph type="ctrTitle"/>
          </p:nvPr>
        </p:nvSpPr>
        <p:spPr/>
        <p:txBody>
          <a:bodyPr>
            <a:normAutofit fontScale="90000"/>
          </a:bodyPr>
          <a:lstStyle/>
          <a:p>
            <a:r>
              <a:rPr lang="en-US" b="1" dirty="0">
                <a:solidFill>
                  <a:srgbClr val="002060"/>
                </a:solidFill>
                <a:latin typeface="Garamond" panose="02020404030301010803" pitchFamily="18" charset="0"/>
              </a:rPr>
              <a:t/>
            </a:r>
            <a:br>
              <a:rPr lang="en-US" b="1" dirty="0">
                <a:solidFill>
                  <a:srgbClr val="002060"/>
                </a:solidFill>
                <a:latin typeface="Garamond" panose="02020404030301010803" pitchFamily="18" charset="0"/>
              </a:rPr>
            </a:br>
            <a:r>
              <a:rPr lang="en-US" b="1" dirty="0">
                <a:solidFill>
                  <a:srgbClr val="002060"/>
                </a:solidFill>
                <a:latin typeface="Garamond" panose="02020404030301010803" pitchFamily="18" charset="0"/>
              </a:rPr>
              <a:t>Overview of Christian Ethics </a:t>
            </a:r>
          </a:p>
        </p:txBody>
      </p:sp>
    </p:spTree>
    <p:extLst>
      <p:ext uri="{BB962C8B-B14F-4D97-AF65-F5344CB8AC3E}">
        <p14:creationId xmlns:p14="http://schemas.microsoft.com/office/powerpoint/2010/main" val="175766179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p:txBody>
          <a:bodyPr>
            <a:normAutofit/>
          </a:bodyPr>
          <a:lstStyle/>
          <a:p>
            <a:r>
              <a:rPr lang="en-US" sz="4000" b="1" dirty="0">
                <a:solidFill>
                  <a:srgbClr val="002060"/>
                </a:solidFill>
                <a:latin typeface="Garamond" panose="02020404030301010803" pitchFamily="18" charset="0"/>
              </a:rPr>
              <a:t>Definition &amp; Concepts of Ethics</a:t>
            </a:r>
            <a:endParaRPr lang="en-US" sz="4000" dirty="0">
              <a:solidFill>
                <a:srgbClr val="002060"/>
              </a:solidFill>
              <a:latin typeface="Garamond" panose="020204040303010108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789471"/>
            <a:ext cx="9601200" cy="4382729"/>
          </a:xfrm>
        </p:spPr>
        <p:txBody>
          <a:bodyPr>
            <a:normAutofit lnSpcReduction="10000"/>
          </a:bodyPr>
          <a:lstStyle/>
          <a:p>
            <a:pPr marL="0" indent="0">
              <a:buNone/>
            </a:pPr>
            <a:r>
              <a:rPr lang="en-US" sz="3200" i="1" dirty="0">
                <a:solidFill>
                  <a:srgbClr val="002060"/>
                </a:solidFill>
                <a:latin typeface="Garamond" panose="02020404030301010803" pitchFamily="18" charset="0"/>
              </a:rPr>
              <a:t>This section introduces the learner to the general definition and overview of the concept of ethics and specifically Christian ethics</a:t>
            </a:r>
          </a:p>
          <a:p>
            <a:pPr marL="0" indent="0">
              <a:buNone/>
            </a:pPr>
            <a:endParaRPr lang="en-US" sz="3200" b="1" i="1" dirty="0">
              <a:solidFill>
                <a:srgbClr val="002060"/>
              </a:solidFill>
              <a:latin typeface="Garamond" panose="02020404030301010803" pitchFamily="18" charset="0"/>
            </a:endParaRPr>
          </a:p>
          <a:p>
            <a:pPr marL="0" indent="0">
              <a:buNone/>
            </a:pPr>
            <a:r>
              <a:rPr lang="en-US" sz="3200" b="1" i="1" dirty="0">
                <a:solidFill>
                  <a:srgbClr val="002060"/>
                </a:solidFill>
                <a:latin typeface="Garamond" panose="02020404030301010803" pitchFamily="18" charset="0"/>
              </a:rPr>
              <a:t>Objectives</a:t>
            </a:r>
            <a:endParaRPr lang="en-GB" sz="3200" b="1" i="1" dirty="0">
              <a:solidFill>
                <a:srgbClr val="002060"/>
              </a:solidFill>
              <a:latin typeface="Garamond" panose="02020404030301010803" pitchFamily="18" charset="0"/>
            </a:endParaRPr>
          </a:p>
          <a:p>
            <a:pPr marL="0" indent="0">
              <a:buNone/>
            </a:pPr>
            <a:r>
              <a:rPr lang="en-US" sz="3200" dirty="0">
                <a:solidFill>
                  <a:srgbClr val="002060"/>
                </a:solidFill>
                <a:latin typeface="Garamond" panose="02020404030301010803" pitchFamily="18" charset="0"/>
              </a:rPr>
              <a:t>By the end of this section, you should be able to:</a:t>
            </a:r>
            <a:endParaRPr lang="en-GB" sz="3200" dirty="0">
              <a:solidFill>
                <a:srgbClr val="002060"/>
              </a:solidFill>
              <a:latin typeface="Garamond" panose="02020404030301010803" pitchFamily="18" charset="0"/>
            </a:endParaRPr>
          </a:p>
          <a:p>
            <a:pPr lvl="1"/>
            <a:r>
              <a:rPr lang="en-US" sz="2800" dirty="0">
                <a:solidFill>
                  <a:srgbClr val="002060"/>
                </a:solidFill>
                <a:latin typeface="Garamond" panose="02020404030301010803" pitchFamily="18" charset="0"/>
              </a:rPr>
              <a:t>define Christian Ethics.</a:t>
            </a:r>
            <a:endParaRPr lang="en-GB" sz="2800" dirty="0">
              <a:solidFill>
                <a:srgbClr val="002060"/>
              </a:solidFill>
              <a:latin typeface="Garamond" panose="02020404030301010803" pitchFamily="18" charset="0"/>
            </a:endParaRPr>
          </a:p>
          <a:p>
            <a:pPr lvl="1"/>
            <a:r>
              <a:rPr lang="en-US" sz="2800" dirty="0">
                <a:solidFill>
                  <a:srgbClr val="002060"/>
                </a:solidFill>
                <a:latin typeface="Garamond" panose="02020404030301010803" pitchFamily="18" charset="0"/>
              </a:rPr>
              <a:t>explain the types of Ethics.</a:t>
            </a:r>
            <a:endParaRPr lang="en-GB" sz="2800" dirty="0">
              <a:solidFill>
                <a:srgbClr val="002060"/>
              </a:solidFill>
              <a:latin typeface="Garamond" panose="02020404030301010803" pitchFamily="18" charset="0"/>
            </a:endParaRPr>
          </a:p>
          <a:p>
            <a:pPr lvl="1"/>
            <a:r>
              <a:rPr lang="en-US" sz="2800" dirty="0">
                <a:solidFill>
                  <a:srgbClr val="002060"/>
                </a:solidFill>
                <a:latin typeface="Garamond" panose="02020404030301010803" pitchFamily="18" charset="0"/>
              </a:rPr>
              <a:t>differentiate Christian Ethics from philosophical Ethics.</a:t>
            </a:r>
            <a:endParaRPr lang="en-GB" sz="2800" dirty="0">
              <a:solidFill>
                <a:srgbClr val="002060"/>
              </a:solidFill>
              <a:latin typeface="Garamond" panose="02020404030301010803" pitchFamily="18" charset="0"/>
            </a:endParaRPr>
          </a:p>
          <a:p>
            <a:pPr lvl="1"/>
            <a:r>
              <a:rPr lang="en-US" sz="2800" dirty="0">
                <a:solidFill>
                  <a:srgbClr val="002060"/>
                </a:solidFill>
                <a:latin typeface="Garamond" panose="02020404030301010803" pitchFamily="18" charset="0"/>
              </a:rPr>
              <a:t>compare related concepts in the study of Christian Ethics.</a:t>
            </a:r>
            <a:endParaRPr lang="en-GB" sz="2800" dirty="0">
              <a:solidFill>
                <a:srgbClr val="002060"/>
              </a:solidFill>
              <a:latin typeface="Garamond" panose="02020404030301010803" pitchFamily="18" charset="0"/>
            </a:endParaRPr>
          </a:p>
          <a:p>
            <a:pPr marL="0" indent="0">
              <a:buNone/>
            </a:pPr>
            <a:endParaRPr lang="en-GB" sz="3200" dirty="0">
              <a:solidFill>
                <a:srgbClr val="002060"/>
              </a:solidFill>
              <a:latin typeface="Garamond" panose="02020404030301010803" pitchFamily="18" charset="0"/>
            </a:endParaRPr>
          </a:p>
        </p:txBody>
      </p:sp>
    </p:spTree>
    <p:extLst>
      <p:ext uri="{BB962C8B-B14F-4D97-AF65-F5344CB8AC3E}">
        <p14:creationId xmlns:p14="http://schemas.microsoft.com/office/powerpoint/2010/main" val="137718210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p:txBody>
          <a:bodyPr>
            <a:normAutofit/>
          </a:bodyPr>
          <a:lstStyle/>
          <a:p>
            <a:r>
              <a:rPr lang="en-US" sz="4800" b="1" dirty="0">
                <a:solidFill>
                  <a:srgbClr val="002060"/>
                </a:solidFill>
                <a:latin typeface="Garamond" panose="02020404030301010803" pitchFamily="18" charset="0"/>
              </a:rPr>
              <a:t>Definition of Ethics</a:t>
            </a: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p:txBody>
          <a:bodyPr>
            <a:normAutofit fontScale="92500"/>
          </a:bodyPr>
          <a:lstStyle/>
          <a:p>
            <a:r>
              <a:rPr lang="en-US" sz="3200" dirty="0">
                <a:solidFill>
                  <a:srgbClr val="002060"/>
                </a:solidFill>
                <a:latin typeface="Garamond" panose="02020404030301010803" pitchFamily="18" charset="0"/>
              </a:rPr>
              <a:t>The term ethics is derived from the Greek word </a:t>
            </a:r>
            <a:r>
              <a:rPr lang="en-US" sz="3200" i="1" dirty="0" err="1">
                <a:solidFill>
                  <a:srgbClr val="002060"/>
                </a:solidFill>
                <a:latin typeface="Garamond" panose="02020404030301010803" pitchFamily="18" charset="0"/>
              </a:rPr>
              <a:t>ethikos</a:t>
            </a:r>
            <a:r>
              <a:rPr lang="en-US" sz="3200" dirty="0">
                <a:solidFill>
                  <a:srgbClr val="002060"/>
                </a:solidFill>
                <a:latin typeface="Garamond" panose="02020404030301010803" pitchFamily="18" charset="0"/>
              </a:rPr>
              <a:t> which itself is derived from the Greek word </a:t>
            </a:r>
            <a:r>
              <a:rPr lang="en-US" sz="3200" i="1" dirty="0">
                <a:solidFill>
                  <a:srgbClr val="002060"/>
                </a:solidFill>
                <a:latin typeface="Garamond" panose="02020404030301010803" pitchFamily="18" charset="0"/>
              </a:rPr>
              <a:t>ethos</a:t>
            </a:r>
            <a:r>
              <a:rPr lang="en-US" sz="3200" dirty="0">
                <a:solidFill>
                  <a:srgbClr val="002060"/>
                </a:solidFill>
                <a:latin typeface="Garamond" panose="02020404030301010803" pitchFamily="18" charset="0"/>
              </a:rPr>
              <a:t>, meaning custom or character. </a:t>
            </a:r>
          </a:p>
          <a:p>
            <a:pPr marL="0" indent="0">
              <a:buNone/>
            </a:pPr>
            <a:endParaRPr lang="en-US" sz="3200" dirty="0">
              <a:solidFill>
                <a:srgbClr val="002060"/>
              </a:solidFill>
              <a:latin typeface="Garamond" panose="02020404030301010803" pitchFamily="18" charset="0"/>
            </a:endParaRPr>
          </a:p>
          <a:p>
            <a:r>
              <a:rPr lang="en-US" sz="3200" dirty="0">
                <a:solidFill>
                  <a:srgbClr val="002060"/>
                </a:solidFill>
                <a:latin typeface="Garamond" panose="02020404030301010803" pitchFamily="18" charset="0"/>
              </a:rPr>
              <a:t>It is the branch of philosophy dealing with what is the proper course of action for man. It answers the question, "What do I do?" </a:t>
            </a:r>
          </a:p>
          <a:p>
            <a:r>
              <a:rPr lang="en-US" sz="3200" dirty="0">
                <a:solidFill>
                  <a:srgbClr val="002060"/>
                </a:solidFill>
                <a:latin typeface="Garamond" panose="02020404030301010803" pitchFamily="18" charset="0"/>
              </a:rPr>
              <a:t>It is the study of right and wrong in human endeavors. Ethics is a philosophical discipline that studies the distinction between good and wrong, and also evaluates the moral consequences of human actions.</a:t>
            </a:r>
            <a:endParaRPr lang="en-GB" sz="3200" dirty="0">
              <a:solidFill>
                <a:srgbClr val="002060"/>
              </a:solidFill>
              <a:latin typeface="Garamond" panose="02020404030301010803" pitchFamily="18" charset="0"/>
            </a:endParaRPr>
          </a:p>
          <a:p>
            <a:endParaRPr lang="en-GB" sz="3600" dirty="0">
              <a:solidFill>
                <a:srgbClr val="002060"/>
              </a:solidFill>
              <a:latin typeface="Garamond" panose="02020404030301010803" pitchFamily="18" charset="0"/>
            </a:endParaRPr>
          </a:p>
        </p:txBody>
      </p:sp>
    </p:spTree>
    <p:extLst>
      <p:ext uri="{BB962C8B-B14F-4D97-AF65-F5344CB8AC3E}">
        <p14:creationId xmlns:p14="http://schemas.microsoft.com/office/powerpoint/2010/main" val="45756233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p:txBody>
          <a:bodyPr/>
          <a:lstStyle/>
          <a:p>
            <a:r>
              <a:rPr lang="en-US" b="1" dirty="0">
                <a:solidFill>
                  <a:srgbClr val="002060"/>
                </a:solidFill>
                <a:latin typeface="Garamond" panose="02020404030301010803" pitchFamily="18" charset="0"/>
              </a:rPr>
              <a:t>What is Ethics?</a:t>
            </a: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p:txBody>
          <a:bodyPr>
            <a:normAutofit lnSpcReduction="10000"/>
          </a:bodyPr>
          <a:lstStyle/>
          <a:p>
            <a:r>
              <a:rPr lang="en-US" sz="3200" dirty="0">
                <a:solidFill>
                  <a:srgbClr val="002060"/>
                </a:solidFill>
                <a:latin typeface="Garamond" panose="02020404030301010803" pitchFamily="18" charset="0"/>
              </a:rPr>
              <a:t>Ethics is a branch of philosophy that is concerned with what is morally good and bad or right and wrong. When we begin to use such terms as right, wrong, good, bad, virtuous,  sinful, ought, duty and obligation among others, we are directly within the confines of  ethics. All these form the moral sense and the sentences in which they are made used to express moral or ethical judgments. </a:t>
            </a:r>
          </a:p>
          <a:p>
            <a:endParaRPr lang="en-US" sz="3200" dirty="0">
              <a:solidFill>
                <a:srgbClr val="002060"/>
              </a:solidFill>
              <a:latin typeface="Garamond" panose="02020404030301010803" pitchFamily="18" charset="0"/>
            </a:endParaRPr>
          </a:p>
          <a:p>
            <a:r>
              <a:rPr lang="en-US" sz="3200" dirty="0">
                <a:solidFill>
                  <a:srgbClr val="002060"/>
                </a:solidFill>
                <a:latin typeface="Garamond" panose="02020404030301010803" pitchFamily="18" charset="0"/>
              </a:rPr>
              <a:t>Look up the definitions of some ethicist like Robert Solomon, William Barclay, Norman Geisler, etc.</a:t>
            </a:r>
            <a:endParaRPr lang="en-GB" sz="3200" dirty="0">
              <a:solidFill>
                <a:srgbClr val="002060"/>
              </a:solidFill>
              <a:latin typeface="Garamond" panose="02020404030301010803" pitchFamily="18" charset="0"/>
            </a:endParaRPr>
          </a:p>
        </p:txBody>
      </p:sp>
    </p:spTree>
    <p:extLst>
      <p:ext uri="{BB962C8B-B14F-4D97-AF65-F5344CB8AC3E}">
        <p14:creationId xmlns:p14="http://schemas.microsoft.com/office/powerpoint/2010/main" val="104009499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423359" y="1432913"/>
            <a:ext cx="9601200" cy="4382729"/>
          </a:xfrm>
        </p:spPr>
        <p:txBody>
          <a:bodyPr>
            <a:normAutofit/>
          </a:bodyPr>
          <a:lstStyle/>
          <a:p>
            <a:r>
              <a:rPr lang="en-US" sz="3600" dirty="0">
                <a:solidFill>
                  <a:srgbClr val="002060"/>
                </a:solidFill>
                <a:latin typeface="Garamond" panose="02020404030301010803" pitchFamily="18" charset="0"/>
              </a:rPr>
              <a:t>Aristotle was the first to use this concept in the title of his writing '</a:t>
            </a:r>
            <a:r>
              <a:rPr lang="en-US" sz="3600" dirty="0" err="1">
                <a:solidFill>
                  <a:srgbClr val="002060"/>
                </a:solidFill>
                <a:latin typeface="Garamond" panose="02020404030301010803" pitchFamily="18" charset="0"/>
              </a:rPr>
              <a:t>Nicomahica</a:t>
            </a:r>
            <a:r>
              <a:rPr lang="en-US" sz="3600" dirty="0">
                <a:solidFill>
                  <a:srgbClr val="002060"/>
                </a:solidFill>
                <a:latin typeface="Garamond" panose="02020404030301010803" pitchFamily="18" charset="0"/>
              </a:rPr>
              <a:t> ethics'. But, reflections on morality existed from the beginning of the human life. </a:t>
            </a:r>
          </a:p>
          <a:p>
            <a:r>
              <a:rPr lang="en-US" sz="3600" dirty="0">
                <a:solidFill>
                  <a:srgbClr val="002060"/>
                </a:solidFill>
                <a:latin typeface="Garamond" panose="02020404030301010803" pitchFamily="18" charset="0"/>
              </a:rPr>
              <a:t>For example, Jewish people got the God given Ten Commandments, and the entire Bible is a calling to a righteous way of living. Antic Babylon had the Hammurabi's code of laws, India had Manu's laws. </a:t>
            </a:r>
            <a:endParaRPr lang="en-GB" sz="3600" dirty="0">
              <a:solidFill>
                <a:srgbClr val="002060"/>
              </a:solidFill>
              <a:latin typeface="Garamond" panose="02020404030301010803" pitchFamily="18" charset="0"/>
            </a:endParaRPr>
          </a:p>
          <a:p>
            <a:endParaRPr lang="en-GB" sz="3600" dirty="0">
              <a:solidFill>
                <a:srgbClr val="002060"/>
              </a:solidFill>
              <a:latin typeface="Garamond" panose="02020404030301010803" pitchFamily="18" charset="0"/>
            </a:endParaRPr>
          </a:p>
        </p:txBody>
      </p:sp>
    </p:spTree>
    <p:extLst>
      <p:ext uri="{BB962C8B-B14F-4D97-AF65-F5344CB8AC3E}">
        <p14:creationId xmlns:p14="http://schemas.microsoft.com/office/powerpoint/2010/main" val="144549613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423359" y="1432913"/>
            <a:ext cx="9601200" cy="4382729"/>
          </a:xfrm>
        </p:spPr>
        <p:txBody>
          <a:bodyPr>
            <a:normAutofit/>
          </a:bodyPr>
          <a:lstStyle/>
          <a:p>
            <a:pPr marL="0" indent="0">
              <a:buNone/>
            </a:pPr>
            <a:r>
              <a:rPr lang="en-US" sz="3600" dirty="0" smtClean="0">
                <a:solidFill>
                  <a:srgbClr val="002060"/>
                </a:solidFill>
                <a:latin typeface="Garamond" panose="02020404030301010803" pitchFamily="18" charset="0"/>
              </a:rPr>
              <a:t>William Barclay:</a:t>
            </a:r>
          </a:p>
          <a:p>
            <a:pPr marL="0" indent="0">
              <a:buNone/>
            </a:pPr>
            <a:r>
              <a:rPr lang="en-US" sz="3600" dirty="0" smtClean="0">
                <a:solidFill>
                  <a:srgbClr val="002060"/>
                </a:solidFill>
                <a:latin typeface="Garamond" panose="02020404030301010803" pitchFamily="18" charset="0"/>
              </a:rPr>
              <a:t>Robert Solomon:</a:t>
            </a:r>
          </a:p>
          <a:p>
            <a:pPr marL="0" indent="0">
              <a:buNone/>
            </a:pPr>
            <a:r>
              <a:rPr lang="en-US" sz="3600" dirty="0" smtClean="0">
                <a:solidFill>
                  <a:srgbClr val="002060"/>
                </a:solidFill>
                <a:latin typeface="Garamond" panose="02020404030301010803" pitchFamily="18" charset="0"/>
              </a:rPr>
              <a:t>Norman L. Geisler:</a:t>
            </a:r>
          </a:p>
          <a:p>
            <a:pPr marL="0" indent="0">
              <a:buNone/>
            </a:pPr>
            <a:r>
              <a:rPr lang="en-US" sz="3600" dirty="0" smtClean="0">
                <a:solidFill>
                  <a:srgbClr val="002060"/>
                </a:solidFill>
                <a:latin typeface="Garamond" panose="02020404030301010803" pitchFamily="18" charset="0"/>
              </a:rPr>
              <a:t>A </a:t>
            </a:r>
            <a:r>
              <a:rPr lang="en-US" sz="3600" dirty="0">
                <a:solidFill>
                  <a:srgbClr val="002060"/>
                </a:solidFill>
                <a:latin typeface="Garamond" panose="02020404030301010803" pitchFamily="18" charset="0"/>
              </a:rPr>
              <a:t>contemporary definition of ethics, therefore, is </a:t>
            </a:r>
            <a:r>
              <a:rPr lang="en-US" sz="3600" b="1" dirty="0">
                <a:solidFill>
                  <a:srgbClr val="002060"/>
                </a:solidFill>
                <a:latin typeface="Garamond" panose="02020404030301010803" pitchFamily="18" charset="0"/>
              </a:rPr>
              <a:t>the thoughtful reflection and evaluation of various systems of morality around which people organize their lives</a:t>
            </a:r>
            <a:r>
              <a:rPr lang="en-US" sz="3600" dirty="0">
                <a:solidFill>
                  <a:srgbClr val="002060"/>
                </a:solidFill>
                <a:latin typeface="Garamond" panose="02020404030301010803" pitchFamily="18" charset="0"/>
              </a:rPr>
              <a:t>. </a:t>
            </a:r>
          </a:p>
        </p:txBody>
      </p:sp>
      <p:sp>
        <p:nvSpPr>
          <p:cNvPr id="2" name="Rectangle 1"/>
          <p:cNvSpPr/>
          <p:nvPr/>
        </p:nvSpPr>
        <p:spPr>
          <a:xfrm>
            <a:off x="1423359" y="544677"/>
            <a:ext cx="6632457" cy="769441"/>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dirty="0" smtClean="0">
                <a:ln>
                  <a:noFill/>
                </a:ln>
                <a:solidFill>
                  <a:srgbClr val="002060"/>
                </a:solidFill>
                <a:effectLst/>
                <a:uLnTx/>
                <a:uFillTx/>
                <a:latin typeface="Garamond" panose="02020404030301010803" pitchFamily="18" charset="0"/>
                <a:ea typeface="+mn-ea"/>
                <a:cs typeface="+mn-cs"/>
              </a:rPr>
              <a:t>Ethics defined variously… </a:t>
            </a:r>
            <a:endParaRPr kumimoji="0" lang="en-US" sz="44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321252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423359" y="1033671"/>
            <a:ext cx="9601200" cy="4781972"/>
          </a:xfrm>
        </p:spPr>
        <p:txBody>
          <a:bodyPr>
            <a:normAutofit fontScale="92500" lnSpcReduction="10000"/>
          </a:bodyPr>
          <a:lstStyle/>
          <a:p>
            <a:r>
              <a:rPr lang="en-US" sz="3200" dirty="0">
                <a:solidFill>
                  <a:srgbClr val="002060"/>
                </a:solidFill>
                <a:latin typeface="Garamond" panose="02020404030301010803" pitchFamily="18" charset="0"/>
              </a:rPr>
              <a:t>Ethics  or  moral  is  contrasted  with  </a:t>
            </a:r>
            <a:r>
              <a:rPr lang="en-US" sz="3200" b="1" dirty="0">
                <a:solidFill>
                  <a:srgbClr val="002060"/>
                </a:solidFill>
                <a:latin typeface="Garamond" panose="02020404030301010803" pitchFamily="18" charset="0"/>
              </a:rPr>
              <a:t>non-moral</a:t>
            </a:r>
            <a:r>
              <a:rPr lang="en-US" sz="3200" dirty="0">
                <a:solidFill>
                  <a:srgbClr val="002060"/>
                </a:solidFill>
                <a:latin typeface="Garamond" panose="02020404030301010803" pitchFamily="18" charset="0"/>
              </a:rPr>
              <a:t>  rather  than  </a:t>
            </a:r>
            <a:r>
              <a:rPr lang="en-US" sz="3200" b="1" dirty="0">
                <a:solidFill>
                  <a:srgbClr val="002060"/>
                </a:solidFill>
                <a:latin typeface="Garamond" panose="02020404030301010803" pitchFamily="18" charset="0"/>
              </a:rPr>
              <a:t>amoral</a:t>
            </a:r>
            <a:r>
              <a:rPr lang="en-US" sz="3200" dirty="0">
                <a:solidFill>
                  <a:srgbClr val="002060"/>
                </a:solidFill>
                <a:latin typeface="Garamond" panose="02020404030301010803" pitchFamily="18" charset="0"/>
              </a:rPr>
              <a:t>  or </a:t>
            </a:r>
            <a:r>
              <a:rPr lang="en-US" sz="3200" b="1" dirty="0">
                <a:solidFill>
                  <a:srgbClr val="002060"/>
                </a:solidFill>
                <a:latin typeface="Garamond" panose="02020404030301010803" pitchFamily="18" charset="0"/>
              </a:rPr>
              <a:t>immoral</a:t>
            </a:r>
            <a:r>
              <a:rPr lang="en-US" sz="3200" dirty="0">
                <a:solidFill>
                  <a:srgbClr val="002060"/>
                </a:solidFill>
                <a:latin typeface="Garamond" panose="02020404030301010803" pitchFamily="18" charset="0"/>
              </a:rPr>
              <a:t>. It has meanings which do not have such direct link as to give acceptable content to represent the direct contrasted of the word ethics or moral. The word ethics has to do with value systems arising from the reasoned or acceptable as against mere habitual or customary way of life. Immoral stands for the obscene behaviour like sexual immorality or that which offends acceptable standards of morality. This is the same as amoral  which  stands  for  anything   that  is  contrary  to  acceptable behavioral  (moral)  conducts.  Ethics  therefore  embrace,  but  surpass, discussions that centre on immorality or amorality. </a:t>
            </a:r>
          </a:p>
        </p:txBody>
      </p:sp>
    </p:spTree>
    <p:extLst>
      <p:ext uri="{BB962C8B-B14F-4D97-AF65-F5344CB8AC3E}">
        <p14:creationId xmlns:p14="http://schemas.microsoft.com/office/powerpoint/2010/main" val="29064097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423359" y="1033671"/>
            <a:ext cx="9601200" cy="4781972"/>
          </a:xfrm>
        </p:spPr>
        <p:txBody>
          <a:bodyPr>
            <a:normAutofit/>
          </a:bodyPr>
          <a:lstStyle/>
          <a:p>
            <a:r>
              <a:rPr lang="en-US" sz="3600" b="1" dirty="0">
                <a:solidFill>
                  <a:srgbClr val="002060"/>
                </a:solidFill>
                <a:latin typeface="Garamond" panose="02020404030301010803" pitchFamily="18" charset="0"/>
              </a:rPr>
              <a:t>Moral</a:t>
            </a:r>
            <a:r>
              <a:rPr lang="en-US" sz="3600" dirty="0">
                <a:solidFill>
                  <a:srgbClr val="002060"/>
                </a:solidFill>
                <a:latin typeface="Garamond" panose="02020404030301010803" pitchFamily="18" charset="0"/>
              </a:rPr>
              <a:t>:  concerned with principles of right and wrong </a:t>
            </a:r>
          </a:p>
          <a:p>
            <a:r>
              <a:rPr lang="en-US" sz="3600" b="1" dirty="0">
                <a:solidFill>
                  <a:srgbClr val="002060"/>
                </a:solidFill>
                <a:latin typeface="Garamond" panose="02020404030301010803" pitchFamily="18" charset="0"/>
              </a:rPr>
              <a:t>Immoral</a:t>
            </a:r>
            <a:r>
              <a:rPr lang="en-US" sz="3600" dirty="0">
                <a:solidFill>
                  <a:srgbClr val="002060"/>
                </a:solidFill>
                <a:latin typeface="Garamond" panose="02020404030301010803" pitchFamily="18" charset="0"/>
              </a:rPr>
              <a:t>: behaviour that does not conform with acceptable standards of morality </a:t>
            </a:r>
          </a:p>
          <a:p>
            <a:r>
              <a:rPr lang="en-US" sz="3600" b="1" dirty="0">
                <a:solidFill>
                  <a:srgbClr val="002060"/>
                </a:solidFill>
                <a:latin typeface="Garamond" panose="02020404030301010803" pitchFamily="18" charset="0"/>
              </a:rPr>
              <a:t>Amoral:</a:t>
            </a:r>
            <a:r>
              <a:rPr lang="en-US" sz="3600" dirty="0">
                <a:solidFill>
                  <a:srgbClr val="002060"/>
                </a:solidFill>
                <a:latin typeface="Garamond" panose="02020404030301010803" pitchFamily="18" charset="0"/>
              </a:rPr>
              <a:t> behaviour that lacks any sense of morality or is unconcerned with morality </a:t>
            </a:r>
          </a:p>
          <a:p>
            <a:r>
              <a:rPr lang="en-US" sz="3600" b="1" dirty="0">
                <a:solidFill>
                  <a:srgbClr val="002060"/>
                </a:solidFill>
                <a:latin typeface="Garamond" panose="02020404030301010803" pitchFamily="18" charset="0"/>
              </a:rPr>
              <a:t>Non-moral: </a:t>
            </a:r>
            <a:r>
              <a:rPr lang="en-US" sz="3600" dirty="0">
                <a:solidFill>
                  <a:srgbClr val="002060"/>
                </a:solidFill>
                <a:latin typeface="Garamond" panose="02020404030301010803" pitchFamily="18" charset="0"/>
              </a:rPr>
              <a:t>not holding or capable of manifesting moral principles </a:t>
            </a:r>
          </a:p>
        </p:txBody>
      </p:sp>
    </p:spTree>
    <p:extLst>
      <p:ext uri="{BB962C8B-B14F-4D97-AF65-F5344CB8AC3E}">
        <p14:creationId xmlns:p14="http://schemas.microsoft.com/office/powerpoint/2010/main" val="346627592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D2CE9-7274-4DF2-8028-A7EF37C9C076}"/>
              </a:ext>
            </a:extLst>
          </p:cNvPr>
          <p:cNvSpPr>
            <a:spLocks noGrp="1"/>
          </p:cNvSpPr>
          <p:nvPr>
            <p:ph type="title"/>
          </p:nvPr>
        </p:nvSpPr>
        <p:spPr/>
        <p:txBody>
          <a:bodyPr/>
          <a:lstStyle/>
          <a:p>
            <a:r>
              <a:rPr lang="en-GB" b="1" dirty="0">
                <a:solidFill>
                  <a:srgbClr val="002060"/>
                </a:solidFill>
                <a:latin typeface="Garamond" panose="02020404030301010803" pitchFamily="18" charset="0"/>
              </a:rPr>
              <a:t>What is Christian ethics?</a:t>
            </a: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p:txBody>
          <a:bodyPr>
            <a:normAutofit/>
          </a:bodyPr>
          <a:lstStyle/>
          <a:p>
            <a:pPr marL="0" indent="0">
              <a:buNone/>
            </a:pPr>
            <a:r>
              <a:rPr lang="en-US" sz="3600" dirty="0">
                <a:solidFill>
                  <a:srgbClr val="002060"/>
                </a:solidFill>
                <a:latin typeface="Garamond" panose="02020404030301010803" pitchFamily="18" charset="0"/>
              </a:rPr>
              <a:t>Standards of right and wrong of human behaviour based on biblical standards and provisions.</a:t>
            </a:r>
          </a:p>
          <a:p>
            <a:pPr lvl="1"/>
            <a:r>
              <a:rPr lang="en-US" sz="3200" dirty="0">
                <a:solidFill>
                  <a:srgbClr val="002060"/>
                </a:solidFill>
                <a:latin typeface="Garamond" panose="02020404030301010803" pitchFamily="18" charset="0"/>
              </a:rPr>
              <a:t>Old Testament ethics</a:t>
            </a:r>
          </a:p>
          <a:p>
            <a:pPr lvl="1"/>
            <a:r>
              <a:rPr lang="en-US" sz="3200" dirty="0">
                <a:solidFill>
                  <a:srgbClr val="002060"/>
                </a:solidFill>
                <a:latin typeface="Garamond" panose="02020404030301010803" pitchFamily="18" charset="0"/>
              </a:rPr>
              <a:t>Ethics of Jesus Christ</a:t>
            </a:r>
          </a:p>
          <a:p>
            <a:pPr lvl="1"/>
            <a:r>
              <a:rPr lang="en-US" sz="3200" dirty="0">
                <a:solidFill>
                  <a:srgbClr val="002060"/>
                </a:solidFill>
                <a:latin typeface="Garamond" panose="02020404030301010803" pitchFamily="18" charset="0"/>
              </a:rPr>
              <a:t>Pauline ethics</a:t>
            </a:r>
          </a:p>
          <a:p>
            <a:pPr lvl="1"/>
            <a:r>
              <a:rPr lang="en-US" sz="3200" dirty="0">
                <a:solidFill>
                  <a:srgbClr val="002060"/>
                </a:solidFill>
                <a:latin typeface="Garamond" panose="02020404030301010803" pitchFamily="18" charset="0"/>
              </a:rPr>
              <a:t>Catholic ethics</a:t>
            </a:r>
          </a:p>
          <a:p>
            <a:pPr lvl="1"/>
            <a:r>
              <a:rPr lang="en-US" sz="3200" dirty="0">
                <a:solidFill>
                  <a:srgbClr val="002060"/>
                </a:solidFill>
                <a:latin typeface="Garamond" panose="02020404030301010803" pitchFamily="18" charset="0"/>
              </a:rPr>
              <a:t>Protestant ethics</a:t>
            </a:r>
          </a:p>
          <a:p>
            <a:pPr lvl="1"/>
            <a:r>
              <a:rPr lang="en-US" sz="3200" dirty="0">
                <a:solidFill>
                  <a:srgbClr val="002060"/>
                </a:solidFill>
                <a:latin typeface="Garamond" panose="02020404030301010803" pitchFamily="18" charset="0"/>
              </a:rPr>
              <a:t>Pentecostal ethics  </a:t>
            </a:r>
          </a:p>
        </p:txBody>
      </p:sp>
    </p:spTree>
    <p:extLst>
      <p:ext uri="{BB962C8B-B14F-4D97-AF65-F5344CB8AC3E}">
        <p14:creationId xmlns:p14="http://schemas.microsoft.com/office/powerpoint/2010/main" val="393978756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p:txBody>
          <a:bodyPr/>
          <a:lstStyle/>
          <a:p>
            <a:r>
              <a:rPr lang="en-US" b="1" dirty="0">
                <a:solidFill>
                  <a:srgbClr val="002060"/>
                </a:solidFill>
                <a:latin typeface="Garamond" panose="02020404030301010803" pitchFamily="18" charset="0"/>
              </a:rPr>
              <a:t>Types of Ethics</a:t>
            </a:r>
            <a:r>
              <a:rPr lang="en-GB" b="1" dirty="0">
                <a:solidFill>
                  <a:srgbClr val="002060"/>
                </a:solidFill>
                <a:latin typeface="Garamond" panose="02020404030301010803" pitchFamily="18" charset="0"/>
              </a:rPr>
              <a:t/>
            </a:r>
            <a:br>
              <a:rPr lang="en-GB" b="1" dirty="0">
                <a:solidFill>
                  <a:srgbClr val="002060"/>
                </a:solidFill>
                <a:latin typeface="Garamond" panose="02020404030301010803" pitchFamily="18" charset="0"/>
              </a:rPr>
            </a:br>
            <a:endParaRPr lang="en-US" b="1" dirty="0">
              <a:solidFill>
                <a:srgbClr val="002060"/>
              </a:solidFill>
              <a:latin typeface="Garamond" panose="020204040303010108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838200" y="1253331"/>
            <a:ext cx="10515600" cy="4351338"/>
          </a:xfrm>
        </p:spPr>
        <p:txBody>
          <a:bodyPr>
            <a:normAutofit/>
          </a:bodyPr>
          <a:lstStyle/>
          <a:p>
            <a:pPr marL="0" indent="0">
              <a:buNone/>
            </a:pPr>
            <a:r>
              <a:rPr lang="en-US" sz="4400" dirty="0">
                <a:solidFill>
                  <a:srgbClr val="002060"/>
                </a:solidFill>
                <a:latin typeface="Garamond" panose="02020404030301010803" pitchFamily="18" charset="0"/>
              </a:rPr>
              <a:t>There are three (3) types of Ethics. </a:t>
            </a:r>
          </a:p>
          <a:p>
            <a:pPr marL="0" indent="0">
              <a:buNone/>
            </a:pPr>
            <a:r>
              <a:rPr lang="en-US" sz="4400" dirty="0">
                <a:solidFill>
                  <a:srgbClr val="002060"/>
                </a:solidFill>
                <a:latin typeface="Garamond" panose="02020404030301010803" pitchFamily="18" charset="0"/>
              </a:rPr>
              <a:t>These are:</a:t>
            </a:r>
          </a:p>
          <a:p>
            <a:pPr marL="914400" lvl="1" indent="-457200">
              <a:buAutoNum type="arabicPeriod"/>
            </a:pPr>
            <a:r>
              <a:rPr lang="en-US" sz="4000" dirty="0">
                <a:solidFill>
                  <a:srgbClr val="002060"/>
                </a:solidFill>
                <a:latin typeface="Garamond" panose="02020404030301010803" pitchFamily="18" charset="0"/>
              </a:rPr>
              <a:t>normative ethics</a:t>
            </a:r>
          </a:p>
          <a:p>
            <a:pPr marL="914400" lvl="1" indent="-457200">
              <a:buAutoNum type="arabicPeriod"/>
            </a:pPr>
            <a:r>
              <a:rPr lang="en-US" sz="4000" dirty="0">
                <a:solidFill>
                  <a:srgbClr val="002060"/>
                </a:solidFill>
                <a:latin typeface="Garamond" panose="02020404030301010803" pitchFamily="18" charset="0"/>
              </a:rPr>
              <a:t>meta-ethics and </a:t>
            </a:r>
          </a:p>
          <a:p>
            <a:pPr marL="914400" lvl="1" indent="-457200">
              <a:buAutoNum type="arabicPeriod"/>
            </a:pPr>
            <a:r>
              <a:rPr lang="en-US" sz="4000" dirty="0">
                <a:solidFill>
                  <a:srgbClr val="002060"/>
                </a:solidFill>
                <a:latin typeface="Garamond" panose="02020404030301010803" pitchFamily="18" charset="0"/>
              </a:rPr>
              <a:t>applied ethics</a:t>
            </a:r>
          </a:p>
        </p:txBody>
      </p:sp>
    </p:spTree>
    <p:extLst>
      <p:ext uri="{BB962C8B-B14F-4D97-AF65-F5344CB8AC3E}">
        <p14:creationId xmlns:p14="http://schemas.microsoft.com/office/powerpoint/2010/main" val="268668321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p:txBody>
          <a:bodyPr/>
          <a:lstStyle/>
          <a:p>
            <a:r>
              <a:rPr lang="en-US" b="1" dirty="0">
                <a:solidFill>
                  <a:srgbClr val="002060"/>
                </a:solidFill>
                <a:latin typeface="Garamond" panose="02020404030301010803" pitchFamily="18" charset="0"/>
              </a:rPr>
              <a:t>Normative Ethics</a:t>
            </a:r>
            <a:r>
              <a:rPr lang="en-GB" b="1" dirty="0">
                <a:solidFill>
                  <a:srgbClr val="002060"/>
                </a:solidFill>
                <a:latin typeface="Garamond" panose="02020404030301010803" pitchFamily="18" charset="0"/>
              </a:rPr>
              <a:t/>
            </a:r>
            <a:br>
              <a:rPr lang="en-GB" b="1" dirty="0">
                <a:solidFill>
                  <a:srgbClr val="002060"/>
                </a:solidFill>
                <a:latin typeface="Garamond" panose="02020404030301010803" pitchFamily="18" charset="0"/>
              </a:rPr>
            </a:br>
            <a:endParaRPr lang="en-US" b="1" dirty="0">
              <a:solidFill>
                <a:srgbClr val="002060"/>
              </a:solidFill>
              <a:latin typeface="Garamond" panose="020204040303010108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086678" y="1253330"/>
            <a:ext cx="10084905" cy="5014947"/>
          </a:xfrm>
        </p:spPr>
        <p:txBody>
          <a:bodyPr>
            <a:normAutofit fontScale="77500" lnSpcReduction="20000"/>
          </a:bodyPr>
          <a:lstStyle/>
          <a:p>
            <a:pPr marL="0" indent="0">
              <a:buNone/>
            </a:pPr>
            <a:r>
              <a:rPr lang="en-US" sz="4400" b="1" dirty="0">
                <a:solidFill>
                  <a:srgbClr val="002060"/>
                </a:solidFill>
                <a:latin typeface="Garamond" panose="02020404030301010803" pitchFamily="18" charset="0"/>
              </a:rPr>
              <a:t>Normative ethics (also called prescriptive ethics) </a:t>
            </a:r>
            <a:r>
              <a:rPr lang="en-US" sz="4400" dirty="0">
                <a:solidFill>
                  <a:srgbClr val="002060"/>
                </a:solidFill>
                <a:latin typeface="Garamond" panose="02020404030301010803" pitchFamily="18" charset="0"/>
              </a:rPr>
              <a:t>is the branch of ethics that asks general questions about the morality of behaviour.</a:t>
            </a:r>
          </a:p>
          <a:p>
            <a:pPr marL="0" indent="0">
              <a:buNone/>
            </a:pPr>
            <a:endParaRPr lang="en-US" sz="4400" dirty="0">
              <a:solidFill>
                <a:srgbClr val="002060"/>
              </a:solidFill>
              <a:latin typeface="Garamond" panose="02020404030301010803" pitchFamily="18" charset="0"/>
            </a:endParaRPr>
          </a:p>
          <a:p>
            <a:pPr marL="0" indent="0">
              <a:buNone/>
            </a:pPr>
            <a:r>
              <a:rPr lang="en-US" sz="4400" dirty="0">
                <a:solidFill>
                  <a:srgbClr val="002060"/>
                </a:solidFill>
                <a:latin typeface="Garamond" panose="02020404030301010803" pitchFamily="18" charset="0"/>
              </a:rPr>
              <a:t>It attempts to provide general moral norms which serve as framework for regulating human behaviour. It is the study of what </a:t>
            </a:r>
            <a:r>
              <a:rPr lang="en-US" sz="4400" b="1" dirty="0">
                <a:solidFill>
                  <a:srgbClr val="002060"/>
                </a:solidFill>
                <a:latin typeface="Garamond" panose="02020404030301010803" pitchFamily="18" charset="0"/>
              </a:rPr>
              <a:t>ought </a:t>
            </a:r>
            <a:r>
              <a:rPr lang="en-US" sz="4400" dirty="0">
                <a:solidFill>
                  <a:srgbClr val="002060"/>
                </a:solidFill>
                <a:latin typeface="Garamond" panose="02020404030301010803" pitchFamily="18" charset="0"/>
              </a:rPr>
              <a:t>to be. It involves defining the moral standards of behaviour and the morality of actions, practices, laws and institutions. </a:t>
            </a:r>
          </a:p>
          <a:p>
            <a:pPr marL="0" indent="0">
              <a:buNone/>
            </a:pPr>
            <a:r>
              <a:rPr lang="en-US" sz="4400" dirty="0">
                <a:solidFill>
                  <a:srgbClr val="002060"/>
                </a:solidFill>
                <a:latin typeface="Garamond" panose="02020404030301010803" pitchFamily="18" charset="0"/>
              </a:rPr>
              <a:t> </a:t>
            </a:r>
          </a:p>
          <a:p>
            <a:pPr marL="0" indent="0">
              <a:buNone/>
            </a:pPr>
            <a:r>
              <a:rPr lang="en-US" sz="4400" dirty="0">
                <a:solidFill>
                  <a:srgbClr val="002060"/>
                </a:solidFill>
                <a:latin typeface="Garamond" panose="02020404030301010803" pitchFamily="18" charset="0"/>
              </a:rPr>
              <a:t>In doing this, normative ethics may offer foundational principles or character traits of the morally good life. </a:t>
            </a:r>
          </a:p>
        </p:txBody>
      </p:sp>
    </p:spTree>
    <p:extLst>
      <p:ext uri="{BB962C8B-B14F-4D97-AF65-F5344CB8AC3E}">
        <p14:creationId xmlns:p14="http://schemas.microsoft.com/office/powerpoint/2010/main" val="319970757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p:txBody>
          <a:bodyPr/>
          <a:lstStyle/>
          <a:p>
            <a:r>
              <a:rPr lang="en-GB" b="1" dirty="0">
                <a:solidFill>
                  <a:srgbClr val="002060"/>
                </a:solidFill>
                <a:latin typeface="Garamond" panose="02020404030301010803" pitchFamily="18" charset="0"/>
              </a:rPr>
              <a:t>Normative ethics</a:t>
            </a:r>
            <a:endParaRPr lang="en-US" b="1" dirty="0">
              <a:solidFill>
                <a:srgbClr val="002060"/>
              </a:solidFill>
              <a:latin typeface="Garamond" panose="02020404030301010803" pitchFamily="18" charset="0"/>
            </a:endParaRPr>
          </a:p>
        </p:txBody>
      </p:sp>
      <p:graphicFrame>
        <p:nvGraphicFramePr>
          <p:cNvPr id="4" name="Content Placeholder 3">
            <a:extLst>
              <a:ext uri="{FF2B5EF4-FFF2-40B4-BE49-F238E27FC236}">
                <a16:creationId xmlns:a16="http://schemas.microsoft.com/office/drawing/2014/main" id="{40424B34-2A4E-4019-9F57-7AF30EF6DC08}"/>
              </a:ext>
            </a:extLst>
          </p:cNvPr>
          <p:cNvGraphicFramePr>
            <a:graphicFrameLocks noGrp="1"/>
          </p:cNvGraphicFramePr>
          <p:nvPr>
            <p:ph idx="1"/>
            <p:extLst/>
          </p:nvPr>
        </p:nvGraphicFramePr>
        <p:xfrm>
          <a:off x="992221" y="1128409"/>
          <a:ext cx="10179017" cy="51406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a:extLst>
              <a:ext uri="{FF2B5EF4-FFF2-40B4-BE49-F238E27FC236}">
                <a16:creationId xmlns:a16="http://schemas.microsoft.com/office/drawing/2014/main" id="{31873284-42B5-47C4-968B-3BD57E38BE0B}"/>
              </a:ext>
            </a:extLst>
          </p:cNvPr>
          <p:cNvPicPr>
            <a:picLocks noChangeAspect="1"/>
          </p:cNvPicPr>
          <p:nvPr/>
        </p:nvPicPr>
        <p:blipFill>
          <a:blip r:embed="rId7"/>
          <a:stretch>
            <a:fillRect/>
          </a:stretch>
        </p:blipFill>
        <p:spPr>
          <a:xfrm>
            <a:off x="3151164" y="3029513"/>
            <a:ext cx="1786597" cy="812164"/>
          </a:xfrm>
          <a:prstGeom prst="rect">
            <a:avLst/>
          </a:prstGeom>
        </p:spPr>
      </p:pic>
    </p:spTree>
    <p:extLst>
      <p:ext uri="{BB962C8B-B14F-4D97-AF65-F5344CB8AC3E}">
        <p14:creationId xmlns:p14="http://schemas.microsoft.com/office/powerpoint/2010/main" val="427149084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p:txBody>
          <a:bodyPr/>
          <a:lstStyle/>
          <a:p>
            <a:r>
              <a:rPr lang="en-GB" b="1" dirty="0">
                <a:solidFill>
                  <a:srgbClr val="002060"/>
                </a:solidFill>
                <a:latin typeface="Garamond" panose="02020404030301010803" pitchFamily="18" charset="0"/>
              </a:rPr>
              <a:t>Characteristics of normative ethics</a:t>
            </a:r>
            <a:endParaRPr lang="en-US" b="1" dirty="0">
              <a:solidFill>
                <a:srgbClr val="002060"/>
              </a:solidFill>
              <a:latin typeface="Garamond" panose="02020404030301010803" pitchFamily="18" charset="0"/>
            </a:endParaRPr>
          </a:p>
        </p:txBody>
      </p:sp>
      <p:sp>
        <p:nvSpPr>
          <p:cNvPr id="6" name="Content Placeholder 5">
            <a:extLst>
              <a:ext uri="{FF2B5EF4-FFF2-40B4-BE49-F238E27FC236}">
                <a16:creationId xmlns:a16="http://schemas.microsoft.com/office/drawing/2014/main" id="{7598897B-7969-4F45-A07E-D7834B00CD95}"/>
              </a:ext>
            </a:extLst>
          </p:cNvPr>
          <p:cNvSpPr>
            <a:spLocks noGrp="1"/>
          </p:cNvSpPr>
          <p:nvPr>
            <p:ph idx="1"/>
          </p:nvPr>
        </p:nvSpPr>
        <p:spPr>
          <a:xfrm>
            <a:off x="838200" y="1463040"/>
            <a:ext cx="10515600" cy="4713923"/>
          </a:xfrm>
        </p:spPr>
        <p:txBody>
          <a:bodyPr>
            <a:normAutofit/>
          </a:bodyPr>
          <a:lstStyle/>
          <a:p>
            <a:pPr marL="514350" indent="-514350">
              <a:buFont typeface="+mj-lt"/>
              <a:buAutoNum type="arabicPeriod"/>
            </a:pPr>
            <a:r>
              <a:rPr lang="en-US" sz="3200" dirty="0">
                <a:solidFill>
                  <a:srgbClr val="002060"/>
                </a:solidFill>
                <a:latin typeface="Garamond" panose="02020404030301010803" pitchFamily="18" charset="0"/>
              </a:rPr>
              <a:t>They are theories or systems of moral values that </a:t>
            </a:r>
            <a:r>
              <a:rPr lang="en-US" sz="3200" b="1" i="1" dirty="0">
                <a:solidFill>
                  <a:srgbClr val="002060"/>
                </a:solidFill>
                <a:latin typeface="Garamond" panose="02020404030301010803" pitchFamily="18" charset="0"/>
              </a:rPr>
              <a:t>prescribe</a:t>
            </a:r>
            <a:r>
              <a:rPr lang="en-US" sz="3200" dirty="0">
                <a:solidFill>
                  <a:srgbClr val="002060"/>
                </a:solidFill>
                <a:latin typeface="Garamond" panose="02020404030301010803" pitchFamily="18" charset="0"/>
              </a:rPr>
              <a:t> what people ought to do in particular situations.</a:t>
            </a:r>
          </a:p>
          <a:p>
            <a:pPr marL="514350" indent="-514350">
              <a:buFont typeface="+mj-lt"/>
              <a:buAutoNum type="arabicPeriod"/>
            </a:pPr>
            <a:r>
              <a:rPr lang="en-US" sz="3200" dirty="0">
                <a:solidFill>
                  <a:srgbClr val="002060"/>
                </a:solidFill>
                <a:latin typeface="Garamond" panose="02020404030301010803" pitchFamily="18" charset="0"/>
              </a:rPr>
              <a:t>They are </a:t>
            </a:r>
            <a:r>
              <a:rPr lang="en-US" sz="3200" b="1" i="1" dirty="0">
                <a:solidFill>
                  <a:srgbClr val="002060"/>
                </a:solidFill>
                <a:latin typeface="Garamond" panose="02020404030301010803" pitchFamily="18" charset="0"/>
              </a:rPr>
              <a:t>based on assumptions </a:t>
            </a:r>
            <a:r>
              <a:rPr lang="en-US" sz="3200" dirty="0">
                <a:solidFill>
                  <a:srgbClr val="002060"/>
                </a:solidFill>
                <a:latin typeface="Garamond" panose="02020404030301010803" pitchFamily="18" charset="0"/>
              </a:rPr>
              <a:t>about what is good or bad, right or wrong, just or unjust. </a:t>
            </a:r>
          </a:p>
          <a:p>
            <a:pPr marL="514350" indent="-514350">
              <a:buFont typeface="+mj-lt"/>
              <a:buAutoNum type="arabicPeriod"/>
            </a:pPr>
            <a:r>
              <a:rPr lang="en-US" sz="3200" dirty="0">
                <a:solidFill>
                  <a:srgbClr val="002060"/>
                </a:solidFill>
                <a:latin typeface="Garamond" panose="02020404030301010803" pitchFamily="18" charset="0"/>
              </a:rPr>
              <a:t>They often </a:t>
            </a:r>
            <a:r>
              <a:rPr lang="en-US" sz="3200" b="1" i="1" dirty="0">
                <a:solidFill>
                  <a:srgbClr val="002060"/>
                </a:solidFill>
                <a:latin typeface="Garamond" panose="02020404030301010803" pitchFamily="18" charset="0"/>
              </a:rPr>
              <a:t>take the form of rules or guidelines </a:t>
            </a:r>
            <a:r>
              <a:rPr lang="en-US" sz="3200" dirty="0">
                <a:solidFill>
                  <a:srgbClr val="002060"/>
                </a:solidFill>
                <a:latin typeface="Garamond" panose="02020404030301010803" pitchFamily="18" charset="0"/>
              </a:rPr>
              <a:t>that tell us what we should and should not do in specific circumstances. </a:t>
            </a:r>
          </a:p>
          <a:p>
            <a:pPr marL="514350" indent="-514350">
              <a:buFont typeface="+mj-lt"/>
              <a:buAutoNum type="arabicPeriod"/>
            </a:pPr>
            <a:r>
              <a:rPr lang="en-US" sz="3200" dirty="0">
                <a:solidFill>
                  <a:srgbClr val="002060"/>
                </a:solidFill>
                <a:latin typeface="Garamond" panose="02020404030301010803" pitchFamily="18" charset="0"/>
              </a:rPr>
              <a:t>They are usually </a:t>
            </a:r>
            <a:r>
              <a:rPr lang="en-US" sz="3200" b="1" i="1" dirty="0">
                <a:solidFill>
                  <a:srgbClr val="002060"/>
                </a:solidFill>
                <a:latin typeface="Garamond" panose="02020404030301010803" pitchFamily="18" charset="0"/>
              </a:rPr>
              <a:t>codified in legal systems and religious texts</a:t>
            </a:r>
            <a:r>
              <a:rPr lang="en-US" sz="3200" dirty="0">
                <a:solidFill>
                  <a:srgbClr val="002060"/>
                </a:solidFill>
                <a:latin typeface="Garamond" panose="02020404030301010803" pitchFamily="18" charset="0"/>
              </a:rPr>
              <a:t>, but they can also be found in works of philosophy and literature. </a:t>
            </a:r>
          </a:p>
        </p:txBody>
      </p:sp>
    </p:spTree>
    <p:extLst>
      <p:ext uri="{BB962C8B-B14F-4D97-AF65-F5344CB8AC3E}">
        <p14:creationId xmlns:p14="http://schemas.microsoft.com/office/powerpoint/2010/main" val="140479127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p:txBody>
          <a:bodyPr/>
          <a:lstStyle/>
          <a:p>
            <a:r>
              <a:rPr lang="en-GB" b="1" dirty="0">
                <a:solidFill>
                  <a:srgbClr val="002060"/>
                </a:solidFill>
                <a:latin typeface="Garamond" panose="02020404030301010803" pitchFamily="18" charset="0"/>
              </a:rPr>
              <a:t>Characteristics of normative ethics</a:t>
            </a:r>
            <a:endParaRPr lang="en-US" b="1" dirty="0">
              <a:solidFill>
                <a:srgbClr val="002060"/>
              </a:solidFill>
              <a:latin typeface="Garamond" panose="02020404030301010803" pitchFamily="18" charset="0"/>
            </a:endParaRPr>
          </a:p>
        </p:txBody>
      </p:sp>
      <p:sp>
        <p:nvSpPr>
          <p:cNvPr id="6" name="Content Placeholder 5">
            <a:extLst>
              <a:ext uri="{FF2B5EF4-FFF2-40B4-BE49-F238E27FC236}">
                <a16:creationId xmlns:a16="http://schemas.microsoft.com/office/drawing/2014/main" id="{7598897B-7969-4F45-A07E-D7834B00CD95}"/>
              </a:ext>
            </a:extLst>
          </p:cNvPr>
          <p:cNvSpPr>
            <a:spLocks noGrp="1"/>
          </p:cNvSpPr>
          <p:nvPr>
            <p:ph idx="1"/>
          </p:nvPr>
        </p:nvSpPr>
        <p:spPr>
          <a:xfrm>
            <a:off x="838200" y="1463040"/>
            <a:ext cx="10515600" cy="4713923"/>
          </a:xfrm>
        </p:spPr>
        <p:txBody>
          <a:bodyPr>
            <a:normAutofit/>
          </a:bodyPr>
          <a:lstStyle/>
          <a:p>
            <a:r>
              <a:rPr lang="en-US" sz="3200" dirty="0">
                <a:solidFill>
                  <a:srgbClr val="002060"/>
                </a:solidFill>
                <a:latin typeface="Garamond" panose="02020404030301010803" pitchFamily="18" charset="0"/>
              </a:rPr>
              <a:t>Examples include utilitarianism (the idea that actions should produce the greatest happiness for the greatest number) and Kantianism (that a person’s intentions are irrelevant if their actions violate a moral rule). </a:t>
            </a:r>
          </a:p>
          <a:p>
            <a:r>
              <a:rPr lang="en-US" sz="3200" dirty="0">
                <a:solidFill>
                  <a:srgbClr val="002060"/>
                </a:solidFill>
                <a:latin typeface="Garamond" panose="02020404030301010803" pitchFamily="18" charset="0"/>
              </a:rPr>
              <a:t>For some people, normative ethics might mean living up to certain standards as dictated by society or religion; others might view it as following one’s moral compass regardless of what other people think.</a:t>
            </a:r>
            <a:endParaRPr lang="en-GB" sz="3200" dirty="0">
              <a:solidFill>
                <a:srgbClr val="002060"/>
              </a:solidFill>
              <a:latin typeface="Garamond" panose="02020404030301010803" pitchFamily="18" charset="0"/>
            </a:endParaRPr>
          </a:p>
        </p:txBody>
      </p:sp>
    </p:spTree>
    <p:extLst>
      <p:ext uri="{BB962C8B-B14F-4D97-AF65-F5344CB8AC3E}">
        <p14:creationId xmlns:p14="http://schemas.microsoft.com/office/powerpoint/2010/main" val="413304930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16755-F7C4-4C17-8A5F-D5E7E2FF7AAF}"/>
              </a:ext>
            </a:extLst>
          </p:cNvPr>
          <p:cNvSpPr>
            <a:spLocks noGrp="1"/>
          </p:cNvSpPr>
          <p:nvPr>
            <p:ph type="title"/>
          </p:nvPr>
        </p:nvSpPr>
        <p:spPr/>
        <p:txBody>
          <a:bodyPr/>
          <a:lstStyle/>
          <a:p>
            <a:r>
              <a:rPr lang="en-GB" b="1" dirty="0">
                <a:solidFill>
                  <a:srgbClr val="002060"/>
                </a:solidFill>
                <a:latin typeface="Garamond" panose="02020404030301010803" pitchFamily="18" charset="0"/>
              </a:rPr>
              <a:t>Metaethics </a:t>
            </a: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p:txBody>
          <a:bodyPr>
            <a:normAutofit/>
          </a:bodyPr>
          <a:lstStyle/>
          <a:p>
            <a:pPr marL="0" indent="0">
              <a:buNone/>
            </a:pPr>
            <a:r>
              <a:rPr lang="en-US" sz="3200" b="1" dirty="0">
                <a:solidFill>
                  <a:srgbClr val="002060"/>
                </a:solidFill>
                <a:latin typeface="Garamond" panose="02020404030301010803" pitchFamily="18" charset="0"/>
              </a:rPr>
              <a:t>Meta-ethics (also known as descriptive ethics)</a:t>
            </a:r>
            <a:r>
              <a:rPr lang="en-US" sz="3200" dirty="0">
                <a:solidFill>
                  <a:srgbClr val="002060"/>
                </a:solidFill>
                <a:latin typeface="Garamond" panose="02020404030301010803" pitchFamily="18" charset="0"/>
              </a:rPr>
              <a:t> is the branch of ethics that surveys the general scope of ethics. </a:t>
            </a:r>
          </a:p>
          <a:p>
            <a:r>
              <a:rPr lang="en-US" sz="3200" dirty="0">
                <a:solidFill>
                  <a:srgbClr val="002060"/>
                </a:solidFill>
                <a:latin typeface="Garamond" panose="02020404030301010803" pitchFamily="18" charset="0"/>
              </a:rPr>
              <a:t>Meta refers to 'after or beyond.' It studies ethical concepts with the aim of determining their origins and meanings. </a:t>
            </a:r>
          </a:p>
          <a:p>
            <a:pPr marL="0" indent="0">
              <a:buNone/>
            </a:pPr>
            <a:r>
              <a:rPr lang="en-US" sz="3200" dirty="0">
                <a:solidFill>
                  <a:srgbClr val="002060"/>
                </a:solidFill>
                <a:latin typeface="Garamond" panose="02020404030301010803" pitchFamily="18" charset="0"/>
              </a:rPr>
              <a:t>It includes the study of moral languages and terminologies as well as the means of moral awareness or moral ‘knowing’. It does not ask or make judgment about what types of action are moral and immoral; rather, it asks questions.</a:t>
            </a:r>
            <a:endParaRPr lang="en-GB" sz="3600" dirty="0">
              <a:solidFill>
                <a:srgbClr val="002060"/>
              </a:solidFill>
              <a:latin typeface="Garamond" panose="02020404030301010803" pitchFamily="18" charset="0"/>
            </a:endParaRPr>
          </a:p>
          <a:p>
            <a:endParaRPr lang="en-GB" sz="3200" dirty="0">
              <a:solidFill>
                <a:srgbClr val="002060"/>
              </a:solidFill>
              <a:latin typeface="Garamond" panose="02020404030301010803" pitchFamily="18" charset="0"/>
            </a:endParaRPr>
          </a:p>
        </p:txBody>
      </p:sp>
    </p:spTree>
    <p:extLst>
      <p:ext uri="{BB962C8B-B14F-4D97-AF65-F5344CB8AC3E}">
        <p14:creationId xmlns:p14="http://schemas.microsoft.com/office/powerpoint/2010/main" val="99255105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DA2874A-AAE2-4490-A321-16435B1C0351}"/>
              </a:ext>
            </a:extLst>
          </p:cNvPr>
          <p:cNvPicPr>
            <a:picLocks noChangeAspect="1"/>
          </p:cNvPicPr>
          <p:nvPr/>
        </p:nvPicPr>
        <p:blipFill>
          <a:blip r:embed="rId3"/>
          <a:stretch>
            <a:fillRect/>
          </a:stretch>
        </p:blipFill>
        <p:spPr>
          <a:xfrm>
            <a:off x="450166" y="393896"/>
            <a:ext cx="11265706" cy="6246056"/>
          </a:xfrm>
          <a:prstGeom prst="rect">
            <a:avLst/>
          </a:prstGeom>
        </p:spPr>
      </p:pic>
    </p:spTree>
    <p:extLst>
      <p:ext uri="{BB962C8B-B14F-4D97-AF65-F5344CB8AC3E}">
        <p14:creationId xmlns:p14="http://schemas.microsoft.com/office/powerpoint/2010/main" val="178517913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6B55B-4564-4806-BE51-25E3259C89D4}"/>
              </a:ext>
            </a:extLst>
          </p:cNvPr>
          <p:cNvSpPr>
            <a:spLocks noGrp="1"/>
          </p:cNvSpPr>
          <p:nvPr>
            <p:ph type="title"/>
          </p:nvPr>
        </p:nvSpPr>
        <p:spPr/>
        <p:txBody>
          <a:bodyPr/>
          <a:lstStyle/>
          <a:p>
            <a:r>
              <a:rPr lang="en-GB" b="1" dirty="0">
                <a:solidFill>
                  <a:srgbClr val="002060"/>
                </a:solidFill>
                <a:latin typeface="Garamond" panose="02020404030301010803" pitchFamily="18" charset="0"/>
              </a:rPr>
              <a:t>Applied Ethics </a:t>
            </a: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838200" y="1448972"/>
            <a:ext cx="10515600" cy="5409028"/>
          </a:xfrm>
        </p:spPr>
        <p:txBody>
          <a:bodyPr>
            <a:normAutofit fontScale="85000" lnSpcReduction="10000"/>
          </a:bodyPr>
          <a:lstStyle/>
          <a:p>
            <a:pPr marL="0" indent="0">
              <a:buNone/>
            </a:pPr>
            <a:r>
              <a:rPr lang="en-US" b="1" dirty="0">
                <a:solidFill>
                  <a:srgbClr val="002060"/>
                </a:solidFill>
                <a:latin typeface="Garamond" panose="02020404030301010803" pitchFamily="18" charset="0"/>
              </a:rPr>
              <a:t>Applied ethics (also called practical ethics)  </a:t>
            </a:r>
            <a:r>
              <a:rPr lang="en-US" dirty="0">
                <a:solidFill>
                  <a:srgbClr val="002060"/>
                </a:solidFill>
                <a:latin typeface="Garamond" panose="02020404030301010803" pitchFamily="18" charset="0"/>
              </a:rPr>
              <a:t>is the branch of ethics that seeks answers to relatively concrete questions about the morality of specific actions and policies. It addresses distinctively moral issues that are controversial in specific areas of work. </a:t>
            </a:r>
          </a:p>
          <a:p>
            <a:pPr marL="0" indent="0">
              <a:buNone/>
            </a:pPr>
            <a:r>
              <a:rPr lang="en-US" dirty="0">
                <a:solidFill>
                  <a:srgbClr val="002060"/>
                </a:solidFill>
                <a:latin typeface="Garamond" panose="02020404030301010803" pitchFamily="18" charset="0"/>
              </a:rPr>
              <a:t>The following branches focus on various controversial moral issues of applied ethics: </a:t>
            </a:r>
          </a:p>
          <a:p>
            <a:r>
              <a:rPr lang="en-US" i="1" dirty="0">
                <a:solidFill>
                  <a:srgbClr val="002060"/>
                </a:solidFill>
                <a:latin typeface="Garamond" panose="02020404030301010803" pitchFamily="18" charset="0"/>
              </a:rPr>
              <a:t>Medical/healthcare ethics </a:t>
            </a:r>
            <a:r>
              <a:rPr lang="en-US" dirty="0">
                <a:solidFill>
                  <a:srgbClr val="002060"/>
                </a:solidFill>
                <a:latin typeface="Garamond" panose="02020404030301010803" pitchFamily="18" charset="0"/>
              </a:rPr>
              <a:t>(euthanasia, abortion, human cloning, genetic engineering, fair distribution of prescription drugs and medical treatment etc. For example, is it wrong for doctors to deceive their patients; passive euthanasia is sometimes permissible). </a:t>
            </a:r>
          </a:p>
          <a:p>
            <a:r>
              <a:rPr lang="en-US" i="1" dirty="0">
                <a:solidFill>
                  <a:srgbClr val="002060"/>
                </a:solidFill>
                <a:latin typeface="Garamond" panose="02020404030301010803" pitchFamily="18" charset="0"/>
              </a:rPr>
              <a:t>Business ethics </a:t>
            </a:r>
            <a:r>
              <a:rPr lang="en-US" dirty="0">
                <a:solidFill>
                  <a:srgbClr val="002060"/>
                </a:solidFill>
                <a:latin typeface="Garamond" panose="02020404030301010803" pitchFamily="18" charset="0"/>
              </a:rPr>
              <a:t>(corporate responsibility; rights and obligations of employees; diversity and discrimination etc. For example, lying and deception is permissible in business contexts). </a:t>
            </a:r>
          </a:p>
          <a:p>
            <a:r>
              <a:rPr lang="en-US" i="1" dirty="0">
                <a:solidFill>
                  <a:srgbClr val="002060"/>
                </a:solidFill>
                <a:latin typeface="Garamond" panose="02020404030301010803" pitchFamily="18" charset="0"/>
              </a:rPr>
              <a:t>Legal ethics </a:t>
            </a:r>
            <a:r>
              <a:rPr lang="en-US" dirty="0">
                <a:solidFill>
                  <a:srgbClr val="002060"/>
                </a:solidFill>
                <a:latin typeface="Garamond" panose="02020404030301010803" pitchFamily="18" charset="0"/>
              </a:rPr>
              <a:t>(responsibilities of individuals working in the criminal justice system). </a:t>
            </a:r>
          </a:p>
          <a:p>
            <a:r>
              <a:rPr lang="en-US" i="1" dirty="0">
                <a:solidFill>
                  <a:srgbClr val="002060"/>
                </a:solidFill>
                <a:latin typeface="Garamond" panose="02020404030301010803" pitchFamily="18" charset="0"/>
              </a:rPr>
              <a:t>Environmental ethics </a:t>
            </a:r>
            <a:r>
              <a:rPr lang="en-US" dirty="0">
                <a:solidFill>
                  <a:srgbClr val="002060"/>
                </a:solidFill>
                <a:latin typeface="Garamond" panose="02020404030301010803" pitchFamily="18" charset="0"/>
              </a:rPr>
              <a:t>(it’s morally wrong to exterminate rare species of animals and plants; raising animals in factory farms is morally wrong).</a:t>
            </a:r>
            <a:endParaRPr lang="en-GB" dirty="0">
              <a:solidFill>
                <a:srgbClr val="002060"/>
              </a:solidFill>
              <a:latin typeface="Garamond" panose="02020404030301010803" pitchFamily="18" charset="0"/>
            </a:endParaRPr>
          </a:p>
          <a:p>
            <a:pPr marL="0" indent="0">
              <a:buNone/>
            </a:pPr>
            <a:endParaRPr lang="en-US" dirty="0">
              <a:solidFill>
                <a:srgbClr val="002060"/>
              </a:solidFill>
              <a:latin typeface="Garamond" panose="02020404030301010803" pitchFamily="18" charset="0"/>
            </a:endParaRPr>
          </a:p>
          <a:p>
            <a:pPr marL="0" indent="0">
              <a:buNone/>
            </a:pPr>
            <a:endParaRPr lang="en-GB" dirty="0">
              <a:solidFill>
                <a:srgbClr val="002060"/>
              </a:solidFill>
              <a:latin typeface="Garamond" panose="02020404030301010803" pitchFamily="18" charset="0"/>
            </a:endParaRPr>
          </a:p>
        </p:txBody>
      </p:sp>
    </p:spTree>
    <p:extLst>
      <p:ext uri="{BB962C8B-B14F-4D97-AF65-F5344CB8AC3E}">
        <p14:creationId xmlns:p14="http://schemas.microsoft.com/office/powerpoint/2010/main" val="183023855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6B55B-4564-4806-BE51-25E3259C89D4}"/>
              </a:ext>
            </a:extLst>
          </p:cNvPr>
          <p:cNvSpPr>
            <a:spLocks noGrp="1"/>
          </p:cNvSpPr>
          <p:nvPr>
            <p:ph type="title"/>
          </p:nvPr>
        </p:nvSpPr>
        <p:spPr/>
        <p:txBody>
          <a:bodyPr/>
          <a:lstStyle/>
          <a:p>
            <a:r>
              <a:rPr lang="en-GB" b="1" dirty="0" smtClean="0">
                <a:solidFill>
                  <a:srgbClr val="002060"/>
                </a:solidFill>
                <a:latin typeface="Garamond" panose="02020404030301010803" pitchFamily="18" charset="0"/>
              </a:rPr>
              <a:t>Quiz </a:t>
            </a:r>
            <a:endParaRPr lang="en-GB" b="1" dirty="0">
              <a:solidFill>
                <a:srgbClr val="002060"/>
              </a:solidFill>
              <a:latin typeface="Garamond" panose="020204040303010108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838199" y="1448972"/>
            <a:ext cx="10860157" cy="5409028"/>
          </a:xfrm>
        </p:spPr>
        <p:txBody>
          <a:bodyPr>
            <a:normAutofit/>
          </a:bodyPr>
          <a:lstStyle/>
          <a:p>
            <a:pPr marL="514350" indent="-514350">
              <a:buAutoNum type="arabicPeriod"/>
            </a:pPr>
            <a:r>
              <a:rPr lang="en-US" sz="4400" b="1" dirty="0" smtClean="0">
                <a:solidFill>
                  <a:srgbClr val="002060"/>
                </a:solidFill>
                <a:latin typeface="Garamond" panose="02020404030301010803" pitchFamily="18" charset="0"/>
              </a:rPr>
              <a:t>According to Dennis P. Hollinger in his book, </a:t>
            </a:r>
            <a:r>
              <a:rPr lang="en-US" sz="4400" b="1" i="1" dirty="0" smtClean="0">
                <a:solidFill>
                  <a:srgbClr val="002060"/>
                </a:solidFill>
                <a:latin typeface="Garamond" panose="02020404030301010803" pitchFamily="18" charset="0"/>
              </a:rPr>
              <a:t>Choosing the Good: Christian Ethics in a Complex World</a:t>
            </a:r>
            <a:r>
              <a:rPr lang="en-US" sz="4400" b="1" dirty="0" smtClean="0">
                <a:solidFill>
                  <a:srgbClr val="002060"/>
                </a:solidFill>
                <a:latin typeface="Garamond" panose="02020404030301010803" pitchFamily="18" charset="0"/>
              </a:rPr>
              <a:t>, how does Arthur Holms define ethics? (3 marks)</a:t>
            </a:r>
          </a:p>
          <a:p>
            <a:pPr marL="0" indent="0">
              <a:buNone/>
            </a:pPr>
            <a:endParaRPr lang="en-US" sz="4400" b="1" dirty="0" smtClean="0">
              <a:solidFill>
                <a:srgbClr val="002060"/>
              </a:solidFill>
              <a:latin typeface="Garamond" panose="02020404030301010803" pitchFamily="18" charset="0"/>
            </a:endParaRPr>
          </a:p>
          <a:p>
            <a:pPr marL="514350" indent="-514350">
              <a:buAutoNum type="arabicPeriod"/>
            </a:pPr>
            <a:r>
              <a:rPr lang="en-US" sz="4400" b="1" dirty="0" smtClean="0">
                <a:solidFill>
                  <a:srgbClr val="002060"/>
                </a:solidFill>
                <a:latin typeface="Garamond" panose="02020404030301010803" pitchFamily="18" charset="0"/>
              </a:rPr>
              <a:t>What distinction does the author make between ethics and morality? (2 marks)</a:t>
            </a:r>
            <a:endParaRPr lang="en-GB" sz="4400" dirty="0">
              <a:solidFill>
                <a:srgbClr val="002060"/>
              </a:solidFill>
              <a:latin typeface="Garamond" panose="02020404030301010803" pitchFamily="18" charset="0"/>
            </a:endParaRPr>
          </a:p>
        </p:txBody>
      </p:sp>
    </p:spTree>
    <p:extLst>
      <p:ext uri="{BB962C8B-B14F-4D97-AF65-F5344CB8AC3E}">
        <p14:creationId xmlns:p14="http://schemas.microsoft.com/office/powerpoint/2010/main" val="171569881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6B55B-4564-4806-BE51-25E3259C89D4}"/>
              </a:ext>
            </a:extLst>
          </p:cNvPr>
          <p:cNvSpPr>
            <a:spLocks noGrp="1"/>
          </p:cNvSpPr>
          <p:nvPr>
            <p:ph type="title"/>
          </p:nvPr>
        </p:nvSpPr>
        <p:spPr/>
        <p:txBody>
          <a:bodyPr/>
          <a:lstStyle/>
          <a:p>
            <a:r>
              <a:rPr lang="en-GB" b="1" dirty="0" smtClean="0">
                <a:solidFill>
                  <a:srgbClr val="002060"/>
                </a:solidFill>
                <a:latin typeface="Garamond" panose="02020404030301010803" pitchFamily="18" charset="0"/>
              </a:rPr>
              <a:t>Quiz </a:t>
            </a:r>
            <a:r>
              <a:rPr lang="en-GB" b="1" dirty="0" smtClean="0">
                <a:solidFill>
                  <a:srgbClr val="002060"/>
                </a:solidFill>
                <a:latin typeface="Garamond" panose="02020404030301010803" pitchFamily="18" charset="0"/>
              </a:rPr>
              <a:t> </a:t>
            </a:r>
            <a:endParaRPr lang="en-GB" b="1" dirty="0">
              <a:solidFill>
                <a:srgbClr val="002060"/>
              </a:solidFill>
              <a:latin typeface="Garamond" panose="020204040303010108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838199" y="1448972"/>
            <a:ext cx="10860157" cy="5409028"/>
          </a:xfrm>
        </p:spPr>
        <p:txBody>
          <a:bodyPr>
            <a:normAutofit/>
          </a:bodyPr>
          <a:lstStyle/>
          <a:p>
            <a:pPr marL="514350" indent="-514350">
              <a:buAutoNum type="arabicPeriod"/>
            </a:pPr>
            <a:r>
              <a:rPr lang="en-US" sz="4800" b="1" dirty="0" smtClean="0">
                <a:solidFill>
                  <a:srgbClr val="002060"/>
                </a:solidFill>
                <a:latin typeface="Garamond" panose="02020404030301010803" pitchFamily="18" charset="0"/>
              </a:rPr>
              <a:t>If normative ethics is based on established norms and standards, identify any four (4) principles that make Christian ethics normative? (8 marks)</a:t>
            </a:r>
          </a:p>
          <a:p>
            <a:pPr marL="514350" indent="-514350">
              <a:buAutoNum type="arabicPeriod"/>
            </a:pPr>
            <a:endParaRPr lang="en-US" sz="4800" b="1" dirty="0" smtClean="0">
              <a:solidFill>
                <a:srgbClr val="002060"/>
              </a:solidFill>
              <a:latin typeface="Garamond" panose="02020404030301010803" pitchFamily="18" charset="0"/>
            </a:endParaRPr>
          </a:p>
          <a:p>
            <a:pPr marL="514350" indent="-514350">
              <a:buAutoNum type="arabicPeriod"/>
            </a:pPr>
            <a:r>
              <a:rPr lang="en-US" sz="4800" b="1" dirty="0" smtClean="0">
                <a:solidFill>
                  <a:srgbClr val="002060"/>
                </a:solidFill>
                <a:latin typeface="Garamond" panose="02020404030301010803" pitchFamily="18" charset="0"/>
              </a:rPr>
              <a:t>What is Christian Ethics? (2 marks) </a:t>
            </a:r>
          </a:p>
          <a:p>
            <a:pPr marL="0" indent="0">
              <a:buNone/>
            </a:pPr>
            <a:endParaRPr lang="en-US" sz="4800" b="1" dirty="0" smtClean="0">
              <a:solidFill>
                <a:srgbClr val="002060"/>
              </a:solidFill>
              <a:latin typeface="Garamond" panose="02020404030301010803" pitchFamily="18" charset="0"/>
            </a:endParaRPr>
          </a:p>
        </p:txBody>
      </p:sp>
    </p:spTree>
    <p:extLst>
      <p:ext uri="{BB962C8B-B14F-4D97-AF65-F5344CB8AC3E}">
        <p14:creationId xmlns:p14="http://schemas.microsoft.com/office/powerpoint/2010/main" val="374648349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6B55B-4564-4806-BE51-25E3259C89D4}"/>
              </a:ext>
            </a:extLst>
          </p:cNvPr>
          <p:cNvSpPr>
            <a:spLocks noGrp="1"/>
          </p:cNvSpPr>
          <p:nvPr>
            <p:ph type="title"/>
          </p:nvPr>
        </p:nvSpPr>
        <p:spPr/>
        <p:txBody>
          <a:bodyPr/>
          <a:lstStyle/>
          <a:p>
            <a:r>
              <a:rPr lang="en-GB" b="1" dirty="0" smtClean="0">
                <a:solidFill>
                  <a:srgbClr val="002060"/>
                </a:solidFill>
                <a:latin typeface="Garamond" panose="02020404030301010803" pitchFamily="18" charset="0"/>
              </a:rPr>
              <a:t>Quiz </a:t>
            </a:r>
            <a:endParaRPr lang="en-GB" b="1" dirty="0">
              <a:solidFill>
                <a:srgbClr val="002060"/>
              </a:solidFill>
              <a:latin typeface="Garamond" panose="020204040303010108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838199" y="1448972"/>
            <a:ext cx="10860157" cy="5409028"/>
          </a:xfrm>
        </p:spPr>
        <p:txBody>
          <a:bodyPr>
            <a:normAutofit/>
          </a:bodyPr>
          <a:lstStyle/>
          <a:p>
            <a:pPr marL="514350" indent="-514350">
              <a:buAutoNum type="arabicPeriod"/>
            </a:pPr>
            <a:r>
              <a:rPr lang="en-US" sz="4800" b="1" dirty="0" smtClean="0">
                <a:solidFill>
                  <a:srgbClr val="002060"/>
                </a:solidFill>
                <a:latin typeface="Garamond" panose="02020404030301010803" pitchFamily="18" charset="0"/>
              </a:rPr>
              <a:t>What is ethics? Situate your answer in the context of your course of study. (6 marks)</a:t>
            </a:r>
          </a:p>
          <a:p>
            <a:pPr marL="514350" indent="-514350">
              <a:buAutoNum type="arabicPeriod"/>
            </a:pPr>
            <a:endParaRPr lang="en-US" sz="4800" b="1" dirty="0" smtClean="0">
              <a:solidFill>
                <a:srgbClr val="002060"/>
              </a:solidFill>
              <a:latin typeface="Garamond" panose="02020404030301010803" pitchFamily="18" charset="0"/>
            </a:endParaRPr>
          </a:p>
          <a:p>
            <a:pPr marL="514350" indent="-514350">
              <a:buAutoNum type="arabicPeriod"/>
            </a:pPr>
            <a:r>
              <a:rPr lang="en-US" sz="4800" b="1" dirty="0" smtClean="0">
                <a:solidFill>
                  <a:srgbClr val="002060"/>
                </a:solidFill>
                <a:latin typeface="Garamond" panose="02020404030301010803" pitchFamily="18" charset="0"/>
              </a:rPr>
              <a:t>Identify any four (4) reasons why the study of ethics is important in contemporary society? (4 marks) </a:t>
            </a:r>
          </a:p>
          <a:p>
            <a:pPr marL="0" indent="0">
              <a:buNone/>
            </a:pPr>
            <a:endParaRPr lang="en-US" sz="4800" b="1" dirty="0" smtClean="0">
              <a:solidFill>
                <a:srgbClr val="002060"/>
              </a:solidFill>
              <a:latin typeface="Garamond" panose="02020404030301010803" pitchFamily="18" charset="0"/>
            </a:endParaRPr>
          </a:p>
        </p:txBody>
      </p:sp>
    </p:spTree>
    <p:extLst>
      <p:ext uri="{BB962C8B-B14F-4D97-AF65-F5344CB8AC3E}">
        <p14:creationId xmlns:p14="http://schemas.microsoft.com/office/powerpoint/2010/main" val="350639777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360BDFA-6C8D-4558-BA84-7FDA30BD1D19}"/>
              </a:ext>
            </a:extLst>
          </p:cNvPr>
          <p:cNvPicPr>
            <a:picLocks noChangeAspect="1"/>
          </p:cNvPicPr>
          <p:nvPr/>
        </p:nvPicPr>
        <p:blipFill>
          <a:blip r:embed="rId2"/>
          <a:stretch>
            <a:fillRect/>
          </a:stretch>
        </p:blipFill>
        <p:spPr>
          <a:xfrm>
            <a:off x="0" y="134427"/>
            <a:ext cx="12158227" cy="6520375"/>
          </a:xfrm>
          <a:prstGeom prst="rect">
            <a:avLst/>
          </a:prstGeom>
        </p:spPr>
      </p:pic>
    </p:spTree>
    <p:extLst>
      <p:ext uri="{BB962C8B-B14F-4D97-AF65-F5344CB8AC3E}">
        <p14:creationId xmlns:p14="http://schemas.microsoft.com/office/powerpoint/2010/main" val="243809488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6B55B-4564-4806-BE51-25E3259C89D4}"/>
              </a:ext>
            </a:extLst>
          </p:cNvPr>
          <p:cNvSpPr>
            <a:spLocks noGrp="1"/>
          </p:cNvSpPr>
          <p:nvPr>
            <p:ph type="title"/>
          </p:nvPr>
        </p:nvSpPr>
        <p:spPr/>
        <p:txBody>
          <a:bodyPr/>
          <a:lstStyle/>
          <a:p>
            <a:r>
              <a:rPr lang="en-GB" b="1" dirty="0" smtClean="0">
                <a:solidFill>
                  <a:srgbClr val="002060"/>
                </a:solidFill>
                <a:latin typeface="Garamond" panose="02020404030301010803" pitchFamily="18" charset="0"/>
              </a:rPr>
              <a:t>The Nature of Ethics and Morality </a:t>
            </a:r>
            <a:endParaRPr lang="en-GB" b="1" dirty="0">
              <a:solidFill>
                <a:srgbClr val="002060"/>
              </a:solidFill>
              <a:latin typeface="Garamond" panose="020204040303010108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838200" y="1448972"/>
            <a:ext cx="10515600" cy="5409028"/>
          </a:xfrm>
        </p:spPr>
        <p:txBody>
          <a:bodyPr>
            <a:normAutofit/>
          </a:bodyPr>
          <a:lstStyle/>
          <a:p>
            <a:pPr marL="0" indent="0">
              <a:buNone/>
            </a:pPr>
            <a:r>
              <a:rPr lang="en-US" b="1" dirty="0" smtClean="0">
                <a:solidFill>
                  <a:srgbClr val="002060"/>
                </a:solidFill>
                <a:latin typeface="Garamond" panose="02020404030301010803" pitchFamily="18" charset="0"/>
              </a:rPr>
              <a:t>Morality is the innate sense of </a:t>
            </a:r>
            <a:r>
              <a:rPr lang="en-US" b="1" dirty="0" err="1" smtClean="0">
                <a:solidFill>
                  <a:srgbClr val="002060"/>
                </a:solidFill>
                <a:latin typeface="Garamond" panose="02020404030301010803" pitchFamily="18" charset="0"/>
              </a:rPr>
              <a:t>oughtness</a:t>
            </a:r>
            <a:r>
              <a:rPr lang="en-US" b="1" dirty="0" smtClean="0">
                <a:solidFill>
                  <a:srgbClr val="002060"/>
                </a:solidFill>
                <a:latin typeface="Garamond" panose="02020404030301010803" pitchFamily="18" charset="0"/>
              </a:rPr>
              <a:t> and obligation. </a:t>
            </a:r>
            <a:r>
              <a:rPr lang="en-US" dirty="0" smtClean="0">
                <a:solidFill>
                  <a:srgbClr val="002060"/>
                </a:solidFill>
                <a:latin typeface="Garamond" panose="02020404030301010803" pitchFamily="18" charset="0"/>
              </a:rPr>
              <a:t>Morality involves decisions in which the actor is aware of that his/her choice may be better or worse than another, but not from a functional standpoint but from the sense that we feel obligation, right and wrong. </a:t>
            </a:r>
          </a:p>
          <a:p>
            <a:pPr marL="0" indent="0">
              <a:buNone/>
            </a:pPr>
            <a:endParaRPr lang="en-US" sz="1400" dirty="0">
              <a:solidFill>
                <a:srgbClr val="002060"/>
              </a:solidFill>
              <a:latin typeface="Garamond" panose="02020404030301010803" pitchFamily="18" charset="0"/>
            </a:endParaRPr>
          </a:p>
          <a:p>
            <a:pPr marL="0" indent="0">
              <a:buNone/>
            </a:pPr>
            <a:r>
              <a:rPr lang="en-US" dirty="0" smtClean="0">
                <a:solidFill>
                  <a:srgbClr val="002060"/>
                </a:solidFill>
                <a:latin typeface="Garamond" panose="02020404030301010803" pitchFamily="18" charset="0"/>
              </a:rPr>
              <a:t>Yet, not all choices in life are moral. </a:t>
            </a:r>
          </a:p>
          <a:p>
            <a:pPr marL="0" indent="0">
              <a:buNone/>
            </a:pPr>
            <a:endParaRPr lang="en-US" sz="1200" dirty="0">
              <a:solidFill>
                <a:srgbClr val="002060"/>
              </a:solidFill>
              <a:latin typeface="Garamond" panose="02020404030301010803" pitchFamily="18" charset="0"/>
            </a:endParaRPr>
          </a:p>
          <a:p>
            <a:pPr marL="0" indent="0">
              <a:buNone/>
            </a:pPr>
            <a:r>
              <a:rPr lang="en-US" b="1" dirty="0" smtClean="0">
                <a:solidFill>
                  <a:srgbClr val="002060"/>
                </a:solidFill>
                <a:latin typeface="Garamond" panose="02020404030301010803" pitchFamily="18" charset="0"/>
              </a:rPr>
              <a:t>Morality elicits a sense of </a:t>
            </a:r>
            <a:r>
              <a:rPr lang="en-US" b="1" dirty="0" err="1" smtClean="0">
                <a:solidFill>
                  <a:srgbClr val="002060"/>
                </a:solidFill>
                <a:latin typeface="Garamond" panose="02020404030301010803" pitchFamily="18" charset="0"/>
              </a:rPr>
              <a:t>oughtness</a:t>
            </a:r>
            <a:r>
              <a:rPr lang="en-US" b="1" dirty="0" smtClean="0">
                <a:solidFill>
                  <a:srgbClr val="002060"/>
                </a:solidFill>
                <a:latin typeface="Garamond" panose="02020404030301010803" pitchFamily="18" charset="0"/>
              </a:rPr>
              <a:t> and obligation. </a:t>
            </a:r>
          </a:p>
          <a:p>
            <a:pPr marL="0" indent="0">
              <a:buNone/>
            </a:pPr>
            <a:r>
              <a:rPr lang="en-US" dirty="0" smtClean="0">
                <a:solidFill>
                  <a:srgbClr val="002060"/>
                </a:solidFill>
                <a:latin typeface="Garamond" panose="02020404030301010803" pitchFamily="18" charset="0"/>
              </a:rPr>
              <a:t>The nature of ethics and morality in the everyday experiences of the individual are those that carry the question that have to do with right, wrong, conscience, obligation and commitments that touch the core of who the individual is as a person. </a:t>
            </a:r>
            <a:endParaRPr lang="en-GB" dirty="0">
              <a:solidFill>
                <a:srgbClr val="002060"/>
              </a:solidFill>
              <a:latin typeface="Garamond" panose="02020404030301010803" pitchFamily="18" charset="0"/>
            </a:endParaRPr>
          </a:p>
        </p:txBody>
      </p:sp>
    </p:spTree>
    <p:extLst>
      <p:ext uri="{BB962C8B-B14F-4D97-AF65-F5344CB8AC3E}">
        <p14:creationId xmlns:p14="http://schemas.microsoft.com/office/powerpoint/2010/main" val="300064413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6B55B-4564-4806-BE51-25E3259C89D4}"/>
              </a:ext>
            </a:extLst>
          </p:cNvPr>
          <p:cNvSpPr>
            <a:spLocks noGrp="1"/>
          </p:cNvSpPr>
          <p:nvPr>
            <p:ph type="title"/>
          </p:nvPr>
        </p:nvSpPr>
        <p:spPr/>
        <p:txBody>
          <a:bodyPr/>
          <a:lstStyle/>
          <a:p>
            <a:r>
              <a:rPr lang="en-GB" b="1" dirty="0" smtClean="0">
                <a:solidFill>
                  <a:srgbClr val="002060"/>
                </a:solidFill>
                <a:latin typeface="Garamond" panose="02020404030301010803" pitchFamily="18" charset="0"/>
              </a:rPr>
              <a:t>Moral vs Amoral Issues </a:t>
            </a:r>
            <a:endParaRPr lang="en-GB" b="1" dirty="0">
              <a:solidFill>
                <a:srgbClr val="002060"/>
              </a:solidFill>
              <a:latin typeface="Garamond" panose="020204040303010108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838200" y="1448972"/>
            <a:ext cx="10515600" cy="5409028"/>
          </a:xfrm>
        </p:spPr>
        <p:txBody>
          <a:bodyPr>
            <a:normAutofit fontScale="92500" lnSpcReduction="20000"/>
          </a:bodyPr>
          <a:lstStyle/>
          <a:p>
            <a:pPr marL="0" indent="0">
              <a:buNone/>
            </a:pPr>
            <a:r>
              <a:rPr lang="en-US" b="1" dirty="0" smtClean="0">
                <a:solidFill>
                  <a:srgbClr val="002060"/>
                </a:solidFill>
                <a:latin typeface="Garamond" panose="02020404030301010803" pitchFamily="18" charset="0"/>
              </a:rPr>
              <a:t>There is the tendency of turning moral issues into amoral ones. </a:t>
            </a:r>
          </a:p>
          <a:p>
            <a:pPr marL="0" indent="0">
              <a:buNone/>
            </a:pPr>
            <a:r>
              <a:rPr lang="en-US" dirty="0" smtClean="0">
                <a:solidFill>
                  <a:srgbClr val="002060"/>
                </a:solidFill>
                <a:latin typeface="Garamond" panose="02020404030301010803" pitchFamily="18" charset="0"/>
              </a:rPr>
              <a:t>When people argue that their decisions and choices are merely personal and that they lie outside the purview of ethics, the possibility of turning the moral implications of those so-called personal choices and decisions into amoral issues becomes apparent. </a:t>
            </a:r>
          </a:p>
          <a:p>
            <a:pPr marL="0" indent="0">
              <a:buNone/>
            </a:pPr>
            <a:r>
              <a:rPr lang="en-US" dirty="0" smtClean="0">
                <a:solidFill>
                  <a:srgbClr val="002060"/>
                </a:solidFill>
                <a:latin typeface="Garamond" panose="02020404030301010803" pitchFamily="18" charset="0"/>
              </a:rPr>
              <a:t>Examples: </a:t>
            </a:r>
          </a:p>
          <a:p>
            <a:pPr marL="514350" indent="-514350">
              <a:buAutoNum type="arabicPeriod"/>
            </a:pPr>
            <a:r>
              <a:rPr lang="en-US" dirty="0" smtClean="0">
                <a:solidFill>
                  <a:srgbClr val="002060"/>
                </a:solidFill>
                <a:latin typeface="Garamond" panose="02020404030301010803" pitchFamily="18" charset="0"/>
              </a:rPr>
              <a:t>Euthanasia/physician-assisted suicide </a:t>
            </a:r>
          </a:p>
          <a:p>
            <a:pPr marL="514350" indent="-514350">
              <a:buAutoNum type="arabicPeriod"/>
            </a:pPr>
            <a:r>
              <a:rPr lang="en-US" dirty="0" smtClean="0">
                <a:solidFill>
                  <a:srgbClr val="002060"/>
                </a:solidFill>
                <a:latin typeface="Garamond" panose="02020404030301010803" pitchFamily="18" charset="0"/>
              </a:rPr>
              <a:t>Abortion </a:t>
            </a:r>
          </a:p>
          <a:p>
            <a:pPr marL="514350" indent="-514350">
              <a:buAutoNum type="arabicPeriod"/>
            </a:pPr>
            <a:r>
              <a:rPr lang="en-US" dirty="0" smtClean="0">
                <a:solidFill>
                  <a:srgbClr val="002060"/>
                </a:solidFill>
                <a:latin typeface="Garamond" panose="02020404030301010803" pitchFamily="18" charset="0"/>
              </a:rPr>
              <a:t>Gunsmith </a:t>
            </a:r>
          </a:p>
          <a:p>
            <a:pPr marL="514350" indent="-514350">
              <a:buAutoNum type="arabicPeriod"/>
            </a:pPr>
            <a:r>
              <a:rPr lang="en-US" dirty="0" smtClean="0">
                <a:solidFill>
                  <a:srgbClr val="002060"/>
                </a:solidFill>
                <a:latin typeface="Garamond" panose="02020404030301010803" pitchFamily="18" charset="0"/>
              </a:rPr>
              <a:t>Galamsey </a:t>
            </a:r>
            <a:endParaRPr lang="en-US" dirty="0">
              <a:solidFill>
                <a:srgbClr val="002060"/>
              </a:solidFill>
              <a:latin typeface="Garamond" panose="02020404030301010803" pitchFamily="18" charset="0"/>
            </a:endParaRPr>
          </a:p>
          <a:p>
            <a:r>
              <a:rPr lang="en-US" dirty="0" smtClean="0">
                <a:solidFill>
                  <a:srgbClr val="002060"/>
                </a:solidFill>
                <a:latin typeface="Garamond" panose="02020404030301010803" pitchFamily="18" charset="0"/>
              </a:rPr>
              <a:t>Despite the amoral tendencies, a question of morality arises from personal, institutional and social lines in terms of rightness or wrongness of these. </a:t>
            </a:r>
          </a:p>
          <a:p>
            <a:pPr lvl="1"/>
            <a:r>
              <a:rPr lang="en-US" b="1" dirty="0" smtClean="0">
                <a:solidFill>
                  <a:srgbClr val="002060"/>
                </a:solidFill>
                <a:latin typeface="Garamond" panose="02020404030301010803" pitchFamily="18" charset="0"/>
              </a:rPr>
              <a:t>Morality is note merely about the big decisions but also about the little </a:t>
            </a:r>
            <a:r>
              <a:rPr lang="en-US" b="1" dirty="0" err="1" smtClean="0">
                <a:solidFill>
                  <a:srgbClr val="002060"/>
                </a:solidFill>
                <a:latin typeface="Garamond" panose="02020404030301010803" pitchFamily="18" charset="0"/>
              </a:rPr>
              <a:t>little</a:t>
            </a:r>
            <a:r>
              <a:rPr lang="en-US" b="1" dirty="0" smtClean="0">
                <a:solidFill>
                  <a:srgbClr val="002060"/>
                </a:solidFill>
                <a:latin typeface="Garamond" panose="02020404030301010803" pitchFamily="18" charset="0"/>
              </a:rPr>
              <a:t> everyday decisions and choices in relation to God, the self, others, culture and the entire world.  </a:t>
            </a:r>
          </a:p>
        </p:txBody>
      </p:sp>
    </p:spTree>
    <p:extLst>
      <p:ext uri="{BB962C8B-B14F-4D97-AF65-F5344CB8AC3E}">
        <p14:creationId xmlns:p14="http://schemas.microsoft.com/office/powerpoint/2010/main" val="288383583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6B55B-4564-4806-BE51-25E3259C89D4}"/>
              </a:ext>
            </a:extLst>
          </p:cNvPr>
          <p:cNvSpPr>
            <a:spLocks noGrp="1"/>
          </p:cNvSpPr>
          <p:nvPr>
            <p:ph type="title"/>
          </p:nvPr>
        </p:nvSpPr>
        <p:spPr/>
        <p:txBody>
          <a:bodyPr/>
          <a:lstStyle/>
          <a:p>
            <a:r>
              <a:rPr lang="en-GB" b="1" dirty="0" smtClean="0">
                <a:solidFill>
                  <a:srgbClr val="002060"/>
                </a:solidFill>
                <a:latin typeface="Garamond" panose="02020404030301010803" pitchFamily="18" charset="0"/>
              </a:rPr>
              <a:t>Moral vs Amoral Issues </a:t>
            </a:r>
            <a:endParaRPr lang="en-GB" b="1" dirty="0">
              <a:solidFill>
                <a:srgbClr val="002060"/>
              </a:solidFill>
              <a:latin typeface="Garamond" panose="020204040303010108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838200" y="1448972"/>
            <a:ext cx="10515600" cy="5409028"/>
          </a:xfrm>
        </p:spPr>
        <p:txBody>
          <a:bodyPr>
            <a:normAutofit lnSpcReduction="10000"/>
          </a:bodyPr>
          <a:lstStyle/>
          <a:p>
            <a:pPr marL="0" indent="0">
              <a:buNone/>
            </a:pPr>
            <a:r>
              <a:rPr lang="en-US" dirty="0" smtClean="0">
                <a:solidFill>
                  <a:srgbClr val="002060"/>
                </a:solidFill>
                <a:latin typeface="Garamond" panose="02020404030301010803" pitchFamily="18" charset="0"/>
              </a:rPr>
              <a:t>From the foregoing, we can say that ethics is more of a normative discipline rather than a descriptive discipline.  </a:t>
            </a:r>
          </a:p>
          <a:p>
            <a:r>
              <a:rPr lang="en-US" dirty="0" smtClean="0">
                <a:solidFill>
                  <a:srgbClr val="002060"/>
                </a:solidFill>
                <a:latin typeface="Garamond" panose="02020404030301010803" pitchFamily="18" charset="0"/>
              </a:rPr>
              <a:t>The descriptive fields of study are those that recount human and institutional behavior in various spheres such as psychology, sociology, anthropology, economics, history, and political science. </a:t>
            </a:r>
          </a:p>
          <a:p>
            <a:r>
              <a:rPr lang="en-US" dirty="0" smtClean="0">
                <a:solidFill>
                  <a:srgbClr val="002060"/>
                </a:solidFill>
                <a:latin typeface="Garamond" panose="02020404030301010803" pitchFamily="18" charset="0"/>
              </a:rPr>
              <a:t>Ethics is normative and prescriptive in that it attempts to </a:t>
            </a:r>
            <a:r>
              <a:rPr lang="en-US" b="1" dirty="0" smtClean="0">
                <a:solidFill>
                  <a:srgbClr val="002060"/>
                </a:solidFill>
                <a:latin typeface="Garamond" panose="02020404030301010803" pitchFamily="18" charset="0"/>
              </a:rPr>
              <a:t>establish norms, standards, and perspectives that guide human and institutional behavior and character.</a:t>
            </a:r>
          </a:p>
          <a:p>
            <a:r>
              <a:rPr lang="en-US" b="1" dirty="0" smtClean="0">
                <a:solidFill>
                  <a:srgbClr val="002060"/>
                </a:solidFill>
                <a:latin typeface="Garamond" panose="02020404030301010803" pitchFamily="18" charset="0"/>
              </a:rPr>
              <a:t>In ethics, right means something different from correct. </a:t>
            </a:r>
          </a:p>
          <a:p>
            <a:r>
              <a:rPr lang="en-US" dirty="0" smtClean="0">
                <a:solidFill>
                  <a:srgbClr val="002060"/>
                </a:solidFill>
                <a:latin typeface="Garamond" panose="02020404030301010803" pitchFamily="18" charset="0"/>
              </a:rPr>
              <a:t>Ethics emerge when we move beyond being directed by tradition or cultural rules  and expectations and begin to reflect on what we ought to do and to be. It is a conscious attempt to analyze the moral situation and options that confronts us and to designate  the moral good in the midst of the options. </a:t>
            </a:r>
          </a:p>
        </p:txBody>
      </p:sp>
    </p:spTree>
    <p:extLst>
      <p:ext uri="{BB962C8B-B14F-4D97-AF65-F5344CB8AC3E}">
        <p14:creationId xmlns:p14="http://schemas.microsoft.com/office/powerpoint/2010/main" val="151794694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p:txBody>
          <a:bodyPr>
            <a:normAutofit/>
          </a:bodyPr>
          <a:lstStyle/>
          <a:p>
            <a:r>
              <a:rPr lang="en-US" b="1" dirty="0" smtClean="0">
                <a:solidFill>
                  <a:srgbClr val="002060"/>
                </a:solidFill>
                <a:latin typeface="Garamond" panose="02020404030301010803" pitchFamily="18" charset="0"/>
              </a:rPr>
              <a:t>Sources of Ethics </a:t>
            </a:r>
            <a:endParaRPr lang="en-US" b="1" dirty="0">
              <a:solidFill>
                <a:srgbClr val="002060"/>
              </a:solidFill>
              <a:latin typeface="Garamond" panose="020204040303010108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p:txBody>
          <a:bodyPr>
            <a:normAutofit/>
          </a:bodyPr>
          <a:lstStyle/>
          <a:p>
            <a:pPr marL="0" indent="0">
              <a:buNone/>
            </a:pPr>
            <a:r>
              <a:rPr lang="en-US" sz="4000" dirty="0" smtClean="0">
                <a:solidFill>
                  <a:srgbClr val="002060"/>
                </a:solidFill>
                <a:latin typeface="Garamond" panose="02020404030301010803" pitchFamily="18" charset="0"/>
              </a:rPr>
              <a:t>As a philosophical discipline, ethics may be sourced from</a:t>
            </a:r>
          </a:p>
          <a:p>
            <a:pPr marL="1200150" lvl="1" indent="-742950">
              <a:buAutoNum type="alphaLcPeriod"/>
            </a:pPr>
            <a:r>
              <a:rPr lang="en-US" sz="3600" dirty="0" smtClean="0">
                <a:solidFill>
                  <a:srgbClr val="002060"/>
                </a:solidFill>
                <a:latin typeface="Garamond" panose="02020404030301010803" pitchFamily="18" charset="0"/>
              </a:rPr>
              <a:t>Religion </a:t>
            </a:r>
          </a:p>
          <a:p>
            <a:pPr marL="1200150" lvl="1" indent="-742950">
              <a:buAutoNum type="alphaLcPeriod"/>
            </a:pPr>
            <a:r>
              <a:rPr lang="en-US" sz="3600" dirty="0" smtClean="0">
                <a:solidFill>
                  <a:srgbClr val="002060"/>
                </a:solidFill>
                <a:latin typeface="Garamond" panose="02020404030301010803" pitchFamily="18" charset="0"/>
              </a:rPr>
              <a:t>Cultural experience </a:t>
            </a:r>
          </a:p>
          <a:p>
            <a:pPr marL="1200150" lvl="1" indent="-742950">
              <a:buAutoNum type="alphaLcPeriod"/>
            </a:pPr>
            <a:r>
              <a:rPr lang="en-US" sz="3600" dirty="0" smtClean="0">
                <a:solidFill>
                  <a:srgbClr val="002060"/>
                </a:solidFill>
                <a:latin typeface="Garamond" panose="02020404030301010803" pitchFamily="18" charset="0"/>
              </a:rPr>
              <a:t>Tradition/norms/codes</a:t>
            </a:r>
          </a:p>
          <a:p>
            <a:pPr marL="1200150" lvl="1" indent="-742950">
              <a:buAutoNum type="alphaLcPeriod"/>
            </a:pPr>
            <a:r>
              <a:rPr lang="en-US" sz="3600" dirty="0" smtClean="0">
                <a:solidFill>
                  <a:srgbClr val="002060"/>
                </a:solidFill>
                <a:latin typeface="Garamond" panose="02020404030301010803" pitchFamily="18" charset="0"/>
              </a:rPr>
              <a:t>Law and legal systems </a:t>
            </a:r>
          </a:p>
          <a:p>
            <a:pPr marL="1200150" lvl="1" indent="-742950">
              <a:buAutoNum type="alphaLcPeriod"/>
            </a:pPr>
            <a:r>
              <a:rPr lang="en-US" sz="3600" dirty="0" smtClean="0">
                <a:solidFill>
                  <a:srgbClr val="002060"/>
                </a:solidFill>
                <a:latin typeface="Garamond" panose="02020404030301010803" pitchFamily="18" charset="0"/>
              </a:rPr>
              <a:t>Philosophy </a:t>
            </a:r>
            <a:endParaRPr lang="en-GB" sz="3600" dirty="0">
              <a:solidFill>
                <a:srgbClr val="002060"/>
              </a:solidFill>
              <a:latin typeface="Garamond" panose="02020404030301010803" pitchFamily="18" charset="0"/>
            </a:endParaRPr>
          </a:p>
        </p:txBody>
      </p:sp>
    </p:spTree>
    <p:extLst>
      <p:ext uri="{BB962C8B-B14F-4D97-AF65-F5344CB8AC3E}">
        <p14:creationId xmlns:p14="http://schemas.microsoft.com/office/powerpoint/2010/main" val="248513186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p:txBody>
          <a:bodyPr>
            <a:normAutofit/>
          </a:bodyPr>
          <a:lstStyle/>
          <a:p>
            <a:r>
              <a:rPr lang="en-US" b="1" dirty="0" smtClean="0">
                <a:solidFill>
                  <a:srgbClr val="002060"/>
                </a:solidFill>
                <a:latin typeface="Garamond" panose="02020404030301010803" pitchFamily="18" charset="0"/>
              </a:rPr>
              <a:t>Sources of Christian Ethics </a:t>
            </a:r>
            <a:endParaRPr lang="en-US" b="1" dirty="0">
              <a:solidFill>
                <a:srgbClr val="002060"/>
              </a:solidFill>
              <a:latin typeface="Garamond" panose="020204040303010108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p:txBody>
          <a:bodyPr>
            <a:normAutofit/>
          </a:bodyPr>
          <a:lstStyle/>
          <a:p>
            <a:pPr marL="0" indent="0">
              <a:buNone/>
            </a:pPr>
            <a:r>
              <a:rPr lang="en-US" sz="4000" dirty="0" smtClean="0">
                <a:solidFill>
                  <a:srgbClr val="002060"/>
                </a:solidFill>
                <a:latin typeface="Garamond" panose="02020404030301010803" pitchFamily="18" charset="0"/>
              </a:rPr>
              <a:t>Christian ethics however is derived from 4 sources namely;</a:t>
            </a:r>
          </a:p>
          <a:p>
            <a:pPr marL="1200150" lvl="1" indent="-742950">
              <a:buAutoNum type="alphaLcPeriod"/>
            </a:pPr>
            <a:r>
              <a:rPr lang="en-US" sz="3600" dirty="0" smtClean="0">
                <a:solidFill>
                  <a:srgbClr val="002060"/>
                </a:solidFill>
                <a:latin typeface="Garamond" panose="02020404030301010803" pitchFamily="18" charset="0"/>
              </a:rPr>
              <a:t>Scripture  </a:t>
            </a:r>
          </a:p>
          <a:p>
            <a:pPr marL="1200150" lvl="1" indent="-742950">
              <a:buAutoNum type="alphaLcPeriod"/>
            </a:pPr>
            <a:r>
              <a:rPr lang="en-US" sz="3600" dirty="0" smtClean="0">
                <a:solidFill>
                  <a:srgbClr val="002060"/>
                </a:solidFill>
                <a:latin typeface="Garamond" panose="02020404030301010803" pitchFamily="18" charset="0"/>
              </a:rPr>
              <a:t>Tradition</a:t>
            </a:r>
          </a:p>
          <a:p>
            <a:pPr marL="1200150" lvl="1" indent="-742950">
              <a:buAutoNum type="alphaLcPeriod"/>
            </a:pPr>
            <a:r>
              <a:rPr lang="en-US" sz="3600" dirty="0" smtClean="0">
                <a:solidFill>
                  <a:srgbClr val="002060"/>
                </a:solidFill>
                <a:latin typeface="Garamond" panose="02020404030301010803" pitchFamily="18" charset="0"/>
              </a:rPr>
              <a:t>Reason </a:t>
            </a:r>
          </a:p>
          <a:p>
            <a:pPr marL="1200150" lvl="1" indent="-742950">
              <a:buAutoNum type="alphaLcPeriod"/>
            </a:pPr>
            <a:r>
              <a:rPr lang="en-US" sz="3600" dirty="0" smtClean="0">
                <a:solidFill>
                  <a:srgbClr val="002060"/>
                </a:solidFill>
                <a:latin typeface="Garamond" panose="02020404030301010803" pitchFamily="18" charset="0"/>
              </a:rPr>
              <a:t>Experience  </a:t>
            </a:r>
            <a:endParaRPr lang="en-GB" sz="3600" dirty="0">
              <a:solidFill>
                <a:srgbClr val="002060"/>
              </a:solidFill>
              <a:latin typeface="Garamond" panose="02020404030301010803" pitchFamily="18" charset="0"/>
            </a:endParaRPr>
          </a:p>
        </p:txBody>
      </p:sp>
    </p:spTree>
    <p:extLst>
      <p:ext uri="{BB962C8B-B14F-4D97-AF65-F5344CB8AC3E}">
        <p14:creationId xmlns:p14="http://schemas.microsoft.com/office/powerpoint/2010/main" val="117478301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p:txBody>
          <a:bodyPr/>
          <a:lstStyle/>
          <a:p>
            <a:r>
              <a:rPr lang="en-US" sz="4000" b="1" dirty="0">
                <a:solidFill>
                  <a:srgbClr val="002060"/>
                </a:solidFill>
                <a:latin typeface="Garamond" panose="02020404030301010803" pitchFamily="18" charset="0"/>
              </a:rPr>
              <a:t>Christian Ethics and Philosophical Ethics </a:t>
            </a:r>
            <a:r>
              <a:rPr lang="en-GB" sz="4000" b="1" dirty="0">
                <a:solidFill>
                  <a:srgbClr val="002060"/>
                </a:solidFill>
                <a:latin typeface="Garamond" panose="02020404030301010803" pitchFamily="18" charset="0"/>
              </a:rPr>
              <a:t/>
            </a:r>
            <a:br>
              <a:rPr lang="en-GB" sz="4000" b="1" dirty="0">
                <a:solidFill>
                  <a:srgbClr val="002060"/>
                </a:solidFill>
                <a:latin typeface="Garamond" panose="02020404030301010803" pitchFamily="18" charset="0"/>
              </a:rPr>
            </a:br>
            <a:endParaRPr lang="en-US" sz="4000" b="1" dirty="0">
              <a:solidFill>
                <a:srgbClr val="002060"/>
              </a:solidFill>
              <a:latin typeface="Garamond" panose="020204040303010108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06286" y="1433739"/>
            <a:ext cx="10047514" cy="4351338"/>
          </a:xfrm>
        </p:spPr>
        <p:txBody>
          <a:bodyPr>
            <a:normAutofit lnSpcReduction="10000"/>
          </a:bodyPr>
          <a:lstStyle/>
          <a:p>
            <a:pPr marL="0" indent="0">
              <a:buNone/>
            </a:pPr>
            <a:r>
              <a:rPr lang="en-US" sz="3600" dirty="0">
                <a:solidFill>
                  <a:srgbClr val="002060"/>
                </a:solidFill>
                <a:latin typeface="Garamond" panose="02020404030301010803" pitchFamily="18" charset="0"/>
              </a:rPr>
              <a:t>Christian ethics refers to the principles derived from the Christian faith by which we act. </a:t>
            </a:r>
          </a:p>
          <a:p>
            <a:pPr marL="0" indent="0">
              <a:buNone/>
            </a:pPr>
            <a:r>
              <a:rPr lang="en-US" sz="3200" dirty="0">
                <a:solidFill>
                  <a:srgbClr val="002060"/>
                </a:solidFill>
                <a:latin typeface="Garamond" panose="02020404030301010803" pitchFamily="18" charset="0"/>
              </a:rPr>
              <a:t>It is a branch of Christian theology that defines concepts of right (virtuous) and wrong (sinful) behavior from a Christian perspective. </a:t>
            </a:r>
          </a:p>
          <a:p>
            <a:pPr marL="0" indent="0">
              <a:buNone/>
            </a:pPr>
            <a:r>
              <a:rPr lang="en-US" sz="3200" dirty="0">
                <a:solidFill>
                  <a:srgbClr val="002060"/>
                </a:solidFill>
                <a:latin typeface="Garamond" panose="02020404030301010803" pitchFamily="18" charset="0"/>
              </a:rPr>
              <a:t>While God’s Word may not cover every situation we face throughout our lives, its principles give us the standards by which we must conduct ourselves in those situations where there are no explicit instructions.</a:t>
            </a:r>
            <a:endParaRPr lang="en-GB" sz="3200" dirty="0">
              <a:solidFill>
                <a:srgbClr val="002060"/>
              </a:solidFill>
              <a:latin typeface="Garamond" panose="02020404030301010803" pitchFamily="18" charset="0"/>
            </a:endParaRPr>
          </a:p>
          <a:p>
            <a:endParaRPr lang="en-GB" sz="3600" dirty="0">
              <a:solidFill>
                <a:srgbClr val="002060"/>
              </a:solidFill>
              <a:latin typeface="Garamond" panose="02020404030301010803" pitchFamily="18" charset="0"/>
            </a:endParaRPr>
          </a:p>
        </p:txBody>
      </p:sp>
    </p:spTree>
    <p:extLst>
      <p:ext uri="{BB962C8B-B14F-4D97-AF65-F5344CB8AC3E}">
        <p14:creationId xmlns:p14="http://schemas.microsoft.com/office/powerpoint/2010/main" val="311363576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838200" y="914400"/>
            <a:ext cx="10515600" cy="5262563"/>
          </a:xfrm>
        </p:spPr>
        <p:txBody>
          <a:bodyPr>
            <a:normAutofit lnSpcReduction="10000"/>
          </a:bodyPr>
          <a:lstStyle/>
          <a:p>
            <a:pPr marL="0" indent="0">
              <a:buNone/>
            </a:pPr>
            <a:r>
              <a:rPr lang="en-US" sz="3600" dirty="0">
                <a:solidFill>
                  <a:srgbClr val="002060"/>
                </a:solidFill>
                <a:latin typeface="Garamond" panose="02020404030301010803" pitchFamily="18" charset="0"/>
              </a:rPr>
              <a:t>Christian ethics is well summarized by Colossians 3:1-6: </a:t>
            </a:r>
          </a:p>
          <a:p>
            <a:pPr marL="530352" lvl="1" indent="0">
              <a:buNone/>
            </a:pPr>
            <a:r>
              <a:rPr lang="en-US" sz="3200" i="1" dirty="0">
                <a:solidFill>
                  <a:srgbClr val="002060"/>
                </a:solidFill>
                <a:latin typeface="Garamond" panose="02020404030301010803" pitchFamily="18" charset="0"/>
              </a:rPr>
              <a:t>“Since, then, you have been raised with Christ, set your hearts on things above, where Christ is seated at the right hand of God. Set your minds on things above, not on earthly things. For you died, and your life is now hidden with Christ in God. When Christ, who is your life, appears, then you also will appear with him in glory. Put to death, therefore, whatever belongs to your earthly nature: sexual immorality, impurity, lust, evil desires and greed, which is idolatry. Because of these, the wrath of God is coming.” </a:t>
            </a:r>
          </a:p>
          <a:p>
            <a:pPr marL="0" indent="0">
              <a:buNone/>
            </a:pPr>
            <a:r>
              <a:rPr lang="en-US" sz="3600" dirty="0">
                <a:solidFill>
                  <a:srgbClr val="002060"/>
                </a:solidFill>
                <a:latin typeface="Garamond" panose="02020404030301010803" pitchFamily="18" charset="0"/>
              </a:rPr>
              <a:t>This implies that Christians focus on Jesus and what His requirements or expectations of humanity. Focusing on Jesus will enable Christians eschew all sorts of immorality. </a:t>
            </a:r>
            <a:endParaRPr lang="en-GB" sz="3600" dirty="0">
              <a:solidFill>
                <a:srgbClr val="002060"/>
              </a:solidFill>
              <a:latin typeface="Garamond" panose="02020404030301010803" pitchFamily="18" charset="0"/>
            </a:endParaRPr>
          </a:p>
          <a:p>
            <a:endParaRPr lang="en-GB" sz="3600" dirty="0">
              <a:solidFill>
                <a:srgbClr val="002060"/>
              </a:solidFill>
              <a:latin typeface="Garamond" panose="02020404030301010803" pitchFamily="18" charset="0"/>
            </a:endParaRPr>
          </a:p>
        </p:txBody>
      </p:sp>
    </p:spTree>
    <p:extLst>
      <p:ext uri="{BB962C8B-B14F-4D97-AF65-F5344CB8AC3E}">
        <p14:creationId xmlns:p14="http://schemas.microsoft.com/office/powerpoint/2010/main" val="383479729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675249"/>
            <a:ext cx="9825487" cy="5192151"/>
          </a:xfrm>
        </p:spPr>
        <p:txBody>
          <a:bodyPr>
            <a:normAutofit fontScale="92500"/>
          </a:bodyPr>
          <a:lstStyle/>
          <a:p>
            <a:pPr marL="0" indent="0">
              <a:buNone/>
            </a:pPr>
            <a:r>
              <a:rPr lang="en-US" dirty="0">
                <a:solidFill>
                  <a:srgbClr val="002060"/>
                </a:solidFill>
                <a:latin typeface="Garamond" panose="02020404030301010803" pitchFamily="18" charset="0"/>
              </a:rPr>
              <a:t>Considering the defining features of Christian Ethics, one may adduce that it shares a characteristic with non-Christian or philosophical Ethics. </a:t>
            </a:r>
          </a:p>
          <a:p>
            <a:pPr marL="0" indent="0">
              <a:buNone/>
            </a:pPr>
            <a:r>
              <a:rPr lang="en-US" dirty="0">
                <a:solidFill>
                  <a:srgbClr val="002060"/>
                </a:solidFill>
                <a:latin typeface="Garamond" panose="02020404030301010803" pitchFamily="18" charset="0"/>
              </a:rPr>
              <a:t>Both forms of ethics are  principles that regulate human behavior in relation to others. However, a difference between Christian Ethics and philosophical Ethics can be identified (Crittenden, 1990). </a:t>
            </a:r>
          </a:p>
          <a:p>
            <a:r>
              <a:rPr lang="en-US" dirty="0">
                <a:solidFill>
                  <a:srgbClr val="002060"/>
                </a:solidFill>
                <a:latin typeface="Garamond" panose="02020404030301010803" pitchFamily="18" charset="0"/>
              </a:rPr>
              <a:t>Christian Ethics are based on values that are derived from God. It is a form of </a:t>
            </a:r>
            <a:r>
              <a:rPr lang="en-US" b="1" dirty="0">
                <a:solidFill>
                  <a:srgbClr val="002060"/>
                </a:solidFill>
                <a:latin typeface="Garamond" panose="02020404030301010803" pitchFamily="18" charset="0"/>
              </a:rPr>
              <a:t>Divine Command </a:t>
            </a:r>
            <a:r>
              <a:rPr lang="en-US" dirty="0">
                <a:solidFill>
                  <a:srgbClr val="002060"/>
                </a:solidFill>
                <a:latin typeface="Garamond" panose="02020404030301010803" pitchFamily="18" charset="0"/>
              </a:rPr>
              <a:t>that is dependent upon God's will and purposes for the human race. God commands what is good and prohibits what is evil (Heidt, 2010). </a:t>
            </a:r>
          </a:p>
          <a:p>
            <a:r>
              <a:rPr lang="en-US" dirty="0">
                <a:solidFill>
                  <a:srgbClr val="002060"/>
                </a:solidFill>
                <a:latin typeface="Garamond" panose="02020404030301010803" pitchFamily="18" charset="0"/>
              </a:rPr>
              <a:t>As such Christian Ethics seeks to apply the essence of Christian theology to the act of decision-making. In so doing, Christian Ethics shows up as participation in the life of God Himself (</a:t>
            </a:r>
            <a:r>
              <a:rPr lang="en-US" dirty="0" err="1">
                <a:solidFill>
                  <a:srgbClr val="002060"/>
                </a:solidFill>
                <a:latin typeface="Garamond" panose="02020404030301010803" pitchFamily="18" charset="0"/>
              </a:rPr>
              <a:t>Mantzaridis</a:t>
            </a:r>
            <a:r>
              <a:rPr lang="en-US" dirty="0">
                <a:solidFill>
                  <a:srgbClr val="002060"/>
                </a:solidFill>
                <a:latin typeface="Garamond" panose="02020404030301010803" pitchFamily="18" charset="0"/>
              </a:rPr>
              <a:t>, 2009). </a:t>
            </a:r>
            <a:endParaRPr lang="en-GB" dirty="0">
              <a:solidFill>
                <a:srgbClr val="002060"/>
              </a:solidFill>
              <a:latin typeface="Garamond" panose="02020404030301010803" pitchFamily="18" charset="0"/>
            </a:endParaRPr>
          </a:p>
        </p:txBody>
      </p:sp>
    </p:spTree>
    <p:extLst>
      <p:ext uri="{BB962C8B-B14F-4D97-AF65-F5344CB8AC3E}">
        <p14:creationId xmlns:p14="http://schemas.microsoft.com/office/powerpoint/2010/main" val="353470482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900333"/>
            <a:ext cx="9825487" cy="4967068"/>
          </a:xfrm>
        </p:spPr>
        <p:txBody>
          <a:bodyPr>
            <a:normAutofit/>
          </a:bodyPr>
          <a:lstStyle/>
          <a:p>
            <a:pPr marL="0" indent="0">
              <a:buNone/>
            </a:pPr>
            <a:r>
              <a:rPr lang="en-US" sz="3200" dirty="0">
                <a:solidFill>
                  <a:srgbClr val="002060"/>
                </a:solidFill>
                <a:latin typeface="Garamond" panose="02020404030301010803" pitchFamily="18" charset="0"/>
              </a:rPr>
              <a:t>But secular or philosophical Ethics are dependent on set of principles derived from shared human experiences (CVE, 2012). </a:t>
            </a:r>
          </a:p>
          <a:p>
            <a:r>
              <a:rPr lang="en-US" sz="3200" dirty="0">
                <a:solidFill>
                  <a:srgbClr val="002060"/>
                </a:solidFill>
                <a:latin typeface="Garamond" panose="02020404030301010803" pitchFamily="18" charset="0"/>
              </a:rPr>
              <a:t>According to Cox (1966: 27), philosophical Ethics are not the "direct expression of the divine will." Rather, the principles are the outcomes of that which other humans, at a point in time, experienced and valued. </a:t>
            </a:r>
          </a:p>
          <a:p>
            <a:r>
              <a:rPr lang="en-US" sz="3200" dirty="0">
                <a:solidFill>
                  <a:srgbClr val="002060"/>
                </a:solidFill>
                <a:latin typeface="Garamond" panose="02020404030301010803" pitchFamily="18" charset="0"/>
              </a:rPr>
              <a:t>Philosophical Ethics attempts to apply principles that are within the human perception of good and evil (</a:t>
            </a:r>
            <a:r>
              <a:rPr lang="en-US" sz="3200" dirty="0" err="1">
                <a:solidFill>
                  <a:srgbClr val="002060"/>
                </a:solidFill>
                <a:latin typeface="Garamond" panose="02020404030301010803" pitchFamily="18" charset="0"/>
              </a:rPr>
              <a:t>Giannaras</a:t>
            </a:r>
            <a:r>
              <a:rPr lang="en-US" sz="3200" dirty="0">
                <a:solidFill>
                  <a:srgbClr val="002060"/>
                </a:solidFill>
                <a:latin typeface="Garamond" panose="02020404030301010803" pitchFamily="18" charset="0"/>
              </a:rPr>
              <a:t>, 2011).</a:t>
            </a:r>
            <a:endParaRPr lang="en-GB" sz="3200" dirty="0">
              <a:solidFill>
                <a:srgbClr val="002060"/>
              </a:solidFill>
              <a:latin typeface="Garamond" panose="02020404030301010803" pitchFamily="18" charset="0"/>
            </a:endParaRPr>
          </a:p>
        </p:txBody>
      </p:sp>
    </p:spTree>
    <p:extLst>
      <p:ext uri="{BB962C8B-B14F-4D97-AF65-F5344CB8AC3E}">
        <p14:creationId xmlns:p14="http://schemas.microsoft.com/office/powerpoint/2010/main" val="218387163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p:txBody>
          <a:bodyPr>
            <a:normAutofit/>
          </a:bodyPr>
          <a:lstStyle/>
          <a:p>
            <a:r>
              <a:rPr lang="en-US" sz="3600" b="1" dirty="0">
                <a:solidFill>
                  <a:srgbClr val="002060"/>
                </a:solidFill>
                <a:latin typeface="Garamond" panose="02020404030301010803" pitchFamily="18" charset="0"/>
              </a:rPr>
              <a:t>Related Concepts in the Study of Christian Ethics</a:t>
            </a:r>
            <a:r>
              <a:rPr lang="en-GB" sz="3600" b="1" dirty="0">
                <a:solidFill>
                  <a:srgbClr val="002060"/>
                </a:solidFill>
                <a:latin typeface="Garamond" panose="02020404030301010803" pitchFamily="18" charset="0"/>
              </a:rPr>
              <a:t/>
            </a:r>
            <a:br>
              <a:rPr lang="en-GB" sz="3600" b="1" dirty="0">
                <a:solidFill>
                  <a:srgbClr val="002060"/>
                </a:solidFill>
                <a:latin typeface="Garamond" panose="02020404030301010803" pitchFamily="18" charset="0"/>
              </a:rPr>
            </a:br>
            <a:endParaRPr lang="en-US" sz="3600" b="1" dirty="0">
              <a:solidFill>
                <a:srgbClr val="002060"/>
              </a:solidFill>
              <a:latin typeface="Garamond" panose="020204040303010108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15328" y="1736823"/>
            <a:ext cx="10360326" cy="4756052"/>
          </a:xfrm>
        </p:spPr>
        <p:txBody>
          <a:bodyPr>
            <a:normAutofit lnSpcReduction="10000"/>
          </a:bodyPr>
          <a:lstStyle/>
          <a:p>
            <a:pPr marL="0" indent="0">
              <a:buNone/>
            </a:pPr>
            <a:r>
              <a:rPr lang="en-US" dirty="0">
                <a:solidFill>
                  <a:srgbClr val="002060"/>
                </a:solidFill>
                <a:latin typeface="Garamond" panose="02020404030301010803" pitchFamily="18" charset="0"/>
              </a:rPr>
              <a:t>Ethics is sometimes used interchangeably with other related terms in the field of decision-making or decision-evaluation. These related terms include law, morality, etiquettes, and civility. Let us now discuss the relationship between Ethics and these concepts. </a:t>
            </a:r>
            <a:endParaRPr lang="en-GB" dirty="0">
              <a:solidFill>
                <a:srgbClr val="002060"/>
              </a:solidFill>
              <a:latin typeface="Garamond" panose="02020404030301010803" pitchFamily="18" charset="0"/>
            </a:endParaRPr>
          </a:p>
          <a:p>
            <a:pPr marL="0" indent="0">
              <a:buNone/>
            </a:pPr>
            <a:r>
              <a:rPr lang="en-US" b="1" i="1" dirty="0">
                <a:solidFill>
                  <a:srgbClr val="002060"/>
                </a:solidFill>
                <a:latin typeface="Garamond" panose="02020404030301010803" pitchFamily="18" charset="0"/>
              </a:rPr>
              <a:t>Law and Ethics </a:t>
            </a:r>
            <a:endParaRPr lang="en-GB" b="1" dirty="0">
              <a:solidFill>
                <a:srgbClr val="002060"/>
              </a:solidFill>
              <a:latin typeface="Garamond" panose="02020404030301010803" pitchFamily="18" charset="0"/>
            </a:endParaRPr>
          </a:p>
          <a:p>
            <a:pPr marL="530352" lvl="1" indent="0">
              <a:buNone/>
            </a:pPr>
            <a:r>
              <a:rPr lang="en-US" dirty="0">
                <a:solidFill>
                  <a:srgbClr val="002060"/>
                </a:solidFill>
                <a:latin typeface="Garamond" panose="02020404030301010803" pitchFamily="18" charset="0"/>
              </a:rPr>
              <a:t>In other words; State Laws and Government Laws go through a process to get approved, written into law, and then are enforced. But Ethics are like rules of conduct, they do not pass through such process. </a:t>
            </a:r>
            <a:endParaRPr lang="en-GB" dirty="0">
              <a:solidFill>
                <a:srgbClr val="002060"/>
              </a:solidFill>
              <a:latin typeface="Garamond" panose="02020404030301010803" pitchFamily="18" charset="0"/>
            </a:endParaRPr>
          </a:p>
          <a:p>
            <a:pPr marL="530352" lvl="1" indent="0">
              <a:buNone/>
            </a:pPr>
            <a:r>
              <a:rPr lang="en-US" dirty="0">
                <a:solidFill>
                  <a:srgbClr val="002060"/>
                </a:solidFill>
                <a:latin typeface="Garamond" panose="02020404030301010803" pitchFamily="18" charset="0"/>
              </a:rPr>
              <a:t>A key difference is in terms of the sanctions which apply if these are violated. If you break an ethical code you may face disapproval from your peers, disciplinary proceedings from a professional body etc. Break the law and you could face a police investigation, a court appearance, various penalties like a fine or imprisonment etc. </a:t>
            </a:r>
            <a:endParaRPr lang="en-GB" dirty="0">
              <a:solidFill>
                <a:srgbClr val="002060"/>
              </a:solidFill>
              <a:latin typeface="Garamond" panose="02020404030301010803" pitchFamily="18" charset="0"/>
            </a:endParaRPr>
          </a:p>
          <a:p>
            <a:endParaRPr lang="en-GB" dirty="0">
              <a:solidFill>
                <a:srgbClr val="002060"/>
              </a:solidFill>
              <a:latin typeface="Garamond" panose="02020404030301010803" pitchFamily="18" charset="0"/>
            </a:endParaRPr>
          </a:p>
        </p:txBody>
      </p:sp>
    </p:spTree>
    <p:extLst>
      <p:ext uri="{BB962C8B-B14F-4D97-AF65-F5344CB8AC3E}">
        <p14:creationId xmlns:p14="http://schemas.microsoft.com/office/powerpoint/2010/main" val="156913991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838200" y="970671"/>
            <a:ext cx="10515600" cy="5206292"/>
          </a:xfrm>
        </p:spPr>
        <p:txBody>
          <a:bodyPr>
            <a:normAutofit/>
          </a:bodyPr>
          <a:lstStyle/>
          <a:p>
            <a:pPr marL="0" indent="0">
              <a:buNone/>
            </a:pPr>
            <a:r>
              <a:rPr lang="en-US" sz="3200" b="1" i="1" dirty="0">
                <a:solidFill>
                  <a:srgbClr val="002060"/>
                </a:solidFill>
                <a:latin typeface="Garamond" panose="02020404030301010803" pitchFamily="18" charset="0"/>
              </a:rPr>
              <a:t>Morality and Ethics </a:t>
            </a:r>
            <a:endParaRPr lang="en-GB" sz="3200" b="1" dirty="0">
              <a:solidFill>
                <a:srgbClr val="002060"/>
              </a:solidFill>
              <a:latin typeface="Garamond" panose="02020404030301010803" pitchFamily="18" charset="0"/>
            </a:endParaRPr>
          </a:p>
          <a:p>
            <a:pPr marL="530352" lvl="1" indent="0">
              <a:buNone/>
            </a:pPr>
            <a:r>
              <a:rPr lang="en-US" sz="2800" dirty="0">
                <a:solidFill>
                  <a:srgbClr val="002060"/>
                </a:solidFill>
                <a:latin typeface="Garamond" panose="02020404030301010803" pitchFamily="18" charset="0"/>
              </a:rPr>
              <a:t>Ethics is the rules for deciding proper conduct. While not absolutely timeless, ethical principles change very little through the ages. Morality is the standards for behavior that exist at some point in time. </a:t>
            </a:r>
          </a:p>
          <a:p>
            <a:pPr marL="530352" lvl="1" indent="0">
              <a:buNone/>
            </a:pPr>
            <a:r>
              <a:rPr lang="en-US" sz="2800" dirty="0">
                <a:solidFill>
                  <a:srgbClr val="002060"/>
                </a:solidFill>
                <a:latin typeface="Garamond" panose="02020404030301010803" pitchFamily="18" charset="0"/>
              </a:rPr>
              <a:t>Compared to ethics, morality undergoes changes frequently. Since the principles of ethics are more fundamental and stable, ethics is bigger than morality. Ethics is able to call morality - the existing standards for conduct - into question, and cause morality to change. </a:t>
            </a:r>
          </a:p>
          <a:p>
            <a:pPr marL="530352" lvl="1" indent="0">
              <a:buNone/>
            </a:pPr>
            <a:r>
              <a:rPr lang="en-US" sz="2800" dirty="0">
                <a:solidFill>
                  <a:srgbClr val="002060"/>
                </a:solidFill>
                <a:latin typeface="Garamond" panose="02020404030301010803" pitchFamily="18" charset="0"/>
              </a:rPr>
              <a:t>As an example, consider slavery. Once it was considered moral to own slaves. Over time, ethics called the morality of slavery into question and the eventual result was that slavery was no longer considered moral. </a:t>
            </a:r>
            <a:endParaRPr lang="en-GB" sz="3200" dirty="0">
              <a:solidFill>
                <a:srgbClr val="002060"/>
              </a:solidFill>
              <a:latin typeface="Garamond" panose="02020404030301010803" pitchFamily="18" charset="0"/>
            </a:endParaRPr>
          </a:p>
        </p:txBody>
      </p:sp>
    </p:spTree>
    <p:extLst>
      <p:ext uri="{BB962C8B-B14F-4D97-AF65-F5344CB8AC3E}">
        <p14:creationId xmlns:p14="http://schemas.microsoft.com/office/powerpoint/2010/main" val="391061478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731521"/>
            <a:ext cx="10343072" cy="5135880"/>
          </a:xfrm>
        </p:spPr>
        <p:txBody>
          <a:bodyPr>
            <a:normAutofit fontScale="92500" lnSpcReduction="10000"/>
          </a:bodyPr>
          <a:lstStyle/>
          <a:p>
            <a:pPr marL="0" indent="0">
              <a:buNone/>
            </a:pPr>
            <a:r>
              <a:rPr lang="en-US" sz="3200" b="1" i="1" dirty="0">
                <a:solidFill>
                  <a:srgbClr val="002060"/>
                </a:solidFill>
                <a:latin typeface="Garamond" panose="02020404030301010803" pitchFamily="18" charset="0"/>
              </a:rPr>
              <a:t>Etiquette and Ethics </a:t>
            </a:r>
            <a:endParaRPr lang="en-GB" sz="3200" b="1" dirty="0">
              <a:solidFill>
                <a:srgbClr val="002060"/>
              </a:solidFill>
              <a:latin typeface="Garamond" panose="02020404030301010803" pitchFamily="18" charset="0"/>
            </a:endParaRPr>
          </a:p>
          <a:p>
            <a:pPr marL="530352" lvl="1" indent="0">
              <a:buNone/>
            </a:pPr>
            <a:r>
              <a:rPr lang="en-US" sz="2800" dirty="0">
                <a:solidFill>
                  <a:srgbClr val="002060"/>
                </a:solidFill>
                <a:latin typeface="Garamond" panose="02020404030301010803" pitchFamily="18" charset="0"/>
              </a:rPr>
              <a:t>Ethics is about personal behavior right or wrong, but etiquette is about social norms, not about personal, but social standards. If you use fork rudely, it’s not unethical, but it’s not a good etiquette.</a:t>
            </a:r>
          </a:p>
          <a:p>
            <a:pPr marL="0" indent="0">
              <a:buNone/>
            </a:pPr>
            <a:endParaRPr lang="en-US" sz="300" b="1" i="1" dirty="0">
              <a:solidFill>
                <a:srgbClr val="002060"/>
              </a:solidFill>
              <a:latin typeface="Garamond" panose="02020404030301010803" pitchFamily="18" charset="0"/>
            </a:endParaRPr>
          </a:p>
          <a:p>
            <a:pPr marL="0" indent="0">
              <a:buNone/>
            </a:pPr>
            <a:r>
              <a:rPr lang="en-US" sz="3200" b="1" i="1" dirty="0">
                <a:solidFill>
                  <a:srgbClr val="002060"/>
                </a:solidFill>
                <a:latin typeface="Garamond" panose="02020404030301010803" pitchFamily="18" charset="0"/>
              </a:rPr>
              <a:t>Civility and Ethics </a:t>
            </a:r>
            <a:endParaRPr lang="en-GB" sz="3200" dirty="0">
              <a:solidFill>
                <a:srgbClr val="002060"/>
              </a:solidFill>
              <a:latin typeface="Garamond" panose="02020404030301010803" pitchFamily="18" charset="0"/>
            </a:endParaRPr>
          </a:p>
          <a:p>
            <a:pPr marL="530352" lvl="1" indent="0">
              <a:buNone/>
            </a:pPr>
            <a:r>
              <a:rPr lang="en-US" sz="2800" dirty="0">
                <a:solidFill>
                  <a:srgbClr val="002060"/>
                </a:solidFill>
                <a:latin typeface="Garamond" panose="02020404030301010803" pitchFamily="18" charset="0"/>
              </a:rPr>
              <a:t>Civility has to do with being a good citizen, a good neighbor. Civility is derived from the Latin </a:t>
            </a:r>
            <a:r>
              <a:rPr lang="en-US" sz="2800" i="1" dirty="0">
                <a:solidFill>
                  <a:srgbClr val="002060"/>
                </a:solidFill>
                <a:latin typeface="Garamond" panose="02020404030301010803" pitchFamily="18" charset="0"/>
              </a:rPr>
              <a:t>civitas</a:t>
            </a:r>
            <a:r>
              <a:rPr lang="en-US" sz="2800" dirty="0">
                <a:solidFill>
                  <a:srgbClr val="002060"/>
                </a:solidFill>
                <a:latin typeface="Garamond" panose="02020404030301010803" pitchFamily="18" charset="0"/>
              </a:rPr>
              <a:t>, translated as state, city-state, city, citizenship. It refers to the “cultivation of habits of personal living that are claimed to be important for the success of the community. The term civility refers to behavior between persons and groups.” But Ethics is a major branch of philosophy, the study of values and customs of a person or group and covers the analysis and employment of concepts such as right and wrong, good and evil, and responsibility.</a:t>
            </a:r>
            <a:endParaRPr lang="en-GB" sz="2800" dirty="0">
              <a:solidFill>
                <a:srgbClr val="002060"/>
              </a:solidFill>
              <a:latin typeface="Garamond" panose="02020404030301010803" pitchFamily="18" charset="0"/>
            </a:endParaRPr>
          </a:p>
        </p:txBody>
      </p:sp>
    </p:spTree>
    <p:extLst>
      <p:ext uri="{BB962C8B-B14F-4D97-AF65-F5344CB8AC3E}">
        <p14:creationId xmlns:p14="http://schemas.microsoft.com/office/powerpoint/2010/main" val="222711890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765629" y="219433"/>
            <a:ext cx="10515600" cy="1325563"/>
          </a:xfrm>
        </p:spPr>
        <p:txBody>
          <a:bodyPr/>
          <a:lstStyle/>
          <a:p>
            <a:r>
              <a:rPr lang="en-US" b="1" dirty="0">
                <a:solidFill>
                  <a:srgbClr val="002060"/>
                </a:solidFill>
                <a:latin typeface="Garamond" panose="02020404030301010803" pitchFamily="18" charset="0"/>
              </a:rPr>
              <a:t>Summary </a:t>
            </a: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484671"/>
            <a:ext cx="10239555" cy="4382729"/>
          </a:xfrm>
        </p:spPr>
        <p:txBody>
          <a:bodyPr>
            <a:normAutofit fontScale="92500" lnSpcReduction="10000"/>
          </a:bodyPr>
          <a:lstStyle/>
          <a:p>
            <a:r>
              <a:rPr lang="en-US" sz="3200" dirty="0">
                <a:solidFill>
                  <a:srgbClr val="002060"/>
                </a:solidFill>
                <a:latin typeface="Garamond" panose="02020404030301010803" pitchFamily="18" charset="0"/>
              </a:rPr>
              <a:t>This section focused on the overview of Ethics. The section defined Ethics in general. It also defined Christian Ethics and differentiated it from philosophical Ethics.</a:t>
            </a:r>
          </a:p>
          <a:p>
            <a:r>
              <a:rPr lang="en-US" sz="3200" dirty="0">
                <a:solidFill>
                  <a:srgbClr val="002060"/>
                </a:solidFill>
                <a:latin typeface="Garamond" panose="02020404030301010803" pitchFamily="18" charset="0"/>
              </a:rPr>
              <a:t> Among other things, it noted that Christian Ethics attempts to apply theological principles to decision-making and decision-evaluation whereas philosophical Ethics only applies values derived from general human experience to decision-making and decision-evaluation within the human framework of good and bad. </a:t>
            </a:r>
          </a:p>
          <a:p>
            <a:r>
              <a:rPr lang="en-US" sz="3200" dirty="0">
                <a:solidFill>
                  <a:srgbClr val="002060"/>
                </a:solidFill>
                <a:latin typeface="Garamond" panose="02020404030301010803" pitchFamily="18" charset="0"/>
              </a:rPr>
              <a:t>Further, the section discussed the relationship between Ethics and other related concepts such as law, morality, etiquettes, and civility. </a:t>
            </a:r>
            <a:endParaRPr lang="en-GB" sz="3200" dirty="0">
              <a:solidFill>
                <a:srgbClr val="002060"/>
              </a:solidFill>
              <a:latin typeface="Garamond" panose="02020404030301010803" pitchFamily="18" charset="0"/>
            </a:endParaRPr>
          </a:p>
          <a:p>
            <a:endParaRPr lang="en-GB" sz="3600" dirty="0">
              <a:solidFill>
                <a:srgbClr val="002060"/>
              </a:solidFill>
              <a:latin typeface="Garamond" panose="02020404030301010803" pitchFamily="18" charset="0"/>
            </a:endParaRPr>
          </a:p>
        </p:txBody>
      </p:sp>
    </p:spTree>
    <p:extLst>
      <p:ext uri="{BB962C8B-B14F-4D97-AF65-F5344CB8AC3E}">
        <p14:creationId xmlns:p14="http://schemas.microsoft.com/office/powerpoint/2010/main" val="148997592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p:txBody>
          <a:bodyPr/>
          <a:lstStyle/>
          <a:p>
            <a:r>
              <a:rPr lang="en-US" dirty="0">
                <a:solidFill>
                  <a:srgbClr val="002060"/>
                </a:solidFill>
              </a:rPr>
              <a:t>Key terms</a:t>
            </a: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p:txBody>
          <a:bodyPr numCol="2"/>
          <a:lstStyle/>
          <a:p>
            <a:r>
              <a:rPr lang="en-US" sz="2800" i="1" dirty="0">
                <a:solidFill>
                  <a:srgbClr val="002060"/>
                </a:solidFill>
                <a:latin typeface="Garamond" panose="02020404030301010803" pitchFamily="18" charset="0"/>
              </a:rPr>
              <a:t>Ethics</a:t>
            </a:r>
            <a:endParaRPr lang="en-GB" sz="2800" dirty="0">
              <a:solidFill>
                <a:srgbClr val="002060"/>
              </a:solidFill>
              <a:latin typeface="Garamond" panose="02020404030301010803" pitchFamily="18" charset="0"/>
            </a:endParaRPr>
          </a:p>
          <a:p>
            <a:r>
              <a:rPr lang="en-US" sz="2800" i="1" dirty="0" err="1">
                <a:solidFill>
                  <a:srgbClr val="002060"/>
                </a:solidFill>
                <a:latin typeface="Garamond" panose="02020404030301010803" pitchFamily="18" charset="0"/>
              </a:rPr>
              <a:t>Ethikos</a:t>
            </a:r>
            <a:endParaRPr lang="en-GB" sz="2800" dirty="0">
              <a:solidFill>
                <a:srgbClr val="002060"/>
              </a:solidFill>
              <a:latin typeface="Garamond" panose="02020404030301010803" pitchFamily="18" charset="0"/>
            </a:endParaRPr>
          </a:p>
          <a:p>
            <a:r>
              <a:rPr lang="en-US" sz="2800" i="1" dirty="0">
                <a:solidFill>
                  <a:srgbClr val="002060"/>
                </a:solidFill>
                <a:latin typeface="Garamond" panose="02020404030301010803" pitchFamily="18" charset="0"/>
              </a:rPr>
              <a:t>Ethos</a:t>
            </a:r>
            <a:endParaRPr lang="en-GB" sz="2800" dirty="0">
              <a:solidFill>
                <a:srgbClr val="002060"/>
              </a:solidFill>
              <a:latin typeface="Garamond" panose="02020404030301010803" pitchFamily="18" charset="0"/>
            </a:endParaRPr>
          </a:p>
          <a:p>
            <a:r>
              <a:rPr lang="en-US" sz="2800" i="1" dirty="0">
                <a:solidFill>
                  <a:srgbClr val="002060"/>
                </a:solidFill>
                <a:latin typeface="Garamond" panose="02020404030301010803" pitchFamily="18" charset="0"/>
              </a:rPr>
              <a:t>Normative </a:t>
            </a:r>
            <a:endParaRPr lang="en-GB" sz="2800" dirty="0">
              <a:solidFill>
                <a:srgbClr val="002060"/>
              </a:solidFill>
              <a:latin typeface="Garamond" panose="02020404030301010803" pitchFamily="18" charset="0"/>
            </a:endParaRPr>
          </a:p>
          <a:p>
            <a:r>
              <a:rPr lang="en-US" sz="2800" i="1" dirty="0">
                <a:solidFill>
                  <a:srgbClr val="002060"/>
                </a:solidFill>
                <a:latin typeface="Garamond" panose="02020404030301010803" pitchFamily="18" charset="0"/>
              </a:rPr>
              <a:t>Meta-ethics</a:t>
            </a:r>
            <a:endParaRPr lang="en-GB" sz="2800" dirty="0">
              <a:solidFill>
                <a:srgbClr val="002060"/>
              </a:solidFill>
              <a:latin typeface="Garamond" panose="02020404030301010803" pitchFamily="18" charset="0"/>
            </a:endParaRPr>
          </a:p>
          <a:p>
            <a:r>
              <a:rPr lang="en-US" sz="2800" i="1" dirty="0">
                <a:solidFill>
                  <a:srgbClr val="002060"/>
                </a:solidFill>
                <a:latin typeface="Garamond" panose="02020404030301010803" pitchFamily="18" charset="0"/>
              </a:rPr>
              <a:t>Applied Ethics</a:t>
            </a:r>
            <a:endParaRPr lang="en-GB" sz="2800" dirty="0">
              <a:solidFill>
                <a:srgbClr val="002060"/>
              </a:solidFill>
              <a:latin typeface="Garamond" panose="02020404030301010803" pitchFamily="18" charset="0"/>
            </a:endParaRPr>
          </a:p>
          <a:p>
            <a:r>
              <a:rPr lang="en-US" sz="2800" i="1" dirty="0">
                <a:solidFill>
                  <a:srgbClr val="002060"/>
                </a:solidFill>
                <a:latin typeface="Garamond" panose="02020404030301010803" pitchFamily="18" charset="0"/>
              </a:rPr>
              <a:t>Christian Ethics</a:t>
            </a:r>
            <a:endParaRPr lang="en-GB" sz="2800" dirty="0">
              <a:solidFill>
                <a:srgbClr val="002060"/>
              </a:solidFill>
              <a:latin typeface="Garamond" panose="02020404030301010803" pitchFamily="18" charset="0"/>
            </a:endParaRPr>
          </a:p>
          <a:p>
            <a:r>
              <a:rPr lang="en-US" sz="2800" i="1" dirty="0">
                <a:solidFill>
                  <a:srgbClr val="002060"/>
                </a:solidFill>
                <a:latin typeface="Garamond" panose="02020404030301010803" pitchFamily="18" charset="0"/>
              </a:rPr>
              <a:t>Philosophical Ethics</a:t>
            </a:r>
            <a:endParaRPr lang="en-GB" sz="2800" dirty="0">
              <a:solidFill>
                <a:srgbClr val="002060"/>
              </a:solidFill>
              <a:latin typeface="Garamond" panose="02020404030301010803" pitchFamily="18" charset="0"/>
            </a:endParaRPr>
          </a:p>
          <a:p>
            <a:r>
              <a:rPr lang="en-US" sz="2800" i="1" dirty="0">
                <a:solidFill>
                  <a:srgbClr val="002060"/>
                </a:solidFill>
                <a:latin typeface="Garamond" panose="02020404030301010803" pitchFamily="18" charset="0"/>
              </a:rPr>
              <a:t>Law</a:t>
            </a:r>
            <a:endParaRPr lang="en-GB" sz="2800" dirty="0">
              <a:solidFill>
                <a:srgbClr val="002060"/>
              </a:solidFill>
              <a:latin typeface="Garamond" panose="02020404030301010803" pitchFamily="18" charset="0"/>
            </a:endParaRPr>
          </a:p>
          <a:p>
            <a:r>
              <a:rPr lang="en-US" sz="2800" i="1" dirty="0">
                <a:solidFill>
                  <a:srgbClr val="002060"/>
                </a:solidFill>
                <a:latin typeface="Garamond" panose="02020404030301010803" pitchFamily="18" charset="0"/>
              </a:rPr>
              <a:t>Morality</a:t>
            </a:r>
            <a:endParaRPr lang="en-GB" sz="2800" dirty="0">
              <a:solidFill>
                <a:srgbClr val="002060"/>
              </a:solidFill>
              <a:latin typeface="Garamond" panose="02020404030301010803" pitchFamily="18" charset="0"/>
            </a:endParaRPr>
          </a:p>
          <a:p>
            <a:r>
              <a:rPr lang="en-US" sz="2800" i="1" dirty="0">
                <a:solidFill>
                  <a:srgbClr val="002060"/>
                </a:solidFill>
                <a:latin typeface="Garamond" panose="02020404030301010803" pitchFamily="18" charset="0"/>
              </a:rPr>
              <a:t>Etiquettes</a:t>
            </a:r>
            <a:endParaRPr lang="en-GB" sz="2800" dirty="0">
              <a:solidFill>
                <a:srgbClr val="002060"/>
              </a:solidFill>
              <a:latin typeface="Garamond" panose="02020404030301010803" pitchFamily="18" charset="0"/>
            </a:endParaRPr>
          </a:p>
          <a:p>
            <a:r>
              <a:rPr lang="en-US" sz="2800" i="1" dirty="0">
                <a:solidFill>
                  <a:srgbClr val="002060"/>
                </a:solidFill>
                <a:latin typeface="Garamond" panose="02020404030301010803" pitchFamily="18" charset="0"/>
              </a:rPr>
              <a:t>Civility</a:t>
            </a:r>
            <a:endParaRPr lang="en-GB" sz="2800" dirty="0">
              <a:solidFill>
                <a:srgbClr val="002060"/>
              </a:solidFill>
              <a:latin typeface="Garamond" panose="02020404030301010803" pitchFamily="18" charset="0"/>
            </a:endParaRPr>
          </a:p>
        </p:txBody>
      </p:sp>
    </p:spTree>
    <p:extLst>
      <p:ext uri="{BB962C8B-B14F-4D97-AF65-F5344CB8AC3E}">
        <p14:creationId xmlns:p14="http://schemas.microsoft.com/office/powerpoint/2010/main" val="372734614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p:txBody>
          <a:bodyPr/>
          <a:lstStyle/>
          <a:p>
            <a:r>
              <a:rPr lang="en-US" b="1" dirty="0">
                <a:solidFill>
                  <a:srgbClr val="002060"/>
                </a:solidFill>
                <a:latin typeface="Garamond" panose="02020404030301010803" pitchFamily="18" charset="0"/>
              </a:rPr>
              <a:t>Check Your EQ (Ethics Quotient)</a:t>
            </a:r>
            <a:r>
              <a:rPr lang="en-GB" dirty="0">
                <a:solidFill>
                  <a:srgbClr val="002060"/>
                </a:solidFill>
                <a:latin typeface="Garamond" panose="02020404030301010803" pitchFamily="18" charset="0"/>
              </a:rPr>
              <a:t/>
            </a:r>
            <a:br>
              <a:rPr lang="en-GB" dirty="0">
                <a:solidFill>
                  <a:srgbClr val="002060"/>
                </a:solidFill>
                <a:latin typeface="Garamond" panose="02020404030301010803" pitchFamily="18" charset="0"/>
              </a:rPr>
            </a:br>
            <a:endParaRPr lang="en-US" dirty="0">
              <a:solidFill>
                <a:srgbClr val="002060"/>
              </a:solidFill>
              <a:latin typeface="Garamond" panose="020204040303010108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p:txBody>
          <a:bodyPr>
            <a:normAutofit lnSpcReduction="10000"/>
          </a:bodyPr>
          <a:lstStyle/>
          <a:p>
            <a:pPr marL="0" indent="0">
              <a:buNone/>
            </a:pPr>
            <a:r>
              <a:rPr lang="en-US" dirty="0">
                <a:solidFill>
                  <a:srgbClr val="002060"/>
                </a:solidFill>
              </a:rPr>
              <a:t>1. The Greek word </a:t>
            </a:r>
            <a:r>
              <a:rPr lang="en-US" i="1" dirty="0" err="1">
                <a:solidFill>
                  <a:srgbClr val="002060"/>
                </a:solidFill>
              </a:rPr>
              <a:t>ethikos</a:t>
            </a:r>
            <a:r>
              <a:rPr lang="en-US" dirty="0">
                <a:solidFill>
                  <a:srgbClr val="002060"/>
                </a:solidFill>
              </a:rPr>
              <a:t> is derived from another Greek word </a:t>
            </a:r>
            <a:r>
              <a:rPr lang="en-US" i="1" dirty="0">
                <a:solidFill>
                  <a:srgbClr val="002060"/>
                </a:solidFill>
              </a:rPr>
              <a:t>ethos</a:t>
            </a:r>
            <a:r>
              <a:rPr lang="en-US" dirty="0">
                <a:solidFill>
                  <a:srgbClr val="002060"/>
                </a:solidFill>
              </a:rPr>
              <a:t>, meaning custom.  </a:t>
            </a:r>
            <a:r>
              <a:rPr lang="en-US" sz="2800" b="1" dirty="0">
                <a:solidFill>
                  <a:srgbClr val="002060"/>
                </a:solidFill>
              </a:rPr>
              <a:t>T/F</a:t>
            </a:r>
            <a:endParaRPr lang="en-GB" b="1" dirty="0">
              <a:solidFill>
                <a:srgbClr val="002060"/>
              </a:solidFill>
            </a:endParaRPr>
          </a:p>
          <a:p>
            <a:pPr marL="0" indent="0">
              <a:buNone/>
            </a:pPr>
            <a:r>
              <a:rPr lang="en-US" dirty="0">
                <a:solidFill>
                  <a:srgbClr val="002060"/>
                </a:solidFill>
              </a:rPr>
              <a:t>2. Ethics is only concerned with what is good, fair, and responsible.                                 </a:t>
            </a:r>
            <a:r>
              <a:rPr lang="en-US" sz="2800" b="1" dirty="0">
                <a:solidFill>
                  <a:srgbClr val="002060"/>
                </a:solidFill>
              </a:rPr>
              <a:t>T/F</a:t>
            </a:r>
            <a:endParaRPr lang="en-GB" sz="2800" b="1" dirty="0">
              <a:solidFill>
                <a:srgbClr val="002060"/>
              </a:solidFill>
            </a:endParaRPr>
          </a:p>
          <a:p>
            <a:pPr marL="0" indent="0">
              <a:buNone/>
            </a:pPr>
            <a:r>
              <a:rPr lang="en-US" dirty="0">
                <a:solidFill>
                  <a:srgbClr val="002060"/>
                </a:solidFill>
              </a:rPr>
              <a:t>3. While Christian Ethics is based on valuable shared experiences, philosophical Ethics is based on God's will and purposes for humanity. </a:t>
            </a:r>
            <a:r>
              <a:rPr lang="en-US" sz="2800" b="1" dirty="0">
                <a:solidFill>
                  <a:srgbClr val="002060"/>
                </a:solidFill>
              </a:rPr>
              <a:t>T/F</a:t>
            </a:r>
            <a:endParaRPr lang="en-GB" sz="2800" b="1" dirty="0">
              <a:solidFill>
                <a:srgbClr val="002060"/>
              </a:solidFill>
            </a:endParaRPr>
          </a:p>
          <a:p>
            <a:pPr marL="0" indent="0">
              <a:buNone/>
            </a:pPr>
            <a:r>
              <a:rPr lang="en-US" dirty="0">
                <a:solidFill>
                  <a:srgbClr val="002060"/>
                </a:solidFill>
              </a:rPr>
              <a:t>4. Ethics is concerned with decision-making alone.	</a:t>
            </a:r>
            <a:r>
              <a:rPr lang="en-US" sz="2800" b="1" dirty="0">
                <a:solidFill>
                  <a:srgbClr val="002060"/>
                </a:solidFill>
              </a:rPr>
              <a:t>T/F</a:t>
            </a:r>
            <a:endParaRPr lang="en-GB" sz="2800" b="1" dirty="0">
              <a:solidFill>
                <a:srgbClr val="002060"/>
              </a:solidFill>
            </a:endParaRPr>
          </a:p>
          <a:p>
            <a:pPr marL="0" indent="0">
              <a:buNone/>
            </a:pPr>
            <a:r>
              <a:rPr lang="en-US" dirty="0">
                <a:solidFill>
                  <a:srgbClr val="002060"/>
                </a:solidFill>
              </a:rPr>
              <a:t>5. Ethics is interested in character as well as conduct of human beings.</a:t>
            </a:r>
            <a:r>
              <a:rPr lang="en-US" sz="2800" b="1" dirty="0">
                <a:solidFill>
                  <a:srgbClr val="002060"/>
                </a:solidFill>
              </a:rPr>
              <a:t>  T/F</a:t>
            </a:r>
            <a:endParaRPr lang="en-GB" b="1" dirty="0">
              <a:solidFill>
                <a:srgbClr val="002060"/>
              </a:solidFill>
            </a:endParaRPr>
          </a:p>
          <a:p>
            <a:endParaRPr lang="en-GB" sz="2800" dirty="0">
              <a:solidFill>
                <a:srgbClr val="002060"/>
              </a:solidFill>
            </a:endParaRPr>
          </a:p>
        </p:txBody>
      </p:sp>
    </p:spTree>
    <p:extLst>
      <p:ext uri="{BB962C8B-B14F-4D97-AF65-F5344CB8AC3E}">
        <p14:creationId xmlns:p14="http://schemas.microsoft.com/office/powerpoint/2010/main" val="348583860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p:txBody>
          <a:bodyPr/>
          <a:lstStyle/>
          <a:p>
            <a:r>
              <a:rPr lang="en-US" b="1" dirty="0">
                <a:solidFill>
                  <a:srgbClr val="002060"/>
                </a:solidFill>
                <a:latin typeface="Garamond" panose="02020404030301010803" pitchFamily="18" charset="0"/>
              </a:rPr>
              <a:t>Discussion Questions</a:t>
            </a:r>
            <a:r>
              <a:rPr lang="en-GB" dirty="0">
                <a:solidFill>
                  <a:srgbClr val="002060"/>
                </a:solidFill>
                <a:latin typeface="Garamond" panose="02020404030301010803" pitchFamily="18" charset="0"/>
              </a:rPr>
              <a:t/>
            </a:r>
            <a:br>
              <a:rPr lang="en-GB" dirty="0">
                <a:solidFill>
                  <a:srgbClr val="002060"/>
                </a:solidFill>
                <a:latin typeface="Garamond" panose="02020404030301010803" pitchFamily="18" charset="0"/>
              </a:rPr>
            </a:br>
            <a:endParaRPr lang="en-US" dirty="0">
              <a:solidFill>
                <a:srgbClr val="002060"/>
              </a:solidFill>
              <a:latin typeface="Garamond" panose="020204040303010108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484671"/>
            <a:ext cx="10239555" cy="4382729"/>
          </a:xfrm>
        </p:spPr>
        <p:txBody>
          <a:bodyPr>
            <a:noAutofit/>
          </a:bodyPr>
          <a:lstStyle/>
          <a:p>
            <a:r>
              <a:rPr lang="en-US" sz="3600" dirty="0">
                <a:solidFill>
                  <a:srgbClr val="002060"/>
                </a:solidFill>
                <a:latin typeface="Garamond" panose="02020404030301010803" pitchFamily="18" charset="0"/>
              </a:rPr>
              <a:t>1. Define Christian Ethics in the context of Colossians 3:1-6.</a:t>
            </a:r>
            <a:endParaRPr lang="en-GB" sz="3600" dirty="0">
              <a:solidFill>
                <a:srgbClr val="002060"/>
              </a:solidFill>
              <a:latin typeface="Garamond" panose="02020404030301010803" pitchFamily="18" charset="0"/>
            </a:endParaRPr>
          </a:p>
          <a:p>
            <a:r>
              <a:rPr lang="en-US" sz="3600" dirty="0">
                <a:solidFill>
                  <a:srgbClr val="002060"/>
                </a:solidFill>
                <a:latin typeface="Garamond" panose="02020404030301010803" pitchFamily="18" charset="0"/>
              </a:rPr>
              <a:t>2. Distinguish Christian Ethics from philosophical Ethics.</a:t>
            </a:r>
            <a:endParaRPr lang="en-GB" sz="3600" dirty="0">
              <a:solidFill>
                <a:srgbClr val="002060"/>
              </a:solidFill>
              <a:latin typeface="Garamond" panose="02020404030301010803" pitchFamily="18" charset="0"/>
            </a:endParaRPr>
          </a:p>
          <a:p>
            <a:r>
              <a:rPr lang="en-US" sz="3600" dirty="0">
                <a:solidFill>
                  <a:srgbClr val="002060"/>
                </a:solidFill>
                <a:latin typeface="Garamond" panose="02020404030301010803" pitchFamily="18" charset="0"/>
              </a:rPr>
              <a:t>3. Compare Ethics with law, morality, etiquettes, and civility. Indicate its relationship to each of these concepts.</a:t>
            </a:r>
            <a:endParaRPr lang="en-GB" sz="3600" dirty="0">
              <a:solidFill>
                <a:srgbClr val="002060"/>
              </a:solidFill>
              <a:latin typeface="Garamond" panose="02020404030301010803" pitchFamily="18" charset="0"/>
            </a:endParaRPr>
          </a:p>
          <a:p>
            <a:r>
              <a:rPr lang="en-US" sz="3600" dirty="0">
                <a:solidFill>
                  <a:srgbClr val="002060"/>
                </a:solidFill>
                <a:latin typeface="Garamond" panose="02020404030301010803" pitchFamily="18" charset="0"/>
              </a:rPr>
              <a:t>4. List and explain the three (3) main types of Ethics.</a:t>
            </a:r>
            <a:endParaRPr lang="en-GB" sz="3600" dirty="0">
              <a:solidFill>
                <a:srgbClr val="002060"/>
              </a:solidFill>
              <a:latin typeface="Garamond" panose="02020404030301010803" pitchFamily="18" charset="0"/>
            </a:endParaRPr>
          </a:p>
          <a:p>
            <a:pPr marL="0" indent="0">
              <a:buNone/>
            </a:pPr>
            <a:endParaRPr lang="en-GB" sz="4000" dirty="0">
              <a:solidFill>
                <a:srgbClr val="002060"/>
              </a:solidFill>
              <a:latin typeface="Garamond" panose="02020404030301010803" pitchFamily="18" charset="0"/>
            </a:endParaRPr>
          </a:p>
        </p:txBody>
      </p:sp>
    </p:spTree>
    <p:extLst>
      <p:ext uri="{BB962C8B-B14F-4D97-AF65-F5344CB8AC3E}">
        <p14:creationId xmlns:p14="http://schemas.microsoft.com/office/powerpoint/2010/main" val="361032629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98DCA46-603B-4178-8707-30E192CE6B8D}"/>
              </a:ext>
            </a:extLst>
          </p:cNvPr>
          <p:cNvSpPr>
            <a:spLocks noGrp="1"/>
          </p:cNvSpPr>
          <p:nvPr>
            <p:ph type="title"/>
          </p:nvPr>
        </p:nvSpPr>
        <p:spPr>
          <a:xfrm>
            <a:off x="1295400" y="2686050"/>
            <a:ext cx="9601200" cy="1485900"/>
          </a:xfrm>
        </p:spPr>
        <p:txBody>
          <a:bodyPr/>
          <a:lstStyle/>
          <a:p>
            <a:pPr algn="ctr"/>
            <a:r>
              <a:rPr lang="en-US" b="1" dirty="0">
                <a:solidFill>
                  <a:srgbClr val="002060"/>
                </a:solidFill>
                <a:latin typeface="Garamond" panose="02020404030301010803" pitchFamily="18" charset="0"/>
              </a:rPr>
              <a:t>End of Lesson One</a:t>
            </a:r>
          </a:p>
        </p:txBody>
      </p:sp>
    </p:spTree>
    <p:extLst>
      <p:ext uri="{BB962C8B-B14F-4D97-AF65-F5344CB8AC3E}">
        <p14:creationId xmlns:p14="http://schemas.microsoft.com/office/powerpoint/2010/main" val="65933079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98DCA46-603B-4178-8707-30E192CE6B8D}"/>
              </a:ext>
            </a:extLst>
          </p:cNvPr>
          <p:cNvSpPr>
            <a:spLocks noGrp="1"/>
          </p:cNvSpPr>
          <p:nvPr>
            <p:ph type="title"/>
          </p:nvPr>
        </p:nvSpPr>
        <p:spPr>
          <a:xfrm>
            <a:off x="1295400" y="2686050"/>
            <a:ext cx="9601200" cy="1485900"/>
          </a:xfrm>
        </p:spPr>
        <p:txBody>
          <a:bodyPr/>
          <a:lstStyle/>
          <a:p>
            <a:pPr algn="ctr"/>
            <a:r>
              <a:rPr lang="en-US" b="1" dirty="0" smtClean="0">
                <a:solidFill>
                  <a:srgbClr val="002060"/>
                </a:solidFill>
                <a:latin typeface="Garamond" panose="02020404030301010803" pitchFamily="18" charset="0"/>
              </a:rPr>
              <a:t>Lesson Two</a:t>
            </a:r>
            <a:endParaRPr lang="en-US" b="1" dirty="0">
              <a:solidFill>
                <a:srgbClr val="002060"/>
              </a:solidFill>
              <a:latin typeface="Garamond" panose="02020404030301010803" pitchFamily="18" charset="0"/>
            </a:endParaRPr>
          </a:p>
        </p:txBody>
      </p:sp>
    </p:spTree>
    <p:extLst>
      <p:ext uri="{BB962C8B-B14F-4D97-AF65-F5344CB8AC3E}">
        <p14:creationId xmlns:p14="http://schemas.microsoft.com/office/powerpoint/2010/main" val="9092241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889FE-7B85-40C7-8441-909223A9B382}"/>
              </a:ext>
            </a:extLst>
          </p:cNvPr>
          <p:cNvSpPr>
            <a:spLocks noGrp="1"/>
          </p:cNvSpPr>
          <p:nvPr>
            <p:ph type="ctrTitle"/>
          </p:nvPr>
        </p:nvSpPr>
        <p:spPr/>
        <p:txBody>
          <a:bodyPr/>
          <a:lstStyle/>
          <a:p>
            <a:r>
              <a:rPr lang="en-US" b="1" dirty="0">
                <a:solidFill>
                  <a:srgbClr val="002060"/>
                </a:solidFill>
                <a:latin typeface="Garamond" panose="02020404030301010803" pitchFamily="18" charset="0"/>
              </a:rPr>
              <a:t>Varieties of Ethics and Moral Thought </a:t>
            </a:r>
          </a:p>
        </p:txBody>
      </p:sp>
    </p:spTree>
    <p:extLst>
      <p:ext uri="{BB962C8B-B14F-4D97-AF65-F5344CB8AC3E}">
        <p14:creationId xmlns:p14="http://schemas.microsoft.com/office/powerpoint/2010/main" val="173439804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98DCA46-603B-4178-8707-30E192CE6B8D}"/>
              </a:ext>
            </a:extLst>
          </p:cNvPr>
          <p:cNvSpPr>
            <a:spLocks noGrp="1"/>
          </p:cNvSpPr>
          <p:nvPr>
            <p:ph type="title"/>
          </p:nvPr>
        </p:nvSpPr>
        <p:spPr>
          <a:xfrm>
            <a:off x="1502955" y="3203074"/>
            <a:ext cx="9601200" cy="1485900"/>
          </a:xfrm>
        </p:spPr>
        <p:txBody>
          <a:bodyPr>
            <a:normAutofit fontScale="90000"/>
          </a:bodyPr>
          <a:lstStyle/>
          <a:p>
            <a:r>
              <a:rPr lang="en-US" dirty="0">
                <a:solidFill>
                  <a:srgbClr val="002060"/>
                </a:solidFill>
                <a:latin typeface="Garamond" panose="02020404030301010803" pitchFamily="18" charset="0"/>
              </a:rPr>
              <a:t>Men go abroad to admire the heights of mountains, the mighty waves of the sea, the broad tides of rivers, the compass of the ocean, and the circuits of the stars, yet pass over the mystery of themselves without a thought.</a:t>
            </a:r>
            <a:r>
              <a:rPr lang="en-US" dirty="0">
                <a:solidFill>
                  <a:srgbClr val="002060"/>
                </a:solidFill>
              </a:rPr>
              <a:t/>
            </a:r>
            <a:br>
              <a:rPr lang="en-US" dirty="0">
                <a:solidFill>
                  <a:srgbClr val="002060"/>
                </a:solidFill>
              </a:rPr>
            </a:br>
            <a:r>
              <a:rPr lang="en-US" b="1" dirty="0" smtClean="0">
                <a:solidFill>
                  <a:srgbClr val="002060"/>
                </a:solidFill>
              </a:rPr>
              <a:t>				 - </a:t>
            </a:r>
            <a:r>
              <a:rPr lang="en-US" b="1" dirty="0">
                <a:solidFill>
                  <a:srgbClr val="002060"/>
                </a:solidFill>
              </a:rPr>
              <a:t>Augustine, </a:t>
            </a:r>
            <a:r>
              <a:rPr lang="en-US" b="1" i="1" dirty="0">
                <a:solidFill>
                  <a:srgbClr val="002060"/>
                </a:solidFill>
              </a:rPr>
              <a:t>Confessions</a:t>
            </a:r>
            <a:r>
              <a:rPr lang="en-US" b="1" dirty="0">
                <a:solidFill>
                  <a:srgbClr val="002060"/>
                </a:solidFill>
              </a:rPr>
              <a:t> </a:t>
            </a:r>
          </a:p>
        </p:txBody>
      </p:sp>
      <p:sp>
        <p:nvSpPr>
          <p:cNvPr id="2" name="Rectangle 1"/>
          <p:cNvSpPr/>
          <p:nvPr/>
        </p:nvSpPr>
        <p:spPr>
          <a:xfrm>
            <a:off x="1125583" y="675305"/>
            <a:ext cx="8759962" cy="707886"/>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002060"/>
                </a:solidFill>
                <a:effectLst/>
                <a:uLnTx/>
                <a:uFillTx/>
                <a:latin typeface="Garamond" panose="02020404030301010803" pitchFamily="18" charset="0"/>
                <a:ea typeface="Times New Roman" panose="02020603050405020304" pitchFamily="18" charset="0"/>
                <a:cs typeface="+mn-cs"/>
              </a:rPr>
              <a:t>Christian Ethics and Moral Philosophy </a:t>
            </a:r>
            <a:endParaRPr kumimoji="0" lang="en-US" sz="4000" b="1" i="0" u="none" strike="noStrike" kern="1200" cap="none" spc="0" normalizeH="0" baseline="0" noProof="0" dirty="0">
              <a:ln>
                <a:noFill/>
              </a:ln>
              <a:solidFill>
                <a:srgbClr val="002060"/>
              </a:solidFill>
              <a:effectLst/>
              <a:uLnTx/>
              <a:uFillTx/>
              <a:latin typeface="Garamond" panose="02020404030301010803" pitchFamily="18" charset="0"/>
              <a:ea typeface="+mn-ea"/>
              <a:cs typeface="+mn-cs"/>
            </a:endParaRPr>
          </a:p>
        </p:txBody>
      </p:sp>
    </p:spTree>
    <p:extLst>
      <p:ext uri="{BB962C8B-B14F-4D97-AF65-F5344CB8AC3E}">
        <p14:creationId xmlns:p14="http://schemas.microsoft.com/office/powerpoint/2010/main" val="75462613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p:txBody>
          <a:bodyPr>
            <a:noAutofit/>
          </a:bodyPr>
          <a:lstStyle/>
          <a:p>
            <a:r>
              <a:rPr lang="en-GB" sz="5400" b="1" dirty="0">
                <a:solidFill>
                  <a:srgbClr val="002060"/>
                </a:solidFill>
                <a:latin typeface="Garamond" panose="02020404030301010803" pitchFamily="18" charset="0"/>
              </a:rPr>
              <a:t>Introduction </a:t>
            </a:r>
            <a:br>
              <a:rPr lang="en-GB" sz="5400" b="1" dirty="0">
                <a:solidFill>
                  <a:srgbClr val="002060"/>
                </a:solidFill>
                <a:latin typeface="Garamond" panose="02020404030301010803" pitchFamily="18" charset="0"/>
              </a:rPr>
            </a:br>
            <a:endParaRPr lang="en-US" sz="5400" b="1" dirty="0">
              <a:solidFill>
                <a:srgbClr val="002060"/>
              </a:solidFill>
              <a:latin typeface="Garamond" panose="020204040303010108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484671"/>
            <a:ext cx="10239555" cy="4382729"/>
          </a:xfrm>
        </p:spPr>
        <p:txBody>
          <a:bodyPr>
            <a:normAutofit lnSpcReduction="10000"/>
          </a:bodyPr>
          <a:lstStyle/>
          <a:p>
            <a:pPr marL="0" indent="0">
              <a:buNone/>
            </a:pPr>
            <a:r>
              <a:rPr lang="en-US" dirty="0">
                <a:solidFill>
                  <a:srgbClr val="002060"/>
                </a:solidFill>
                <a:latin typeface="Garamond" panose="02020404030301010803" pitchFamily="18" charset="0"/>
              </a:rPr>
              <a:t>“Ethics” is a term that usually refers to the academic study of morals and moral systems. We rarely appeal to the general idea of ethics but most often appeal to some specific account that we have in mind, as indicated by the use of a modifier. </a:t>
            </a:r>
          </a:p>
          <a:p>
            <a:pPr marL="0" indent="0">
              <a:buNone/>
            </a:pPr>
            <a:r>
              <a:rPr lang="en-US" dirty="0">
                <a:solidFill>
                  <a:srgbClr val="002060"/>
                </a:solidFill>
                <a:latin typeface="Garamond" panose="02020404030301010803" pitchFamily="18" charset="0"/>
              </a:rPr>
              <a:t>We might, for example, speak of professional ethics or personal ethics. These modifiers help us to be more precise with our discussions. We can also talk about the various approaches that people throughout the world adopt with regard to ethics, given their own </a:t>
            </a:r>
            <a:r>
              <a:rPr lang="en-US" b="1" u="sng" dirty="0">
                <a:solidFill>
                  <a:srgbClr val="002060"/>
                </a:solidFill>
                <a:latin typeface="Garamond" panose="02020404030301010803" pitchFamily="18" charset="0"/>
              </a:rPr>
              <a:t>religious</a:t>
            </a:r>
            <a:r>
              <a:rPr lang="en-US" dirty="0">
                <a:solidFill>
                  <a:srgbClr val="002060"/>
                </a:solidFill>
                <a:latin typeface="Garamond" panose="02020404030301010803" pitchFamily="18" charset="0"/>
              </a:rPr>
              <a:t>, </a:t>
            </a:r>
            <a:r>
              <a:rPr lang="en-US" b="1" u="sng" dirty="0">
                <a:solidFill>
                  <a:srgbClr val="002060"/>
                </a:solidFill>
                <a:latin typeface="Garamond" panose="02020404030301010803" pitchFamily="18" charset="0"/>
              </a:rPr>
              <a:t>cultural</a:t>
            </a:r>
            <a:r>
              <a:rPr lang="en-US" dirty="0">
                <a:solidFill>
                  <a:srgbClr val="002060"/>
                </a:solidFill>
                <a:latin typeface="Garamond" panose="02020404030301010803" pitchFamily="18" charset="0"/>
              </a:rPr>
              <a:t>, and </a:t>
            </a:r>
            <a:r>
              <a:rPr lang="en-US" b="1" u="sng" dirty="0">
                <a:solidFill>
                  <a:srgbClr val="002060"/>
                </a:solidFill>
                <a:latin typeface="Garamond" panose="02020404030301010803" pitchFamily="18" charset="0"/>
              </a:rPr>
              <a:t>philosophical</a:t>
            </a:r>
            <a:r>
              <a:rPr lang="en-US" dirty="0">
                <a:solidFill>
                  <a:srgbClr val="002060"/>
                </a:solidFill>
                <a:latin typeface="Garamond" panose="02020404030301010803" pitchFamily="18" charset="0"/>
              </a:rPr>
              <a:t> commitments. </a:t>
            </a:r>
          </a:p>
          <a:p>
            <a:pPr marL="0" indent="0">
              <a:buNone/>
            </a:pPr>
            <a:r>
              <a:rPr lang="en-US" dirty="0">
                <a:solidFill>
                  <a:srgbClr val="002060"/>
                </a:solidFill>
                <a:latin typeface="Garamond" panose="02020404030301010803" pitchFamily="18" charset="0"/>
              </a:rPr>
              <a:t>As a result, there are Buddhist ethics, Jewish ethics, Hindu ethics, Islamic ethics, </a:t>
            </a:r>
            <a:r>
              <a:rPr lang="en-US" dirty="0" err="1">
                <a:solidFill>
                  <a:srgbClr val="002060"/>
                </a:solidFill>
                <a:latin typeface="Garamond" panose="02020404030301010803" pitchFamily="18" charset="0"/>
              </a:rPr>
              <a:t>Maorian</a:t>
            </a:r>
            <a:r>
              <a:rPr lang="en-US" dirty="0">
                <a:solidFill>
                  <a:srgbClr val="002060"/>
                </a:solidFill>
                <a:latin typeface="Garamond" panose="02020404030301010803" pitchFamily="18" charset="0"/>
              </a:rPr>
              <a:t> ethics, and Christian ethics. </a:t>
            </a:r>
            <a:endParaRPr lang="en-GB" sz="3600" dirty="0">
              <a:solidFill>
                <a:srgbClr val="002060"/>
              </a:solidFill>
              <a:latin typeface="Garamond" panose="02020404030301010803" pitchFamily="18" charset="0"/>
            </a:endParaRPr>
          </a:p>
        </p:txBody>
      </p:sp>
    </p:spTree>
    <p:extLst>
      <p:ext uri="{BB962C8B-B14F-4D97-AF65-F5344CB8AC3E}">
        <p14:creationId xmlns:p14="http://schemas.microsoft.com/office/powerpoint/2010/main" val="163789505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p:txBody>
          <a:bodyPr/>
          <a:lstStyle/>
          <a:p>
            <a:r>
              <a:rPr lang="en-GB" b="1" dirty="0" smtClean="0">
                <a:solidFill>
                  <a:srgbClr val="002060"/>
                </a:solidFill>
                <a:latin typeface="Garamond" panose="02020404030301010803" pitchFamily="18" charset="0"/>
              </a:rPr>
              <a:t>Christian Ethics and Moral Philosophy </a:t>
            </a:r>
            <a:endParaRPr lang="en-US" b="1" dirty="0">
              <a:solidFill>
                <a:srgbClr val="002060"/>
              </a:solidFill>
              <a:latin typeface="Garamond" panose="020204040303010108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484671"/>
            <a:ext cx="10239555" cy="4382729"/>
          </a:xfrm>
        </p:spPr>
        <p:txBody>
          <a:bodyPr>
            <a:normAutofit fontScale="92500" lnSpcReduction="10000"/>
          </a:bodyPr>
          <a:lstStyle/>
          <a:p>
            <a:pPr marL="0" indent="0">
              <a:buNone/>
            </a:pPr>
            <a:r>
              <a:rPr lang="en-US" dirty="0">
                <a:solidFill>
                  <a:srgbClr val="002060"/>
                </a:solidFill>
                <a:latin typeface="Garamond" panose="02020404030301010803" pitchFamily="18" charset="0"/>
              </a:rPr>
              <a:t>There are also specifically philosophical approaches to ethics, such as  Kantianism, utilitarianism, contractarian ethical approaches, ethical relativism, continental ethical approaches, feminist ethics, natural law ethics, natural rights ethics, and virtue ethics. </a:t>
            </a:r>
          </a:p>
          <a:p>
            <a:r>
              <a:rPr lang="en-US" dirty="0">
                <a:solidFill>
                  <a:srgbClr val="002060"/>
                </a:solidFill>
                <a:latin typeface="Garamond" panose="02020404030301010803" pitchFamily="18" charset="0"/>
              </a:rPr>
              <a:t>These lists are not exhaustive, but they show that we need to have some qualifications on the term “ethics.” </a:t>
            </a:r>
          </a:p>
          <a:p>
            <a:r>
              <a:rPr lang="en-US" dirty="0">
                <a:solidFill>
                  <a:srgbClr val="002060"/>
                </a:solidFill>
                <a:latin typeface="Garamond" panose="02020404030301010803" pitchFamily="18" charset="0"/>
              </a:rPr>
              <a:t>This lesson is about the relationship between two kinds of ethics: the theories of ethics found in philosophy and approaches found in Christian ethics. </a:t>
            </a:r>
          </a:p>
          <a:p>
            <a:r>
              <a:rPr lang="en-US" dirty="0">
                <a:solidFill>
                  <a:srgbClr val="002060"/>
                </a:solidFill>
                <a:latin typeface="Garamond" panose="02020404030301010803" pitchFamily="18" charset="0"/>
              </a:rPr>
              <a:t>It is a conversation between philosophical ethical theories and the Christian tradition that many of these philosophical theories either emerged from or argued against. </a:t>
            </a:r>
            <a:endParaRPr lang="en-GB" sz="3600" dirty="0">
              <a:solidFill>
                <a:srgbClr val="002060"/>
              </a:solidFill>
              <a:latin typeface="Garamond" panose="02020404030301010803" pitchFamily="18" charset="0"/>
            </a:endParaRPr>
          </a:p>
        </p:txBody>
      </p:sp>
    </p:spTree>
    <p:extLst>
      <p:ext uri="{BB962C8B-B14F-4D97-AF65-F5344CB8AC3E}">
        <p14:creationId xmlns:p14="http://schemas.microsoft.com/office/powerpoint/2010/main" val="1295862513"/>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p:txBody>
          <a:bodyPr/>
          <a:lstStyle/>
          <a:p>
            <a:r>
              <a:rPr lang="en-US" sz="4400" b="1" dirty="0">
                <a:solidFill>
                  <a:srgbClr val="002060"/>
                </a:solidFill>
                <a:latin typeface="Garamond" panose="02020404030301010803" pitchFamily="18" charset="0"/>
              </a:rPr>
              <a:t>Difference between Morality and Ethics </a:t>
            </a: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484671"/>
            <a:ext cx="10239555" cy="4382729"/>
          </a:xfrm>
        </p:spPr>
        <p:txBody>
          <a:bodyPr>
            <a:normAutofit lnSpcReduction="10000"/>
          </a:bodyPr>
          <a:lstStyle/>
          <a:p>
            <a:pPr marL="0" indent="0">
              <a:buNone/>
            </a:pPr>
            <a:r>
              <a:rPr lang="en-US" dirty="0">
                <a:solidFill>
                  <a:srgbClr val="002060"/>
                </a:solidFill>
                <a:latin typeface="Garamond" panose="02020404030301010803" pitchFamily="18" charset="0"/>
              </a:rPr>
              <a:t>Morality concerns the principles and teachings about right and wrong that organize a group of people. </a:t>
            </a:r>
          </a:p>
          <a:p>
            <a:r>
              <a:rPr lang="en-US" dirty="0">
                <a:solidFill>
                  <a:srgbClr val="002060"/>
                </a:solidFill>
                <a:latin typeface="Garamond" panose="02020404030301010803" pitchFamily="18" charset="0"/>
              </a:rPr>
              <a:t>These include, for example, prohibitions against lying, murder, and theft, as well as exhortations to honor one’s parents and give aid to those who are suffering. </a:t>
            </a:r>
          </a:p>
          <a:p>
            <a:r>
              <a:rPr lang="en-US" dirty="0">
                <a:solidFill>
                  <a:srgbClr val="002060"/>
                </a:solidFill>
                <a:latin typeface="Garamond" panose="02020404030301010803" pitchFamily="18" charset="0"/>
              </a:rPr>
              <a:t>All human communities practice morality in one way or another. Yet not all people take the time to think about the nature of these principles: </a:t>
            </a:r>
            <a:r>
              <a:rPr lang="en-US" u="sng" dirty="0">
                <a:solidFill>
                  <a:srgbClr val="002060"/>
                </a:solidFill>
                <a:latin typeface="Garamond" panose="02020404030301010803" pitchFamily="18" charset="0"/>
              </a:rPr>
              <a:t>why they apply</a:t>
            </a:r>
            <a:r>
              <a:rPr lang="en-US" dirty="0">
                <a:solidFill>
                  <a:srgbClr val="002060"/>
                </a:solidFill>
                <a:latin typeface="Garamond" panose="02020404030301010803" pitchFamily="18" charset="0"/>
              </a:rPr>
              <a:t>, </a:t>
            </a:r>
            <a:r>
              <a:rPr lang="en-US" u="sng" dirty="0">
                <a:solidFill>
                  <a:srgbClr val="002060"/>
                </a:solidFill>
                <a:latin typeface="Garamond" panose="02020404030301010803" pitchFamily="18" charset="0"/>
              </a:rPr>
              <a:t>how they apply</a:t>
            </a:r>
            <a:r>
              <a:rPr lang="en-US" dirty="0">
                <a:solidFill>
                  <a:srgbClr val="002060"/>
                </a:solidFill>
                <a:latin typeface="Garamond" panose="02020404030301010803" pitchFamily="18" charset="0"/>
              </a:rPr>
              <a:t>, and </a:t>
            </a:r>
            <a:r>
              <a:rPr lang="en-US" u="sng" dirty="0">
                <a:solidFill>
                  <a:srgbClr val="002060"/>
                </a:solidFill>
                <a:latin typeface="Garamond" panose="02020404030301010803" pitchFamily="18" charset="0"/>
              </a:rPr>
              <a:t>what motivates us to abide by them.</a:t>
            </a:r>
            <a:r>
              <a:rPr lang="en-US" dirty="0">
                <a:solidFill>
                  <a:srgbClr val="002060"/>
                </a:solidFill>
                <a:latin typeface="Garamond" panose="02020404030301010803" pitchFamily="18" charset="0"/>
              </a:rPr>
              <a:t> </a:t>
            </a:r>
          </a:p>
          <a:p>
            <a:pPr marL="0" indent="0">
              <a:buNone/>
            </a:pPr>
            <a:r>
              <a:rPr lang="en-US" dirty="0">
                <a:solidFill>
                  <a:srgbClr val="002060"/>
                </a:solidFill>
                <a:latin typeface="Garamond" panose="02020404030301010803" pitchFamily="18" charset="0"/>
              </a:rPr>
              <a:t>Such reflection is the work of ethics, which requires asking important questions about the morality we practice. </a:t>
            </a:r>
          </a:p>
        </p:txBody>
      </p:sp>
    </p:spTree>
    <p:extLst>
      <p:ext uri="{BB962C8B-B14F-4D97-AF65-F5344CB8AC3E}">
        <p14:creationId xmlns:p14="http://schemas.microsoft.com/office/powerpoint/2010/main" val="327822399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p:txBody>
          <a:bodyPr/>
          <a:lstStyle/>
          <a:p>
            <a:r>
              <a:rPr lang="en-US" sz="4400" dirty="0">
                <a:solidFill>
                  <a:srgbClr val="002060"/>
                </a:solidFill>
                <a:latin typeface="Garamond" panose="02020404030301010803" pitchFamily="18" charset="0"/>
              </a:rPr>
              <a:t>Difference between Morality and Ethics </a:t>
            </a: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484671"/>
            <a:ext cx="10239555" cy="4382729"/>
          </a:xfrm>
        </p:spPr>
        <p:txBody>
          <a:bodyPr/>
          <a:lstStyle/>
          <a:p>
            <a:r>
              <a:rPr lang="en-US" sz="3600" dirty="0" smtClean="0">
                <a:solidFill>
                  <a:srgbClr val="002060"/>
                </a:solidFill>
                <a:latin typeface="Garamond" panose="02020404030301010803" pitchFamily="18" charset="0"/>
              </a:rPr>
              <a:t>We </a:t>
            </a:r>
            <a:r>
              <a:rPr lang="en-US" sz="3600" dirty="0">
                <a:solidFill>
                  <a:srgbClr val="002060"/>
                </a:solidFill>
                <a:latin typeface="Garamond" panose="02020404030301010803" pitchFamily="18" charset="0"/>
              </a:rPr>
              <a:t>can see this distinction at work in an experience from the life of Augustine (354-430), who is one of the most important philosophical and theological figures in the Christian tradition. </a:t>
            </a:r>
            <a:endParaRPr lang="en-GB" sz="4800" dirty="0">
              <a:solidFill>
                <a:srgbClr val="002060"/>
              </a:solidFill>
              <a:latin typeface="Garamond" panose="02020404030301010803" pitchFamily="18" charset="0"/>
            </a:endParaRPr>
          </a:p>
          <a:p>
            <a:pPr marL="0" indent="0">
              <a:buNone/>
            </a:pPr>
            <a:endParaRPr lang="en-GB" sz="3600" dirty="0">
              <a:solidFill>
                <a:srgbClr val="002060"/>
              </a:solidFill>
              <a:latin typeface="Garamond" panose="02020404030301010803" pitchFamily="18" charset="0"/>
            </a:endParaRPr>
          </a:p>
        </p:txBody>
      </p:sp>
    </p:spTree>
    <p:extLst>
      <p:ext uri="{BB962C8B-B14F-4D97-AF65-F5344CB8AC3E}">
        <p14:creationId xmlns:p14="http://schemas.microsoft.com/office/powerpoint/2010/main" val="2257241517"/>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263525"/>
            <a:ext cx="10515600" cy="1325563"/>
          </a:xfrm>
        </p:spPr>
        <p:txBody>
          <a:bodyPr/>
          <a:lstStyle/>
          <a:p>
            <a:r>
              <a:rPr lang="en-US" sz="4400" b="1" dirty="0">
                <a:solidFill>
                  <a:srgbClr val="002060"/>
                </a:solidFill>
                <a:latin typeface="Garamond" panose="02020404030301010803" pitchFamily="18" charset="0"/>
              </a:rPr>
              <a:t>Difference between Morality and Ethics </a:t>
            </a: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484671"/>
            <a:ext cx="10237305" cy="4382729"/>
          </a:xfrm>
        </p:spPr>
        <p:txBody>
          <a:bodyPr/>
          <a:lstStyle/>
          <a:p>
            <a:pPr marL="0" indent="0">
              <a:buNone/>
            </a:pPr>
            <a:r>
              <a:rPr lang="en-US" sz="2800" dirty="0">
                <a:solidFill>
                  <a:srgbClr val="002060"/>
                </a:solidFill>
                <a:latin typeface="Garamond" panose="02020404030301010803" pitchFamily="18" charset="0"/>
              </a:rPr>
              <a:t>In his spiritual autobiography, </a:t>
            </a:r>
            <a:r>
              <a:rPr lang="en-US" sz="2800" i="1" dirty="0">
                <a:solidFill>
                  <a:srgbClr val="002060"/>
                </a:solidFill>
                <a:latin typeface="Garamond" panose="02020404030301010803" pitchFamily="18" charset="0"/>
              </a:rPr>
              <a:t>Confessions</a:t>
            </a:r>
            <a:r>
              <a:rPr lang="en-US" sz="2800" dirty="0">
                <a:solidFill>
                  <a:srgbClr val="002060"/>
                </a:solidFill>
                <a:latin typeface="Garamond" panose="02020404030301010803" pitchFamily="18" charset="0"/>
              </a:rPr>
              <a:t>, Augustine recounts the story of how he stole some pears from a neighbor’s orchard.' He says that one evening some of his friends encouraged him to go out and raid the neighbor’s orchard for pears. </a:t>
            </a:r>
          </a:p>
          <a:p>
            <a:r>
              <a:rPr lang="en-US" sz="2800" dirty="0">
                <a:solidFill>
                  <a:srgbClr val="002060"/>
                </a:solidFill>
                <a:latin typeface="Garamond" panose="02020404030301010803" pitchFamily="18" charset="0"/>
              </a:rPr>
              <a:t>The pears were not particularly delicious, but Augustine wanted to go along because there was no fun in stealing them alone. He wanted “</a:t>
            </a:r>
            <a:r>
              <a:rPr lang="en-US" sz="2800" b="1" dirty="0">
                <a:solidFill>
                  <a:srgbClr val="002060"/>
                </a:solidFill>
                <a:latin typeface="Garamond" panose="02020404030301010803" pitchFamily="18" charset="0"/>
              </a:rPr>
              <a:t>companions in crime</a:t>
            </a:r>
            <a:r>
              <a:rPr lang="en-US" sz="2800" dirty="0">
                <a:solidFill>
                  <a:srgbClr val="002060"/>
                </a:solidFill>
                <a:latin typeface="Garamond" panose="02020404030301010803" pitchFamily="18" charset="0"/>
              </a:rPr>
              <a:t>.” </a:t>
            </a:r>
          </a:p>
          <a:p>
            <a:r>
              <a:rPr lang="en-US" sz="2800" dirty="0">
                <a:solidFill>
                  <a:srgbClr val="002060"/>
                </a:solidFill>
                <a:latin typeface="Garamond" panose="02020404030301010803" pitchFamily="18" charset="0"/>
              </a:rPr>
              <a:t>Augustine reflects that, had it not been for his morally suspect friends, he never would have stolen the pears, but there was a certain </a:t>
            </a:r>
            <a:r>
              <a:rPr lang="en-US" sz="2800" b="1" dirty="0">
                <a:solidFill>
                  <a:srgbClr val="002060"/>
                </a:solidFill>
                <a:latin typeface="Garamond" panose="02020404030301010803" pitchFamily="18" charset="0"/>
              </a:rPr>
              <a:t>social dynamic that influenced his behaviour</a:t>
            </a:r>
            <a:r>
              <a:rPr lang="en-US" sz="2800" dirty="0">
                <a:solidFill>
                  <a:srgbClr val="002060"/>
                </a:solidFill>
                <a:latin typeface="Garamond" panose="02020404030301010803" pitchFamily="18" charset="0"/>
              </a:rPr>
              <a:t>. </a:t>
            </a:r>
          </a:p>
        </p:txBody>
      </p:sp>
    </p:spTree>
    <p:extLst>
      <p:ext uri="{BB962C8B-B14F-4D97-AF65-F5344CB8AC3E}">
        <p14:creationId xmlns:p14="http://schemas.microsoft.com/office/powerpoint/2010/main" val="326328913"/>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p:txBody>
          <a:bodyPr/>
          <a:lstStyle/>
          <a:p>
            <a:r>
              <a:rPr lang="en-US" sz="4400" dirty="0">
                <a:solidFill>
                  <a:srgbClr val="002060"/>
                </a:solidFill>
                <a:latin typeface="Garamond" panose="02020404030301010803" pitchFamily="18" charset="0"/>
              </a:rPr>
              <a:t>Questions that arise thus…</a:t>
            </a: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484671"/>
            <a:ext cx="10343323" cy="4382729"/>
          </a:xfrm>
        </p:spPr>
        <p:txBody>
          <a:bodyPr/>
          <a:lstStyle/>
          <a:p>
            <a:pPr marL="742950" indent="-742950">
              <a:buFont typeface="+mj-lt"/>
              <a:buAutoNum type="arabicPeriod"/>
            </a:pPr>
            <a:r>
              <a:rPr lang="en-US" sz="3600" dirty="0">
                <a:solidFill>
                  <a:srgbClr val="002060"/>
                </a:solidFill>
              </a:rPr>
              <a:t>What did he find pleasurable in the experience?</a:t>
            </a:r>
          </a:p>
          <a:p>
            <a:pPr marL="742950" indent="-742950">
              <a:buFont typeface="+mj-lt"/>
              <a:buAutoNum type="arabicPeriod"/>
            </a:pPr>
            <a:r>
              <a:rPr lang="en-US" sz="3600" dirty="0">
                <a:solidFill>
                  <a:srgbClr val="002060"/>
                </a:solidFill>
              </a:rPr>
              <a:t>To what extent was he personally responsible for his actions? </a:t>
            </a:r>
          </a:p>
          <a:p>
            <a:pPr marL="742950" indent="-742950">
              <a:buFont typeface="+mj-lt"/>
              <a:buAutoNum type="arabicPeriod"/>
            </a:pPr>
            <a:r>
              <a:rPr lang="en-US" sz="3600" dirty="0">
                <a:solidFill>
                  <a:srgbClr val="002060"/>
                </a:solidFill>
              </a:rPr>
              <a:t>To what extent can we place the blame for our sinful actions on other people? </a:t>
            </a:r>
            <a:endParaRPr lang="en-GB" sz="4800" dirty="0">
              <a:solidFill>
                <a:srgbClr val="002060"/>
              </a:solidFill>
            </a:endParaRPr>
          </a:p>
          <a:p>
            <a:pPr marL="742950" indent="-742950">
              <a:buFont typeface="+mj-lt"/>
              <a:buAutoNum type="arabicPeriod"/>
            </a:pPr>
            <a:endParaRPr lang="en-GB" sz="3600" dirty="0">
              <a:solidFill>
                <a:srgbClr val="002060"/>
              </a:solidFill>
            </a:endParaRPr>
          </a:p>
        </p:txBody>
      </p:sp>
    </p:spTree>
    <p:extLst>
      <p:ext uri="{BB962C8B-B14F-4D97-AF65-F5344CB8AC3E}">
        <p14:creationId xmlns:p14="http://schemas.microsoft.com/office/powerpoint/2010/main" val="1247942996"/>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p:txBody>
          <a:bodyPr/>
          <a:lstStyle/>
          <a:p>
            <a:r>
              <a:rPr lang="en-US" sz="4400" dirty="0">
                <a:solidFill>
                  <a:srgbClr val="002060"/>
                </a:solidFill>
                <a:latin typeface="Garamond" panose="02020404030301010803" pitchFamily="18" charset="0"/>
              </a:rPr>
              <a:t>Difference between Morality and Ethics </a:t>
            </a: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484671"/>
            <a:ext cx="10239555" cy="4382729"/>
          </a:xfrm>
        </p:spPr>
        <p:txBody>
          <a:bodyPr>
            <a:normAutofit fontScale="92500" lnSpcReduction="10000"/>
          </a:bodyPr>
          <a:lstStyle/>
          <a:p>
            <a:pPr marL="0" indent="0">
              <a:buNone/>
            </a:pPr>
            <a:r>
              <a:rPr lang="en-US" dirty="0">
                <a:solidFill>
                  <a:srgbClr val="002060"/>
                </a:solidFill>
                <a:latin typeface="Garamond" panose="02020404030301010803" pitchFamily="18" charset="0"/>
              </a:rPr>
              <a:t>In this brief narrative from the life of Augustine, we can see the difference between morals and ethics. </a:t>
            </a:r>
          </a:p>
          <a:p>
            <a:pPr marL="0" indent="0">
              <a:buNone/>
            </a:pPr>
            <a:r>
              <a:rPr lang="en-US" b="1" dirty="0">
                <a:solidFill>
                  <a:srgbClr val="002060"/>
                </a:solidFill>
                <a:latin typeface="Garamond" panose="02020404030301010803" pitchFamily="18" charset="0"/>
              </a:rPr>
              <a:t>Morals are the collective values we live by</a:t>
            </a:r>
            <a:r>
              <a:rPr lang="en-US" dirty="0">
                <a:solidFill>
                  <a:srgbClr val="002060"/>
                </a:solidFill>
                <a:latin typeface="Garamond" panose="02020404030301010803" pitchFamily="18" charset="0"/>
              </a:rPr>
              <a:t>—</a:t>
            </a:r>
            <a:r>
              <a:rPr lang="en-US" i="1" dirty="0">
                <a:solidFill>
                  <a:srgbClr val="002060"/>
                </a:solidFill>
                <a:latin typeface="Garamond" panose="02020404030301010803" pitchFamily="18" charset="0"/>
              </a:rPr>
              <a:t>the values we ascribe to certain activities and goods. </a:t>
            </a:r>
          </a:p>
          <a:p>
            <a:r>
              <a:rPr lang="en-US" dirty="0">
                <a:solidFill>
                  <a:srgbClr val="002060"/>
                </a:solidFill>
                <a:latin typeface="Garamond" panose="02020404030301010803" pitchFamily="18" charset="0"/>
              </a:rPr>
              <a:t>Companionship is a value, but so too are self-restraint and respect for property that belongs to others. </a:t>
            </a:r>
          </a:p>
          <a:p>
            <a:r>
              <a:rPr lang="en-US" dirty="0">
                <a:solidFill>
                  <a:srgbClr val="002060"/>
                </a:solidFill>
                <a:latin typeface="Garamond" panose="02020404030301010803" pitchFamily="18" charset="0"/>
              </a:rPr>
              <a:t>Augustine’s morals as a young man had more to do with his desire for acceptance and pleasure than with a concern for integrity and respect. </a:t>
            </a:r>
          </a:p>
          <a:p>
            <a:r>
              <a:rPr lang="en-US" dirty="0">
                <a:solidFill>
                  <a:srgbClr val="002060"/>
                </a:solidFill>
                <a:latin typeface="Garamond" panose="02020404030301010803" pitchFamily="18" charset="0"/>
              </a:rPr>
              <a:t>Some people value money above all else, while others see a life of self-sacrifice as most valuable. Some people pursue pleasure at all costs, while still others believe that honesty in all circumstances is to be valued. </a:t>
            </a:r>
            <a:endParaRPr lang="en-GB" sz="3600" dirty="0">
              <a:solidFill>
                <a:srgbClr val="002060"/>
              </a:solidFill>
              <a:latin typeface="Garamond" panose="02020404030301010803" pitchFamily="18" charset="0"/>
            </a:endParaRPr>
          </a:p>
        </p:txBody>
      </p:sp>
    </p:spTree>
    <p:extLst>
      <p:ext uri="{BB962C8B-B14F-4D97-AF65-F5344CB8AC3E}">
        <p14:creationId xmlns:p14="http://schemas.microsoft.com/office/powerpoint/2010/main" val="601574841"/>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p:txBody>
          <a:bodyPr/>
          <a:lstStyle/>
          <a:p>
            <a:r>
              <a:rPr lang="en-US" sz="4400" b="1" dirty="0">
                <a:solidFill>
                  <a:srgbClr val="002060"/>
                </a:solidFill>
                <a:latin typeface="Garamond" panose="02020404030301010803" pitchFamily="18" charset="0"/>
              </a:rPr>
              <a:t>Difference between Morality and Ethics </a:t>
            </a: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484671"/>
            <a:ext cx="10239555" cy="4382729"/>
          </a:xfrm>
        </p:spPr>
        <p:txBody>
          <a:bodyPr/>
          <a:lstStyle/>
          <a:p>
            <a:pPr marL="0" indent="0">
              <a:buNone/>
            </a:pPr>
            <a:r>
              <a:rPr lang="en-US" sz="2800" dirty="0">
                <a:solidFill>
                  <a:srgbClr val="002060"/>
                </a:solidFill>
                <a:latin typeface="Garamond" panose="02020404030301010803" pitchFamily="18" charset="0"/>
              </a:rPr>
              <a:t>The point here is that all people have morals since we all value some behaviours over others. </a:t>
            </a:r>
          </a:p>
          <a:p>
            <a:r>
              <a:rPr lang="en-US" sz="2800" dirty="0">
                <a:solidFill>
                  <a:srgbClr val="002060"/>
                </a:solidFill>
                <a:latin typeface="Garamond" panose="02020404030301010803" pitchFamily="18" charset="0"/>
              </a:rPr>
              <a:t>Yet we not only judge some moral behaviours as better than others; we also judge some moral systems as better than others. </a:t>
            </a:r>
          </a:p>
          <a:p>
            <a:r>
              <a:rPr lang="en-US" sz="2800" dirty="0">
                <a:solidFill>
                  <a:srgbClr val="002060"/>
                </a:solidFill>
                <a:latin typeface="Garamond" panose="02020404030301010803" pitchFamily="18" charset="0"/>
              </a:rPr>
              <a:t>We can ask whether we were justified in some action, whether our intentions were the appropriate ones in a given situation, and whether we followed the guidance of our conscience. </a:t>
            </a:r>
          </a:p>
          <a:p>
            <a:r>
              <a:rPr lang="en-US" sz="2800" dirty="0">
                <a:solidFill>
                  <a:srgbClr val="002060"/>
                </a:solidFill>
                <a:latin typeface="Garamond" panose="02020404030301010803" pitchFamily="18" charset="0"/>
              </a:rPr>
              <a:t>These and other questions begin the process of systematic reflection on morals—or what we call “ethics.”</a:t>
            </a:r>
            <a:endParaRPr lang="en-GB" sz="2800" dirty="0">
              <a:solidFill>
                <a:srgbClr val="002060"/>
              </a:solidFill>
              <a:latin typeface="Garamond" panose="02020404030301010803" pitchFamily="18" charset="0"/>
            </a:endParaRPr>
          </a:p>
        </p:txBody>
      </p:sp>
    </p:spTree>
    <p:extLst>
      <p:ext uri="{BB962C8B-B14F-4D97-AF65-F5344CB8AC3E}">
        <p14:creationId xmlns:p14="http://schemas.microsoft.com/office/powerpoint/2010/main" val="1568215793"/>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13541" y="972458"/>
            <a:ext cx="10239555" cy="5359400"/>
          </a:xfrm>
        </p:spPr>
        <p:txBody>
          <a:bodyPr>
            <a:normAutofit/>
          </a:bodyPr>
          <a:lstStyle/>
          <a:p>
            <a:pPr marL="0" indent="0">
              <a:buNone/>
            </a:pPr>
            <a:r>
              <a:rPr lang="en-US" sz="2400" dirty="0">
                <a:solidFill>
                  <a:srgbClr val="002060"/>
                </a:solidFill>
                <a:latin typeface="Garamond" panose="02020404030301010803" pitchFamily="18" charset="0"/>
              </a:rPr>
              <a:t>Among those professionals who engage in the practice of ethics, we'll focus on two kinds: philosophers and theologians. </a:t>
            </a:r>
          </a:p>
          <a:p>
            <a:r>
              <a:rPr lang="en-US" sz="2400" dirty="0">
                <a:solidFill>
                  <a:srgbClr val="002060"/>
                </a:solidFill>
                <a:latin typeface="Garamond" panose="02020404030301010803" pitchFamily="18" charset="0"/>
              </a:rPr>
              <a:t>In general, philosophers consider life’s ultimate questions without regard to holding specific theological assumptions. </a:t>
            </a:r>
          </a:p>
          <a:p>
            <a:r>
              <a:rPr lang="en-US" sz="2400" dirty="0">
                <a:solidFill>
                  <a:srgbClr val="002060"/>
                </a:solidFill>
                <a:latin typeface="Garamond" panose="02020404030301010803" pitchFamily="18" charset="0"/>
              </a:rPr>
              <a:t>Historically, philosophy is the “love of wisdom” as developed by such figures as Socrates, Plato, and Aristotle. Philosophers often consider questions concerning the ultimate basis of reality, such as whether humans have free will, how knowledge is possible, and how the basic principles of logic work. </a:t>
            </a:r>
          </a:p>
          <a:p>
            <a:r>
              <a:rPr lang="en-US" sz="2400" dirty="0">
                <a:solidFill>
                  <a:srgbClr val="002060"/>
                </a:solidFill>
                <a:latin typeface="Garamond" panose="02020404030301010803" pitchFamily="18" charset="0"/>
              </a:rPr>
              <a:t>They also consider questions concerning the ultimate meaning of human existence, such as the nature of the soul and what constitutes the “good life.” </a:t>
            </a:r>
          </a:p>
          <a:p>
            <a:r>
              <a:rPr lang="en-US" sz="2400" dirty="0">
                <a:solidFill>
                  <a:srgbClr val="002060"/>
                </a:solidFill>
                <a:latin typeface="Garamond" panose="02020404030301010803" pitchFamily="18" charset="0"/>
              </a:rPr>
              <a:t>On all the aforementioned questions, their work oftentimes overlaps with that of theologians. When philosophers look at questions raised by ethics, this is known as </a:t>
            </a:r>
            <a:r>
              <a:rPr lang="en-US" sz="2400" b="1" dirty="0">
                <a:solidFill>
                  <a:srgbClr val="002060"/>
                </a:solidFill>
                <a:latin typeface="Garamond" panose="02020404030301010803" pitchFamily="18" charset="0"/>
              </a:rPr>
              <a:t>moral philosophy</a:t>
            </a:r>
            <a:r>
              <a:rPr lang="en-US" sz="2400" dirty="0">
                <a:solidFill>
                  <a:srgbClr val="002060"/>
                </a:solidFill>
                <a:latin typeface="Garamond" panose="02020404030301010803" pitchFamily="18" charset="0"/>
              </a:rPr>
              <a:t>—that is, the reflection on and the evaluation of moral principles and norms from the perspective of philosophy.</a:t>
            </a:r>
            <a:endParaRPr lang="en-GB" sz="2400" dirty="0">
              <a:solidFill>
                <a:srgbClr val="002060"/>
              </a:solidFill>
              <a:latin typeface="Garamond" panose="02020404030301010803" pitchFamily="18" charset="0"/>
            </a:endParaRPr>
          </a:p>
        </p:txBody>
      </p:sp>
    </p:spTree>
    <p:extLst>
      <p:ext uri="{BB962C8B-B14F-4D97-AF65-F5344CB8AC3E}">
        <p14:creationId xmlns:p14="http://schemas.microsoft.com/office/powerpoint/2010/main" val="3696292497"/>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p:txBody>
          <a:bodyPr/>
          <a:lstStyle/>
          <a:p>
            <a:r>
              <a:rPr lang="en-GB" dirty="0"/>
              <a:t/>
            </a:r>
            <a:br>
              <a:rPr lang="en-GB" dirty="0"/>
            </a:br>
            <a:endParaRPr lang="en-US" dirty="0"/>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484671"/>
            <a:ext cx="10239555" cy="4382729"/>
          </a:xfrm>
        </p:spPr>
        <p:txBody>
          <a:bodyPr>
            <a:normAutofit lnSpcReduction="10000"/>
          </a:bodyPr>
          <a:lstStyle/>
          <a:p>
            <a:pPr marL="0" indent="0">
              <a:buNone/>
            </a:pPr>
            <a:r>
              <a:rPr lang="en-US" sz="2600" dirty="0">
                <a:solidFill>
                  <a:srgbClr val="002060"/>
                </a:solidFill>
                <a:latin typeface="Garamond" panose="02020404030301010803" pitchFamily="18" charset="0"/>
              </a:rPr>
              <a:t>Theologians, however, take beliefs about God to form the core of their ideas about life. </a:t>
            </a:r>
          </a:p>
          <a:p>
            <a:r>
              <a:rPr lang="en-US" sz="2600" dirty="0">
                <a:solidFill>
                  <a:srgbClr val="002060"/>
                </a:solidFill>
                <a:latin typeface="Garamond" panose="02020404030301010803" pitchFamily="18" charset="0"/>
              </a:rPr>
              <a:t>They are not as concerned with proving God’s existence as they are with understanding God’s relationship to humanity and how reconciliation, salvation, and sanctification are possible. </a:t>
            </a:r>
          </a:p>
          <a:p>
            <a:r>
              <a:rPr lang="en-US" sz="2600" dirty="0">
                <a:solidFill>
                  <a:srgbClr val="002060"/>
                </a:solidFill>
                <a:latin typeface="Garamond" panose="02020404030301010803" pitchFamily="18" charset="0"/>
              </a:rPr>
              <a:t>In light of these concerns, theologians are often interested in how God’s relationship with humanity shapes and informs our behaviours toward one another and toward God. </a:t>
            </a:r>
          </a:p>
          <a:p>
            <a:r>
              <a:rPr lang="en-US" sz="2600" dirty="0">
                <a:solidFill>
                  <a:srgbClr val="002060"/>
                </a:solidFill>
                <a:latin typeface="Garamond" panose="02020404030301010803" pitchFamily="18" charset="0"/>
              </a:rPr>
              <a:t>When theologians consider ethical questions, this is usually known as </a:t>
            </a:r>
            <a:r>
              <a:rPr lang="en-US" sz="2600" b="1" dirty="0">
                <a:solidFill>
                  <a:srgbClr val="002060"/>
                </a:solidFill>
                <a:latin typeface="Garamond" panose="02020404030301010803" pitchFamily="18" charset="0"/>
              </a:rPr>
              <a:t>moral theology</a:t>
            </a:r>
            <a:r>
              <a:rPr lang="en-US" sz="2600" dirty="0">
                <a:solidFill>
                  <a:srgbClr val="002060"/>
                </a:solidFill>
                <a:latin typeface="Garamond" panose="02020404030301010803" pitchFamily="18" charset="0"/>
              </a:rPr>
              <a:t>—that is, the reflection on the moral principles and narratives as found in the Scriptures and church tradition from the perspective of faith. </a:t>
            </a:r>
            <a:endParaRPr lang="en-GB" sz="2600" dirty="0">
              <a:solidFill>
                <a:srgbClr val="002060"/>
              </a:solidFill>
              <a:latin typeface="Garamond" panose="02020404030301010803" pitchFamily="18" charset="0"/>
            </a:endParaRPr>
          </a:p>
        </p:txBody>
      </p:sp>
    </p:spTree>
    <p:extLst>
      <p:ext uri="{BB962C8B-B14F-4D97-AF65-F5344CB8AC3E}">
        <p14:creationId xmlns:p14="http://schemas.microsoft.com/office/powerpoint/2010/main" val="1333474023"/>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p:txBody>
          <a:bodyPr/>
          <a:lstStyle/>
          <a:p>
            <a:r>
              <a:rPr lang="en-GB" dirty="0"/>
              <a:t/>
            </a:r>
            <a:br>
              <a:rPr lang="en-GB" dirty="0"/>
            </a:br>
            <a:endParaRPr lang="en-US" dirty="0"/>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226457" y="1027906"/>
            <a:ext cx="10449340" cy="4382729"/>
          </a:xfrm>
        </p:spPr>
        <p:txBody>
          <a:bodyPr>
            <a:noAutofit/>
          </a:bodyPr>
          <a:lstStyle/>
          <a:p>
            <a:pPr marL="0" indent="0">
              <a:buNone/>
            </a:pPr>
            <a:r>
              <a:rPr lang="en-US" sz="2400" dirty="0">
                <a:solidFill>
                  <a:srgbClr val="002060"/>
                </a:solidFill>
                <a:latin typeface="Garamond" panose="02020404030301010803" pitchFamily="18" charset="0"/>
              </a:rPr>
              <a:t>There is not always a clear distinction between philosophers and theologians (and between moral philosophy and moral theology), since some philosophers have religious commitments, while others do not. </a:t>
            </a:r>
          </a:p>
          <a:p>
            <a:r>
              <a:rPr lang="en-US" sz="2400" dirty="0">
                <a:solidFill>
                  <a:srgbClr val="002060"/>
                </a:solidFill>
                <a:latin typeface="Garamond" panose="02020404030301010803" pitchFamily="18" charset="0"/>
              </a:rPr>
              <a:t>For example, Plato and Aristotle—two of the greatest Greek philosophers—both wrote extensively on ethical issues, including themes many Christians hold to be central to the life of faith such as justice, friendship, courage, and self-control. </a:t>
            </a:r>
          </a:p>
          <a:p>
            <a:r>
              <a:rPr lang="en-US" sz="2400" dirty="0">
                <a:solidFill>
                  <a:srgbClr val="002060"/>
                </a:solidFill>
                <a:latin typeface="Garamond" panose="02020404030301010803" pitchFamily="18" charset="0"/>
              </a:rPr>
              <a:t>Other philosophers such as Friedrich Nietzsche and Jean-Paul Sartre were openly hostile to Christian beliefs. </a:t>
            </a:r>
          </a:p>
          <a:p>
            <a:r>
              <a:rPr lang="en-US" sz="2400" dirty="0">
                <a:solidFill>
                  <a:srgbClr val="002060"/>
                </a:solidFill>
                <a:latin typeface="Garamond" panose="02020404030301010803" pitchFamily="18" charset="0"/>
              </a:rPr>
              <a:t>Still others like Augustine and Thomas Aquinas blur the lines considerably, since they not only engaged both philosophy and theology but also held to the idea that philosophy without the correcting influence of theology was fundamentally incomplete. </a:t>
            </a:r>
          </a:p>
          <a:p>
            <a:r>
              <a:rPr lang="en-US" sz="2400" dirty="0">
                <a:solidFill>
                  <a:srgbClr val="002060"/>
                </a:solidFill>
                <a:latin typeface="Garamond" panose="02020404030301010803" pitchFamily="18" charset="0"/>
              </a:rPr>
              <a:t>As a result, we see that there is often a great deal of overlap between what counts as moral philosophy and what counts as moral theology</a:t>
            </a:r>
            <a:endParaRPr lang="en-GB" sz="2400" dirty="0">
              <a:solidFill>
                <a:srgbClr val="002060"/>
              </a:solidFill>
              <a:latin typeface="Garamond" panose="02020404030301010803" pitchFamily="18" charset="0"/>
            </a:endParaRPr>
          </a:p>
        </p:txBody>
      </p:sp>
    </p:spTree>
    <p:extLst>
      <p:ext uri="{BB962C8B-B14F-4D97-AF65-F5344CB8AC3E}">
        <p14:creationId xmlns:p14="http://schemas.microsoft.com/office/powerpoint/2010/main" val="4186420972"/>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p:txBody>
          <a:bodyPr/>
          <a:lstStyle/>
          <a:p>
            <a:r>
              <a:rPr lang="en-GB" dirty="0"/>
              <a:t/>
            </a:r>
            <a:br>
              <a:rPr lang="en-GB" dirty="0"/>
            </a:br>
            <a:endParaRPr lang="en-US" dirty="0"/>
          </a:p>
        </p:txBody>
      </p:sp>
      <p:sp>
        <p:nvSpPr>
          <p:cNvPr id="5" name="Content Placeholder 4"/>
          <p:cNvSpPr>
            <a:spLocks noGrp="1"/>
          </p:cNvSpPr>
          <p:nvPr>
            <p:ph idx="1"/>
          </p:nvPr>
        </p:nvSpPr>
        <p:spPr/>
        <p:txBody>
          <a:bodyPr>
            <a:normAutofit/>
          </a:bodyPr>
          <a:lstStyle/>
          <a:p>
            <a:pPr marL="0" indent="0">
              <a:buNone/>
            </a:pPr>
            <a:r>
              <a:rPr lang="en-US" dirty="0" smtClean="0">
                <a:solidFill>
                  <a:srgbClr val="002060"/>
                </a:solidFill>
                <a:latin typeface="Garamond" panose="02020404030301010803" pitchFamily="18" charset="0"/>
              </a:rPr>
              <a:t>Platonic </a:t>
            </a:r>
            <a:r>
              <a:rPr lang="en-US" dirty="0">
                <a:solidFill>
                  <a:srgbClr val="002060"/>
                </a:solidFill>
                <a:latin typeface="Garamond" panose="02020404030301010803" pitchFamily="18" charset="0"/>
              </a:rPr>
              <a:t>thought makes much of </a:t>
            </a:r>
            <a:r>
              <a:rPr lang="en-US" i="1" dirty="0" err="1">
                <a:solidFill>
                  <a:srgbClr val="002060"/>
                </a:solidFill>
                <a:latin typeface="Garamond" panose="02020404030301010803" pitchFamily="18" charset="0"/>
              </a:rPr>
              <a:t>eros</a:t>
            </a:r>
            <a:r>
              <a:rPr lang="en-US" dirty="0">
                <a:solidFill>
                  <a:srgbClr val="002060"/>
                </a:solidFill>
                <a:latin typeface="Garamond" panose="02020404030301010803" pitchFamily="18" charset="0"/>
              </a:rPr>
              <a:t>, and </a:t>
            </a:r>
            <a:r>
              <a:rPr lang="en-US" i="1" dirty="0" err="1">
                <a:solidFill>
                  <a:srgbClr val="002060"/>
                </a:solidFill>
                <a:latin typeface="Garamond" panose="02020404030301010803" pitchFamily="18" charset="0"/>
              </a:rPr>
              <a:t>eros</a:t>
            </a:r>
            <a:r>
              <a:rPr lang="en-US" i="1" dirty="0">
                <a:solidFill>
                  <a:srgbClr val="002060"/>
                </a:solidFill>
                <a:latin typeface="Garamond" panose="02020404030301010803" pitchFamily="18" charset="0"/>
              </a:rPr>
              <a:t> </a:t>
            </a:r>
            <a:r>
              <a:rPr lang="en-US" dirty="0">
                <a:solidFill>
                  <a:srgbClr val="002060"/>
                </a:solidFill>
                <a:latin typeface="Garamond" panose="02020404030301010803" pitchFamily="18" charset="0"/>
              </a:rPr>
              <a:t>means love. Yet </a:t>
            </a:r>
            <a:r>
              <a:rPr lang="en-US" i="1" dirty="0">
                <a:solidFill>
                  <a:srgbClr val="002060"/>
                </a:solidFill>
                <a:latin typeface="Garamond" panose="02020404030301010803" pitchFamily="18" charset="0"/>
              </a:rPr>
              <a:t>agape </a:t>
            </a:r>
            <a:r>
              <a:rPr lang="en-US" dirty="0">
                <a:solidFill>
                  <a:srgbClr val="002060"/>
                </a:solidFill>
                <a:latin typeface="Garamond" panose="02020404030301010803" pitchFamily="18" charset="0"/>
              </a:rPr>
              <a:t>though it also means love, is not the  same thing as </a:t>
            </a:r>
            <a:r>
              <a:rPr lang="en-US" i="1" dirty="0" err="1">
                <a:solidFill>
                  <a:srgbClr val="002060"/>
                </a:solidFill>
                <a:latin typeface="Garamond" panose="02020404030301010803" pitchFamily="18" charset="0"/>
              </a:rPr>
              <a:t>eros</a:t>
            </a:r>
            <a:r>
              <a:rPr lang="en-US" dirty="0">
                <a:solidFill>
                  <a:srgbClr val="002060"/>
                </a:solidFill>
                <a:latin typeface="Garamond" panose="02020404030301010803" pitchFamily="18" charset="0"/>
              </a:rPr>
              <a:t>. </a:t>
            </a:r>
            <a:r>
              <a:rPr lang="en-US" i="1" dirty="0">
                <a:solidFill>
                  <a:srgbClr val="002060"/>
                </a:solidFill>
                <a:latin typeface="Garamond" panose="02020404030301010803" pitchFamily="18" charset="0"/>
              </a:rPr>
              <a:t>Eros </a:t>
            </a:r>
            <a:r>
              <a:rPr lang="en-US" dirty="0">
                <a:solidFill>
                  <a:srgbClr val="002060"/>
                </a:solidFill>
                <a:latin typeface="Garamond" panose="02020404030301010803" pitchFamily="18" charset="0"/>
              </a:rPr>
              <a:t>(which must not be confused with its modern derivative, "the erotic’) means a quest for the highest values, the harmonious  adjustment  of  personality  in  a  well-rounded  life,  self- fulfillment through seeking the good. </a:t>
            </a:r>
            <a:endParaRPr lang="en-US" dirty="0" smtClean="0">
              <a:solidFill>
                <a:srgbClr val="002060"/>
              </a:solidFill>
              <a:latin typeface="Garamond" panose="02020404030301010803" pitchFamily="18" charset="0"/>
            </a:endParaRPr>
          </a:p>
          <a:p>
            <a:pPr marL="0" indent="0">
              <a:buNone/>
            </a:pPr>
            <a:r>
              <a:rPr lang="en-US" dirty="0" smtClean="0">
                <a:solidFill>
                  <a:srgbClr val="002060"/>
                </a:solidFill>
                <a:latin typeface="Garamond" panose="02020404030301010803" pitchFamily="18" charset="0"/>
              </a:rPr>
              <a:t>This </a:t>
            </a:r>
            <a:r>
              <a:rPr lang="en-US" dirty="0">
                <a:solidFill>
                  <a:srgbClr val="002060"/>
                </a:solidFill>
                <a:latin typeface="Garamond" panose="02020404030301010803" pitchFamily="18" charset="0"/>
              </a:rPr>
              <a:t>is achieved in the individual only through promoting the well-being of others. It therefore involves mutuality in love. Its modern correlate is the quest for "the good life" through self-realization. </a:t>
            </a:r>
          </a:p>
        </p:txBody>
      </p:sp>
      <p:sp>
        <p:nvSpPr>
          <p:cNvPr id="6" name="Rectangle 5"/>
          <p:cNvSpPr/>
          <p:nvPr/>
        </p:nvSpPr>
        <p:spPr>
          <a:xfrm>
            <a:off x="1100240" y="800100"/>
            <a:ext cx="5184689" cy="646331"/>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002060"/>
                </a:solidFill>
                <a:effectLst/>
                <a:uLnTx/>
                <a:uFillTx/>
                <a:latin typeface="Garamond" panose="02020404030301010803" pitchFamily="18" charset="0"/>
                <a:ea typeface="Times New Roman" panose="02020603050405020304" pitchFamily="18" charset="0"/>
                <a:cs typeface="+mn-cs"/>
              </a:rPr>
              <a:t>Plato’s Moral Philosophy </a:t>
            </a:r>
            <a:endParaRPr kumimoji="0" lang="en-US" sz="3600" b="1" i="0" u="none" strike="noStrike" kern="1200" cap="none" spc="0" normalizeH="0" baseline="0" noProof="0" dirty="0">
              <a:ln>
                <a:noFill/>
              </a:ln>
              <a:solidFill>
                <a:srgbClr val="002060"/>
              </a:solidFill>
              <a:effectLst/>
              <a:uLnTx/>
              <a:uFillTx/>
              <a:latin typeface="Garamond" panose="02020404030301010803" pitchFamily="18" charset="0"/>
              <a:ea typeface="+mn-ea"/>
              <a:cs typeface="+mn-cs"/>
            </a:endParaRPr>
          </a:p>
        </p:txBody>
      </p:sp>
    </p:spTree>
    <p:extLst>
      <p:ext uri="{BB962C8B-B14F-4D97-AF65-F5344CB8AC3E}">
        <p14:creationId xmlns:p14="http://schemas.microsoft.com/office/powerpoint/2010/main" val="147504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p:txBody>
          <a:bodyPr/>
          <a:lstStyle/>
          <a:p>
            <a:r>
              <a:rPr lang="en-GB" dirty="0"/>
              <a:t/>
            </a:r>
            <a:br>
              <a:rPr lang="en-GB" dirty="0"/>
            </a:br>
            <a:endParaRPr lang="en-US" dirty="0"/>
          </a:p>
        </p:txBody>
      </p:sp>
      <p:sp>
        <p:nvSpPr>
          <p:cNvPr id="5" name="Content Placeholder 4"/>
          <p:cNvSpPr>
            <a:spLocks noGrp="1"/>
          </p:cNvSpPr>
          <p:nvPr>
            <p:ph idx="1"/>
          </p:nvPr>
        </p:nvSpPr>
        <p:spPr>
          <a:xfrm>
            <a:off x="1219201" y="1309914"/>
            <a:ext cx="10276113" cy="4572000"/>
          </a:xfrm>
        </p:spPr>
        <p:txBody>
          <a:bodyPr>
            <a:noAutofit/>
          </a:bodyPr>
          <a:lstStyle/>
          <a:p>
            <a:pPr marL="0" indent="0">
              <a:buNone/>
            </a:pPr>
            <a:r>
              <a:rPr lang="en-US" sz="2400" dirty="0">
                <a:solidFill>
                  <a:srgbClr val="002060"/>
                </a:solidFill>
                <a:latin typeface="Garamond" panose="02020404030301010803" pitchFamily="18" charset="0"/>
              </a:rPr>
              <a:t>Aristotle’s </a:t>
            </a:r>
            <a:r>
              <a:rPr lang="en-US" sz="2400" dirty="0" err="1">
                <a:solidFill>
                  <a:srgbClr val="002060"/>
                </a:solidFill>
                <a:latin typeface="Garamond" panose="02020404030301010803" pitchFamily="18" charset="0"/>
              </a:rPr>
              <a:t>eudaemonism</a:t>
            </a:r>
            <a:r>
              <a:rPr lang="en-US" sz="2400" dirty="0">
                <a:solidFill>
                  <a:srgbClr val="002060"/>
                </a:solidFill>
                <a:latin typeface="Garamond" panose="02020404030301010803" pitchFamily="18" charset="0"/>
              </a:rPr>
              <a:t>, with its emphasis on a life of moderation with every man fulfilling  the function for which he is fitted by nature, and thereby  ensuring  happiness,  is  a  practical  and  down-to-earth  system which still has much modern relevance. </a:t>
            </a:r>
            <a:endParaRPr lang="en-US" sz="2400" dirty="0" smtClean="0">
              <a:solidFill>
                <a:srgbClr val="002060"/>
              </a:solidFill>
              <a:latin typeface="Garamond" panose="02020404030301010803" pitchFamily="18" charset="0"/>
            </a:endParaRPr>
          </a:p>
          <a:p>
            <a:pPr marL="0" indent="0">
              <a:buNone/>
            </a:pPr>
            <a:r>
              <a:rPr lang="en-US" sz="2400" dirty="0" smtClean="0">
                <a:solidFill>
                  <a:srgbClr val="002060"/>
                </a:solidFill>
                <a:latin typeface="Garamond" panose="02020404030301010803" pitchFamily="18" charset="0"/>
              </a:rPr>
              <a:t>The  </a:t>
            </a:r>
            <a:r>
              <a:rPr lang="en-US" sz="2400" dirty="0">
                <a:solidFill>
                  <a:srgbClr val="002060"/>
                </a:solidFill>
                <a:latin typeface="Garamond" panose="02020404030301010803" pitchFamily="18" charset="0"/>
              </a:rPr>
              <a:t>hedonistic, or pleasure- seeking,  ethics  of  Epicurus  was  by  no  means  the  crass  </a:t>
            </a:r>
            <a:r>
              <a:rPr lang="en-US" sz="2400" dirty="0" err="1">
                <a:solidFill>
                  <a:srgbClr val="002060"/>
                </a:solidFill>
                <a:latin typeface="Garamond" panose="02020404030301010803" pitchFamily="18" charset="0"/>
              </a:rPr>
              <a:t>sensualism</a:t>
            </a:r>
            <a:r>
              <a:rPr lang="en-US" sz="2400" dirty="0">
                <a:solidFill>
                  <a:srgbClr val="002060"/>
                </a:solidFill>
                <a:latin typeface="Garamond" panose="02020404030301010803" pitchFamily="18" charset="0"/>
              </a:rPr>
              <a:t> suggested by the oft-quoted ‘Eat, drink, and be merry; for tomorrow we die"; it centered in a refined enjoyment of congenial friends, simplicity of living, and freedom from tension in a cultured and </a:t>
            </a:r>
            <a:r>
              <a:rPr lang="en-US" sz="2400" dirty="0" err="1">
                <a:solidFill>
                  <a:srgbClr val="002060"/>
                </a:solidFill>
                <a:latin typeface="Garamond" panose="02020404030301010803" pitchFamily="18" charset="0"/>
              </a:rPr>
              <a:t>unstrenuous</a:t>
            </a:r>
            <a:r>
              <a:rPr lang="en-US" sz="2400" dirty="0">
                <a:solidFill>
                  <a:srgbClr val="002060"/>
                </a:solidFill>
                <a:latin typeface="Garamond" panose="02020404030301010803" pitchFamily="18" charset="0"/>
              </a:rPr>
              <a:t> life. </a:t>
            </a:r>
            <a:endParaRPr lang="en-US" sz="2400" dirty="0" smtClean="0">
              <a:solidFill>
                <a:srgbClr val="002060"/>
              </a:solidFill>
              <a:latin typeface="Garamond" panose="02020404030301010803" pitchFamily="18" charset="0"/>
            </a:endParaRPr>
          </a:p>
          <a:p>
            <a:pPr marL="0" indent="0">
              <a:buNone/>
            </a:pPr>
            <a:r>
              <a:rPr lang="en-US" sz="2400" dirty="0" smtClean="0">
                <a:solidFill>
                  <a:srgbClr val="002060"/>
                </a:solidFill>
                <a:latin typeface="Garamond" panose="02020404030301010803" pitchFamily="18" charset="0"/>
              </a:rPr>
              <a:t>Stoicism</a:t>
            </a:r>
            <a:r>
              <a:rPr lang="en-US" sz="2400" dirty="0">
                <a:solidFill>
                  <a:srgbClr val="002060"/>
                </a:solidFill>
                <a:latin typeface="Garamond" panose="02020404030301010803" pitchFamily="18" charset="0"/>
              </a:rPr>
              <a:t>, on the other hand, with its appeal to  courage in the face of life’s vicissitudes and the pursuit of virtue solely for virtue’s sake, was both a more serious and a more religiously grounded ethic. Its doctrine of an  all-pervasive World-Reason, or Logos, and of a natural law of morality fundamental to all  existence and embracing in its scope all men, had a note of universalism which made Stoicism particularly open to amalgamation with Christian thought. </a:t>
            </a:r>
          </a:p>
          <a:p>
            <a:pPr marL="0" indent="0">
              <a:buNone/>
            </a:pPr>
            <a:r>
              <a:rPr lang="en-US" sz="2400" dirty="0">
                <a:solidFill>
                  <a:srgbClr val="002060"/>
                </a:solidFill>
                <a:latin typeface="Garamond" panose="02020404030301010803" pitchFamily="18" charset="0"/>
              </a:rPr>
              <a:t> </a:t>
            </a:r>
          </a:p>
        </p:txBody>
      </p:sp>
      <p:sp>
        <p:nvSpPr>
          <p:cNvPr id="6" name="Rectangle 5"/>
          <p:cNvSpPr/>
          <p:nvPr/>
        </p:nvSpPr>
        <p:spPr>
          <a:xfrm>
            <a:off x="1071212" y="476934"/>
            <a:ext cx="6884770" cy="646331"/>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002060"/>
                </a:solidFill>
                <a:effectLst/>
                <a:uLnTx/>
                <a:uFillTx/>
                <a:latin typeface="Garamond" panose="02020404030301010803" pitchFamily="18" charset="0"/>
                <a:ea typeface="+mn-ea"/>
                <a:cs typeface="+mn-cs"/>
              </a:rPr>
              <a:t>The Moral Philosophy of Aristotle</a:t>
            </a:r>
            <a:endParaRPr kumimoji="0" lang="en-US" sz="6000" b="1" i="0" u="none" strike="noStrike" kern="1200" cap="none" spc="0" normalizeH="0" baseline="0" noProof="0" dirty="0">
              <a:ln>
                <a:noFill/>
              </a:ln>
              <a:solidFill>
                <a:srgbClr val="002060"/>
              </a:solidFill>
              <a:effectLst/>
              <a:uLnTx/>
              <a:uFillTx/>
              <a:latin typeface="Garamond" panose="02020404030301010803" pitchFamily="18" charset="0"/>
              <a:ea typeface="+mn-ea"/>
              <a:cs typeface="+mn-cs"/>
            </a:endParaRPr>
          </a:p>
        </p:txBody>
      </p:sp>
    </p:spTree>
    <p:extLst>
      <p:ext uri="{BB962C8B-B14F-4D97-AF65-F5344CB8AC3E}">
        <p14:creationId xmlns:p14="http://schemas.microsoft.com/office/powerpoint/2010/main" val="29254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p:txBody>
          <a:bodyPr/>
          <a:lstStyle/>
          <a:p>
            <a:r>
              <a:rPr lang="en-GB" dirty="0">
                <a:solidFill>
                  <a:srgbClr val="002060"/>
                </a:solidFill>
                <a:latin typeface="Garamond" panose="02020404030301010803" pitchFamily="18" charset="0"/>
              </a:rPr>
              <a:t/>
            </a:r>
            <a:br>
              <a:rPr lang="en-GB" dirty="0">
                <a:solidFill>
                  <a:srgbClr val="002060"/>
                </a:solidFill>
                <a:latin typeface="Garamond" panose="02020404030301010803" pitchFamily="18" charset="0"/>
              </a:rPr>
            </a:br>
            <a:endParaRPr lang="en-US" dirty="0">
              <a:solidFill>
                <a:srgbClr val="002060"/>
              </a:solidFill>
              <a:latin typeface="Garamond" panose="02020404030301010803" pitchFamily="18" charset="0"/>
            </a:endParaRPr>
          </a:p>
        </p:txBody>
      </p:sp>
      <p:sp>
        <p:nvSpPr>
          <p:cNvPr id="5" name="Content Placeholder 4"/>
          <p:cNvSpPr>
            <a:spLocks noGrp="1"/>
          </p:cNvSpPr>
          <p:nvPr>
            <p:ph idx="1"/>
          </p:nvPr>
        </p:nvSpPr>
        <p:spPr>
          <a:xfrm>
            <a:off x="1219201" y="1309913"/>
            <a:ext cx="10276113" cy="5323115"/>
          </a:xfrm>
        </p:spPr>
        <p:txBody>
          <a:bodyPr>
            <a:noAutofit/>
          </a:bodyPr>
          <a:lstStyle/>
          <a:p>
            <a:pPr marL="0" indent="0">
              <a:buNone/>
            </a:pPr>
            <a:r>
              <a:rPr lang="en-US" sz="2400" dirty="0">
                <a:solidFill>
                  <a:srgbClr val="002060"/>
                </a:solidFill>
                <a:latin typeface="Garamond" panose="02020404030301010803" pitchFamily="18" charset="0"/>
              </a:rPr>
              <a:t>These, of course, are not the only classical systems of moral philosophy. </a:t>
            </a:r>
            <a:endParaRPr lang="en-US" sz="2400" dirty="0" smtClean="0">
              <a:solidFill>
                <a:srgbClr val="002060"/>
              </a:solidFill>
              <a:latin typeface="Garamond" panose="02020404030301010803" pitchFamily="18" charset="0"/>
            </a:endParaRPr>
          </a:p>
          <a:p>
            <a:pPr marL="0" indent="0">
              <a:buNone/>
            </a:pPr>
            <a:r>
              <a:rPr lang="en-US" sz="2400" dirty="0" smtClean="0">
                <a:solidFill>
                  <a:srgbClr val="002060"/>
                </a:solidFill>
                <a:latin typeface="Garamond" panose="02020404030301010803" pitchFamily="18" charset="0"/>
              </a:rPr>
              <a:t>There </a:t>
            </a:r>
            <a:r>
              <a:rPr lang="en-US" sz="2400" dirty="0">
                <a:solidFill>
                  <a:srgbClr val="002060"/>
                </a:solidFill>
                <a:latin typeface="Garamond" panose="02020404030301010803" pitchFamily="18" charset="0"/>
              </a:rPr>
              <a:t>is the formal, </a:t>
            </a:r>
            <a:r>
              <a:rPr lang="en-US" sz="2400" b="1" dirty="0">
                <a:solidFill>
                  <a:srgbClr val="002060"/>
                </a:solidFill>
                <a:latin typeface="Garamond" panose="02020404030301010803" pitchFamily="18" charset="0"/>
              </a:rPr>
              <a:t>duty ethics </a:t>
            </a:r>
            <a:r>
              <a:rPr lang="en-US" sz="2400" dirty="0">
                <a:solidFill>
                  <a:srgbClr val="002060"/>
                </a:solidFill>
                <a:latin typeface="Garamond" panose="02020404030301010803" pitchFamily="18" charset="0"/>
              </a:rPr>
              <a:t>of </a:t>
            </a:r>
            <a:r>
              <a:rPr lang="en-US" sz="2400" dirty="0" smtClean="0">
                <a:solidFill>
                  <a:srgbClr val="002060"/>
                </a:solidFill>
                <a:latin typeface="Garamond" panose="02020404030301010803" pitchFamily="18" charset="0"/>
              </a:rPr>
              <a:t>Immanuel Kant </a:t>
            </a:r>
            <a:r>
              <a:rPr lang="en-US" sz="2400" dirty="0">
                <a:solidFill>
                  <a:srgbClr val="002060"/>
                </a:solidFill>
                <a:latin typeface="Garamond" panose="02020404030301010803" pitchFamily="18" charset="0"/>
              </a:rPr>
              <a:t>with its </a:t>
            </a:r>
            <a:r>
              <a:rPr lang="en-US" sz="2400" b="1" dirty="0">
                <a:solidFill>
                  <a:srgbClr val="002060"/>
                </a:solidFill>
                <a:latin typeface="Garamond" panose="02020404030301010803" pitchFamily="18" charset="0"/>
              </a:rPr>
              <a:t>categorical imperative</a:t>
            </a:r>
            <a:r>
              <a:rPr lang="en-US" sz="2400" dirty="0">
                <a:solidFill>
                  <a:srgbClr val="002060"/>
                </a:solidFill>
                <a:latin typeface="Garamond" panose="02020404030301010803" pitchFamily="18" charset="0"/>
              </a:rPr>
              <a:t>, or unconditional demand, to treat all persons as ends, never as means, and to act only in such a way that one’s conduct could be universalized. </a:t>
            </a:r>
            <a:endParaRPr lang="en-US" sz="2400" dirty="0" smtClean="0">
              <a:solidFill>
                <a:srgbClr val="002060"/>
              </a:solidFill>
              <a:latin typeface="Garamond" panose="02020404030301010803" pitchFamily="18" charset="0"/>
            </a:endParaRPr>
          </a:p>
          <a:p>
            <a:pPr marL="0" indent="0">
              <a:buNone/>
            </a:pPr>
            <a:r>
              <a:rPr lang="en-US" sz="2400" dirty="0" smtClean="0">
                <a:solidFill>
                  <a:srgbClr val="002060"/>
                </a:solidFill>
                <a:latin typeface="Garamond" panose="02020404030301010803" pitchFamily="18" charset="0"/>
              </a:rPr>
              <a:t>There </a:t>
            </a:r>
            <a:r>
              <a:rPr lang="en-US" sz="2400" dirty="0">
                <a:solidFill>
                  <a:srgbClr val="002060"/>
                </a:solidFill>
                <a:latin typeface="Garamond" panose="02020404030301010803" pitchFamily="18" charset="0"/>
              </a:rPr>
              <a:t>is also the </a:t>
            </a:r>
            <a:r>
              <a:rPr lang="en-US" sz="2400" b="1" dirty="0">
                <a:solidFill>
                  <a:srgbClr val="002060"/>
                </a:solidFill>
                <a:latin typeface="Garamond" panose="02020404030301010803" pitchFamily="18" charset="0"/>
              </a:rPr>
              <a:t>utilitarianism</a:t>
            </a:r>
            <a:r>
              <a:rPr lang="en-US" sz="2400" dirty="0">
                <a:solidFill>
                  <a:srgbClr val="002060"/>
                </a:solidFill>
                <a:latin typeface="Garamond" panose="02020404030301010803" pitchFamily="18" charset="0"/>
              </a:rPr>
              <a:t> of </a:t>
            </a:r>
            <a:r>
              <a:rPr lang="en-US" sz="2400" dirty="0" smtClean="0">
                <a:solidFill>
                  <a:srgbClr val="002060"/>
                </a:solidFill>
                <a:latin typeface="Garamond" panose="02020404030301010803" pitchFamily="18" charset="0"/>
              </a:rPr>
              <a:t>Jeremy Bentham </a:t>
            </a:r>
            <a:r>
              <a:rPr lang="en-US" sz="2400" dirty="0">
                <a:solidFill>
                  <a:srgbClr val="002060"/>
                </a:solidFill>
                <a:latin typeface="Garamond" panose="02020404030301010803" pitchFamily="18" charset="0"/>
              </a:rPr>
              <a:t>and </a:t>
            </a:r>
            <a:r>
              <a:rPr lang="en-US" sz="2400" dirty="0" smtClean="0">
                <a:solidFill>
                  <a:srgbClr val="002060"/>
                </a:solidFill>
                <a:latin typeface="Garamond" panose="02020404030301010803" pitchFamily="18" charset="0"/>
              </a:rPr>
              <a:t>John Stuart Mill</a:t>
            </a:r>
            <a:r>
              <a:rPr lang="en-US" sz="2400" dirty="0">
                <a:solidFill>
                  <a:srgbClr val="002060"/>
                </a:solidFill>
                <a:latin typeface="Garamond" panose="02020404030301010803" pitchFamily="18" charset="0"/>
              </a:rPr>
              <a:t>, centered in the "greatest happiness of the greatest number" and the measurement of all courses of action by their usefulness toward this end. </a:t>
            </a:r>
            <a:endParaRPr lang="en-US" sz="2400" dirty="0" smtClean="0">
              <a:solidFill>
                <a:srgbClr val="002060"/>
              </a:solidFill>
              <a:latin typeface="Garamond" panose="02020404030301010803" pitchFamily="18" charset="0"/>
            </a:endParaRPr>
          </a:p>
          <a:p>
            <a:pPr marL="0" indent="0">
              <a:buNone/>
            </a:pPr>
            <a:r>
              <a:rPr lang="en-US" sz="2400" dirty="0" smtClean="0">
                <a:solidFill>
                  <a:srgbClr val="002060"/>
                </a:solidFill>
                <a:latin typeface="Garamond" panose="02020404030301010803" pitchFamily="18" charset="0"/>
              </a:rPr>
              <a:t>There </a:t>
            </a:r>
            <a:r>
              <a:rPr lang="en-US" sz="2400" dirty="0">
                <a:solidFill>
                  <a:srgbClr val="002060"/>
                </a:solidFill>
                <a:latin typeface="Garamond" panose="02020404030301010803" pitchFamily="18" charset="0"/>
              </a:rPr>
              <a:t>is also the more recent, but in its elements very old, </a:t>
            </a:r>
            <a:r>
              <a:rPr lang="en-US" sz="2400" b="1" dirty="0">
                <a:solidFill>
                  <a:srgbClr val="002060"/>
                </a:solidFill>
                <a:latin typeface="Garamond" panose="02020404030301010803" pitchFamily="18" charset="0"/>
              </a:rPr>
              <a:t>"social adjustment" </a:t>
            </a:r>
            <a:r>
              <a:rPr lang="en-US" sz="2400" dirty="0">
                <a:solidFill>
                  <a:srgbClr val="002060"/>
                </a:solidFill>
                <a:latin typeface="Garamond" panose="02020404030301010803" pitchFamily="18" charset="0"/>
              </a:rPr>
              <a:t>philosophy of John Dewey which measures right conduct by the ability to take one’s place as a good citizen in an ordered, democratic society. </a:t>
            </a:r>
          </a:p>
          <a:p>
            <a:pPr marL="0" indent="0">
              <a:buNone/>
            </a:pPr>
            <a:r>
              <a:rPr lang="en-US" sz="2400" dirty="0">
                <a:solidFill>
                  <a:srgbClr val="002060"/>
                </a:solidFill>
                <a:latin typeface="Garamond" panose="02020404030301010803" pitchFamily="18" charset="0"/>
              </a:rPr>
              <a:t>It is apparent that there are good elements in all of these systems. But are they Christian? </a:t>
            </a:r>
          </a:p>
        </p:txBody>
      </p:sp>
      <p:sp>
        <p:nvSpPr>
          <p:cNvPr id="6" name="Rectangle 5"/>
          <p:cNvSpPr/>
          <p:nvPr/>
        </p:nvSpPr>
        <p:spPr>
          <a:xfrm>
            <a:off x="1071212" y="476934"/>
            <a:ext cx="5918608" cy="707886"/>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smtClean="0">
                <a:ln>
                  <a:noFill/>
                </a:ln>
                <a:solidFill>
                  <a:srgbClr val="002060"/>
                </a:solidFill>
                <a:effectLst/>
                <a:uLnTx/>
                <a:uFillTx/>
                <a:latin typeface="Garamond" panose="02020404030301010803" pitchFamily="18" charset="0"/>
                <a:ea typeface="+mn-ea"/>
                <a:cs typeface="+mn-cs"/>
              </a:rPr>
              <a:t>Other </a:t>
            </a:r>
            <a:r>
              <a:rPr kumimoji="0" lang="en-US" sz="4000" b="1" i="0" u="none" strike="noStrike" kern="1200" cap="none" spc="0" normalizeH="0" baseline="0" noProof="0" dirty="0">
                <a:ln>
                  <a:noFill/>
                </a:ln>
                <a:solidFill>
                  <a:srgbClr val="002060"/>
                </a:solidFill>
                <a:effectLst/>
                <a:uLnTx/>
                <a:uFillTx/>
                <a:latin typeface="Garamond" panose="02020404030301010803" pitchFamily="18" charset="0"/>
                <a:ea typeface="+mn-ea"/>
                <a:cs typeface="+mn-cs"/>
              </a:rPr>
              <a:t>Moral Philosophies </a:t>
            </a:r>
            <a:endParaRPr kumimoji="0" lang="en-US" sz="11500" b="1" i="0" u="none" strike="noStrike" kern="1200" cap="none" spc="0" normalizeH="0" baseline="0" noProof="0" dirty="0">
              <a:ln>
                <a:noFill/>
              </a:ln>
              <a:solidFill>
                <a:srgbClr val="002060"/>
              </a:solidFill>
              <a:effectLst/>
              <a:uLnTx/>
              <a:uFillTx/>
              <a:latin typeface="Garamond" panose="02020404030301010803" pitchFamily="18" charset="0"/>
              <a:ea typeface="+mn-ea"/>
              <a:cs typeface="+mn-cs"/>
            </a:endParaRPr>
          </a:p>
        </p:txBody>
      </p:sp>
    </p:spTree>
    <p:extLst>
      <p:ext uri="{BB962C8B-B14F-4D97-AF65-F5344CB8AC3E}">
        <p14:creationId xmlns:p14="http://schemas.microsoft.com/office/powerpoint/2010/main" val="29131622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999482" y="1058149"/>
            <a:ext cx="7913914" cy="1325563"/>
          </a:xfrm>
        </p:spPr>
        <p:txBody>
          <a:bodyPr>
            <a:noAutofit/>
          </a:bodyPr>
          <a:lstStyle/>
          <a:p>
            <a:r>
              <a:rPr lang="en-US" sz="4800" b="1" dirty="0">
                <a:solidFill>
                  <a:srgbClr val="002060"/>
                </a:solidFill>
                <a:latin typeface="Garamond" panose="02020404030301010803" pitchFamily="18" charset="0"/>
              </a:rPr>
              <a:t>The Intersection of Moral Philosophy and Moral Theology</a:t>
            </a:r>
            <a:r>
              <a:rPr lang="en-GB" sz="4800" b="1" dirty="0">
                <a:solidFill>
                  <a:srgbClr val="002060"/>
                </a:solidFill>
                <a:latin typeface="Garamond" panose="02020404030301010803" pitchFamily="18" charset="0"/>
              </a:rPr>
              <a:t/>
            </a:r>
            <a:br>
              <a:rPr lang="en-GB" sz="4800" b="1" dirty="0">
                <a:solidFill>
                  <a:srgbClr val="002060"/>
                </a:solidFill>
                <a:latin typeface="Garamond" panose="02020404030301010803" pitchFamily="18" charset="0"/>
              </a:rPr>
            </a:br>
            <a:endParaRPr lang="en-US" sz="4800" b="1" dirty="0">
              <a:solidFill>
                <a:srgbClr val="002060"/>
              </a:solidFill>
              <a:latin typeface="Garamond" panose="02020404030301010803" pitchFamily="18" charset="0"/>
            </a:endParaRPr>
          </a:p>
        </p:txBody>
      </p:sp>
      <p:pic>
        <p:nvPicPr>
          <p:cNvPr id="1026" name="Picture 2" descr="Solved] If two distinct circles in a plane are intersecting each oth">
            <a:extLst>
              <a:ext uri="{FF2B5EF4-FFF2-40B4-BE49-F238E27FC236}">
                <a16:creationId xmlns:a16="http://schemas.microsoft.com/office/drawing/2014/main" id="{D6A0F68E-A28D-4ED8-951A-7A3C0826C4E6}"/>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107096" y="4485542"/>
            <a:ext cx="3763618" cy="213360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DDB477F1-7AEB-4CB1-9DCF-9A804D6DCCB0}"/>
              </a:ext>
            </a:extLst>
          </p:cNvPr>
          <p:cNvSpPr/>
          <p:nvPr/>
        </p:nvSpPr>
        <p:spPr>
          <a:xfrm>
            <a:off x="2994991" y="2794294"/>
            <a:ext cx="2160105" cy="622852"/>
          </a:xfrm>
          <a:prstGeom prst="rect">
            <a:avLst/>
          </a:prstGeom>
          <a:solidFill>
            <a:schemeClr val="bg1"/>
          </a:solidFill>
          <a:ln>
            <a:solidFill>
              <a:schemeClr val="tx1"/>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dirty="0">
                <a:ln>
                  <a:noFill/>
                </a:ln>
                <a:solidFill>
                  <a:prstClr val="black"/>
                </a:solidFill>
                <a:effectLst/>
                <a:uLnTx/>
                <a:uFillTx/>
                <a:latin typeface="Garamond" panose="02020404030301010803" pitchFamily="18" charset="0"/>
                <a:ea typeface="+mn-ea"/>
                <a:cs typeface="+mn-cs"/>
              </a:rPr>
              <a:t>Ethics </a:t>
            </a:r>
          </a:p>
        </p:txBody>
      </p:sp>
      <p:sp>
        <p:nvSpPr>
          <p:cNvPr id="9" name="Rectangle 8">
            <a:extLst>
              <a:ext uri="{FF2B5EF4-FFF2-40B4-BE49-F238E27FC236}">
                <a16:creationId xmlns:a16="http://schemas.microsoft.com/office/drawing/2014/main" id="{886F6E6F-6930-41B2-9DE7-4CEECD0F7EC5}"/>
              </a:ext>
            </a:extLst>
          </p:cNvPr>
          <p:cNvSpPr/>
          <p:nvPr/>
        </p:nvSpPr>
        <p:spPr>
          <a:xfrm>
            <a:off x="7613373" y="2706964"/>
            <a:ext cx="3160644" cy="622852"/>
          </a:xfrm>
          <a:prstGeom prst="rect">
            <a:avLst/>
          </a:prstGeom>
          <a:solidFill>
            <a:schemeClr val="bg1"/>
          </a:solidFill>
          <a:ln>
            <a:solidFill>
              <a:schemeClr val="tx1"/>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002060"/>
                </a:solidFill>
                <a:effectLst/>
                <a:uLnTx/>
                <a:uFillTx/>
                <a:latin typeface="Garamond" panose="02020404030301010803" pitchFamily="18" charset="0"/>
                <a:ea typeface="+mn-ea"/>
                <a:cs typeface="+mn-cs"/>
              </a:rPr>
              <a:t>Morals and moral systems </a:t>
            </a:r>
          </a:p>
        </p:txBody>
      </p:sp>
      <p:sp>
        <p:nvSpPr>
          <p:cNvPr id="20" name="Arrow: Right 19">
            <a:extLst>
              <a:ext uri="{FF2B5EF4-FFF2-40B4-BE49-F238E27FC236}">
                <a16:creationId xmlns:a16="http://schemas.microsoft.com/office/drawing/2014/main" id="{F228E8BA-7742-469A-B029-FE1AC4CAA0F1}"/>
              </a:ext>
            </a:extLst>
          </p:cNvPr>
          <p:cNvSpPr/>
          <p:nvPr/>
        </p:nvSpPr>
        <p:spPr>
          <a:xfrm>
            <a:off x="5155096" y="3018390"/>
            <a:ext cx="2458277" cy="87330"/>
          </a:xfrm>
          <a:prstGeom prst="rightArrow">
            <a:avLst/>
          </a:prstGeom>
        </p:spPr>
        <p:style>
          <a:lnRef idx="3">
            <a:schemeClr val="lt1"/>
          </a:lnRef>
          <a:fillRef idx="1">
            <a:schemeClr val="dk1"/>
          </a:fillRef>
          <a:effectRef idx="1">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 name="Arrow: Down 21">
            <a:extLst>
              <a:ext uri="{FF2B5EF4-FFF2-40B4-BE49-F238E27FC236}">
                <a16:creationId xmlns:a16="http://schemas.microsoft.com/office/drawing/2014/main" id="{7248A056-975A-4DDD-8A1D-20AC448D630C}"/>
              </a:ext>
            </a:extLst>
          </p:cNvPr>
          <p:cNvSpPr/>
          <p:nvPr/>
        </p:nvSpPr>
        <p:spPr>
          <a:xfrm rot="1756520">
            <a:off x="3672405" y="3314663"/>
            <a:ext cx="45719" cy="1471715"/>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Arrow: Down 24">
            <a:extLst>
              <a:ext uri="{FF2B5EF4-FFF2-40B4-BE49-F238E27FC236}">
                <a16:creationId xmlns:a16="http://schemas.microsoft.com/office/drawing/2014/main" id="{01D4926F-10C7-4A3F-81EE-E122216D2A84}"/>
              </a:ext>
            </a:extLst>
          </p:cNvPr>
          <p:cNvSpPr/>
          <p:nvPr/>
        </p:nvSpPr>
        <p:spPr>
          <a:xfrm rot="19735770">
            <a:off x="4450786" y="3292520"/>
            <a:ext cx="45719" cy="1627499"/>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TextBox 23">
            <a:extLst>
              <a:ext uri="{FF2B5EF4-FFF2-40B4-BE49-F238E27FC236}">
                <a16:creationId xmlns:a16="http://schemas.microsoft.com/office/drawing/2014/main" id="{537A8462-45C2-4F29-8081-F49EEF9B1C73}"/>
              </a:ext>
            </a:extLst>
          </p:cNvPr>
          <p:cNvSpPr txBox="1"/>
          <p:nvPr/>
        </p:nvSpPr>
        <p:spPr>
          <a:xfrm>
            <a:off x="2567893" y="5210675"/>
            <a:ext cx="1338595"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2060"/>
                </a:solidFill>
                <a:effectLst/>
                <a:uLnTx/>
                <a:uFillTx/>
                <a:latin typeface="Garamond" panose="02020404030301010803" pitchFamily="18" charset="0"/>
                <a:ea typeface="+mn-ea"/>
                <a:cs typeface="+mn-cs"/>
              </a:rPr>
              <a:t>Moral philosophy</a:t>
            </a:r>
          </a:p>
        </p:txBody>
      </p:sp>
      <p:sp>
        <p:nvSpPr>
          <p:cNvPr id="26" name="TextBox 25">
            <a:extLst>
              <a:ext uri="{FF2B5EF4-FFF2-40B4-BE49-F238E27FC236}">
                <a16:creationId xmlns:a16="http://schemas.microsoft.com/office/drawing/2014/main" id="{528384C8-3BAF-44A4-B39C-0EAB4017E8E1}"/>
              </a:ext>
            </a:extLst>
          </p:cNvPr>
          <p:cNvSpPr txBox="1"/>
          <p:nvPr/>
        </p:nvSpPr>
        <p:spPr>
          <a:xfrm>
            <a:off x="4367285" y="5225653"/>
            <a:ext cx="1091820" cy="70788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solidFill>
                  <a:srgbClr val="002060"/>
                </a:solidFill>
                <a:effectLst/>
                <a:uLnTx/>
                <a:uFillTx/>
                <a:latin typeface="Garamond" panose="02020404030301010803" pitchFamily="18" charset="0"/>
                <a:ea typeface="+mn-ea"/>
                <a:cs typeface="+mn-cs"/>
              </a:rPr>
              <a:t>Moral theology </a:t>
            </a:r>
          </a:p>
        </p:txBody>
      </p:sp>
    </p:spTree>
    <p:extLst>
      <p:ext uri="{BB962C8B-B14F-4D97-AF65-F5344CB8AC3E}">
        <p14:creationId xmlns:p14="http://schemas.microsoft.com/office/powerpoint/2010/main" val="998388756"/>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p:txBody>
          <a:bodyPr/>
          <a:lstStyle/>
          <a:p>
            <a:r>
              <a:rPr lang="en-GB" b="1" dirty="0">
                <a:solidFill>
                  <a:srgbClr val="002060"/>
                </a:solidFill>
                <a:latin typeface="Garamond" panose="02020404030301010803" pitchFamily="18" charset="0"/>
              </a:rPr>
              <a:t>Methods in Ethics </a:t>
            </a:r>
            <a:br>
              <a:rPr lang="en-GB" b="1" dirty="0">
                <a:solidFill>
                  <a:srgbClr val="002060"/>
                </a:solidFill>
                <a:latin typeface="Garamond" panose="02020404030301010803" pitchFamily="18" charset="0"/>
              </a:rPr>
            </a:br>
            <a:endParaRPr lang="en-US" b="1" dirty="0">
              <a:solidFill>
                <a:srgbClr val="002060"/>
              </a:solidFill>
              <a:latin typeface="Garamond" panose="020204040303010108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484671"/>
            <a:ext cx="10239555" cy="4382729"/>
          </a:xfrm>
        </p:spPr>
        <p:txBody>
          <a:bodyPr>
            <a:noAutofit/>
          </a:bodyPr>
          <a:lstStyle/>
          <a:p>
            <a:pPr marL="0" indent="0">
              <a:buNone/>
            </a:pPr>
            <a:r>
              <a:rPr lang="en-US" sz="3200" dirty="0">
                <a:solidFill>
                  <a:srgbClr val="002060"/>
                </a:solidFill>
                <a:latin typeface="Garamond" panose="02020404030301010803" pitchFamily="18" charset="0"/>
              </a:rPr>
              <a:t>Methodological approaches to ethics, at least in philosophy, generally examine assumptions, look for validity and cogency in arguments, consider counterexamples, and attempt to build theories that will appeal to people regardless of their religious convictions. </a:t>
            </a:r>
          </a:p>
          <a:p>
            <a:r>
              <a:rPr lang="en-US" sz="3200" dirty="0">
                <a:solidFill>
                  <a:srgbClr val="002060"/>
                </a:solidFill>
                <a:latin typeface="Garamond" panose="02020404030301010803" pitchFamily="18" charset="0"/>
              </a:rPr>
              <a:t>Some philosophers, such as Immanuel Kant and John Stuart Mill, appeal to qualities such as universality and rationality, while others, such as Friedrich Nietzsche and Michel Foucault, attempt to undercut every theory as somehow illicitly motivated by a hidden desire for power.</a:t>
            </a:r>
          </a:p>
          <a:p>
            <a:pPr marL="0" indent="0">
              <a:buNone/>
            </a:pPr>
            <a:endParaRPr lang="en-GB" sz="4400" dirty="0">
              <a:solidFill>
                <a:srgbClr val="002060"/>
              </a:solidFill>
              <a:latin typeface="Garamond" panose="02020404030301010803" pitchFamily="18" charset="0"/>
            </a:endParaRPr>
          </a:p>
        </p:txBody>
      </p:sp>
    </p:spTree>
    <p:extLst>
      <p:ext uri="{BB962C8B-B14F-4D97-AF65-F5344CB8AC3E}">
        <p14:creationId xmlns:p14="http://schemas.microsoft.com/office/powerpoint/2010/main" val="3442338062"/>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p:txBody>
          <a:bodyPr/>
          <a:lstStyle/>
          <a:p>
            <a:r>
              <a:rPr lang="en-GB" b="1" dirty="0">
                <a:solidFill>
                  <a:srgbClr val="002060"/>
                </a:solidFill>
                <a:latin typeface="Garamond" panose="02020404030301010803" pitchFamily="18" charset="0"/>
              </a:rPr>
              <a:t>Methods in Ethics </a:t>
            </a:r>
            <a:br>
              <a:rPr lang="en-GB" b="1" dirty="0">
                <a:solidFill>
                  <a:srgbClr val="002060"/>
                </a:solidFill>
                <a:latin typeface="Garamond" panose="02020404030301010803" pitchFamily="18" charset="0"/>
              </a:rPr>
            </a:br>
            <a:endParaRPr lang="en-US" b="1" dirty="0">
              <a:solidFill>
                <a:srgbClr val="002060"/>
              </a:solidFill>
              <a:latin typeface="Garamond" panose="020204040303010108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484671"/>
            <a:ext cx="10433958" cy="4382729"/>
          </a:xfrm>
        </p:spPr>
        <p:txBody>
          <a:bodyPr>
            <a:normAutofit/>
          </a:bodyPr>
          <a:lstStyle/>
          <a:p>
            <a:pPr marL="0" indent="0">
              <a:buNone/>
            </a:pPr>
            <a:r>
              <a:rPr lang="en-US" sz="2600" dirty="0">
                <a:solidFill>
                  <a:srgbClr val="002060"/>
                </a:solidFill>
                <a:latin typeface="Garamond" panose="02020404030301010803" pitchFamily="18" charset="0"/>
              </a:rPr>
              <a:t>What these various methodologies have in common is that they focus their attention on a consideration of values and principles without an explicit appeal to divine revelation. </a:t>
            </a:r>
          </a:p>
          <a:p>
            <a:r>
              <a:rPr lang="en-US" sz="2600" dirty="0">
                <a:solidFill>
                  <a:srgbClr val="002060"/>
                </a:solidFill>
                <a:latin typeface="Garamond" panose="02020404030301010803" pitchFamily="18" charset="0"/>
              </a:rPr>
              <a:t>Some philosophers reject all forms of religious belief, while others see religious beliefs as confirming truths that can be known philosophically.</a:t>
            </a:r>
          </a:p>
          <a:p>
            <a:r>
              <a:rPr lang="en-US" sz="2600" dirty="0">
                <a:solidFill>
                  <a:srgbClr val="002060"/>
                </a:solidFill>
                <a:latin typeface="Garamond" panose="02020404030301010803" pitchFamily="18" charset="0"/>
              </a:rPr>
              <a:t>Still other philosophers try to argue to religious truth from philosophical truths. </a:t>
            </a:r>
          </a:p>
          <a:p>
            <a:r>
              <a:rPr lang="en-US" sz="2500" dirty="0">
                <a:solidFill>
                  <a:srgbClr val="002060"/>
                </a:solidFill>
                <a:latin typeface="Garamond" panose="02020404030301010803" pitchFamily="18" charset="0"/>
              </a:rPr>
              <a:t>When we consider the views of Kant or Nietzsche, for instance, we need to remember that they are not assuming that God speaks directly to human beings, that they harbor deep suspicions about the binding nature of religious obligations, and that they often think strictly religious approaches are misguided. </a:t>
            </a:r>
            <a:endParaRPr lang="en-GB" sz="2500" dirty="0">
              <a:solidFill>
                <a:srgbClr val="002060"/>
              </a:solidFill>
              <a:latin typeface="Garamond" panose="02020404030301010803" pitchFamily="18" charset="0"/>
            </a:endParaRPr>
          </a:p>
        </p:txBody>
      </p:sp>
    </p:spTree>
    <p:extLst>
      <p:ext uri="{BB962C8B-B14F-4D97-AF65-F5344CB8AC3E}">
        <p14:creationId xmlns:p14="http://schemas.microsoft.com/office/powerpoint/2010/main" val="3155752428"/>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p:txBody>
          <a:bodyPr/>
          <a:lstStyle/>
          <a:p>
            <a:r>
              <a:rPr lang="en-GB" b="1" dirty="0">
                <a:solidFill>
                  <a:srgbClr val="002060"/>
                </a:solidFill>
                <a:latin typeface="Garamond" panose="02020404030301010803" pitchFamily="18" charset="0"/>
              </a:rPr>
              <a:t>Theological Approaches</a:t>
            </a:r>
            <a:br>
              <a:rPr lang="en-GB" b="1" dirty="0">
                <a:solidFill>
                  <a:srgbClr val="002060"/>
                </a:solidFill>
                <a:latin typeface="Garamond" panose="02020404030301010803" pitchFamily="18" charset="0"/>
              </a:rPr>
            </a:br>
            <a:endParaRPr lang="en-US" b="1" dirty="0">
              <a:solidFill>
                <a:srgbClr val="002060"/>
              </a:solidFill>
              <a:latin typeface="Garamond" panose="020204040303010108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484671"/>
            <a:ext cx="10239555" cy="4382729"/>
          </a:xfrm>
        </p:spPr>
        <p:txBody>
          <a:bodyPr>
            <a:normAutofit lnSpcReduction="10000"/>
          </a:bodyPr>
          <a:lstStyle/>
          <a:p>
            <a:pPr marL="0" indent="0">
              <a:buNone/>
            </a:pPr>
            <a:r>
              <a:rPr lang="en-US" sz="3200" dirty="0">
                <a:solidFill>
                  <a:srgbClr val="002060"/>
                </a:solidFill>
                <a:latin typeface="Garamond" panose="02020404030301010803" pitchFamily="18" charset="0"/>
              </a:rPr>
              <a:t>There are a variety of ways in which to proceed in moral theology. </a:t>
            </a:r>
          </a:p>
          <a:p>
            <a:r>
              <a:rPr lang="en-US" sz="3200" dirty="0">
                <a:solidFill>
                  <a:srgbClr val="002060"/>
                </a:solidFill>
                <a:latin typeface="Garamond" panose="02020404030301010803" pitchFamily="18" charset="0"/>
              </a:rPr>
              <a:t>Some begin with the biblical narrative and advocate biblical ethics, while others begin with theological commitments such as human depravity, divine transcendence, or the encounter with God. </a:t>
            </a:r>
          </a:p>
          <a:p>
            <a:r>
              <a:rPr lang="en-US" sz="2800" dirty="0">
                <a:solidFill>
                  <a:srgbClr val="002060"/>
                </a:solidFill>
                <a:latin typeface="Garamond" panose="02020404030301010803" pitchFamily="18" charset="0"/>
              </a:rPr>
              <a:t>Some develop approaches systematically from a doctrine of God to an understanding of creation or to a theological anthropology, while still others emphasize the role of Christian churches in mediating the moral principles of the Bible to contemporary society.</a:t>
            </a:r>
            <a:endParaRPr lang="en-GB" sz="4000" dirty="0">
              <a:solidFill>
                <a:srgbClr val="002060"/>
              </a:solidFill>
              <a:latin typeface="Garamond" panose="02020404030301010803" pitchFamily="18" charset="0"/>
            </a:endParaRPr>
          </a:p>
        </p:txBody>
      </p:sp>
    </p:spTree>
    <p:extLst>
      <p:ext uri="{BB962C8B-B14F-4D97-AF65-F5344CB8AC3E}">
        <p14:creationId xmlns:p14="http://schemas.microsoft.com/office/powerpoint/2010/main" val="545839470"/>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p:txBody>
          <a:bodyPr/>
          <a:lstStyle/>
          <a:p>
            <a:r>
              <a:rPr lang="en-GB" b="1" dirty="0">
                <a:solidFill>
                  <a:srgbClr val="002060"/>
                </a:solidFill>
                <a:latin typeface="Garamond" panose="02020404030301010803" pitchFamily="18" charset="0"/>
              </a:rPr>
              <a:t>Approaches to Moral Theology </a:t>
            </a:r>
            <a:br>
              <a:rPr lang="en-GB" b="1" dirty="0">
                <a:solidFill>
                  <a:srgbClr val="002060"/>
                </a:solidFill>
                <a:latin typeface="Garamond" panose="02020404030301010803" pitchFamily="18" charset="0"/>
              </a:rPr>
            </a:br>
            <a:endParaRPr lang="en-US" b="1" dirty="0">
              <a:solidFill>
                <a:srgbClr val="002060"/>
              </a:solidFill>
              <a:latin typeface="Garamond" panose="02020404030301010803" pitchFamily="18" charset="0"/>
            </a:endParaRPr>
          </a:p>
        </p:txBody>
      </p:sp>
      <p:sp>
        <p:nvSpPr>
          <p:cNvPr id="4" name="TextBox 3">
            <a:extLst>
              <a:ext uri="{FF2B5EF4-FFF2-40B4-BE49-F238E27FC236}">
                <a16:creationId xmlns:a16="http://schemas.microsoft.com/office/drawing/2014/main" id="{02CCB163-F1B5-4E32-B7AA-3E315D4BF8B8}"/>
              </a:ext>
            </a:extLst>
          </p:cNvPr>
          <p:cNvSpPr txBox="1"/>
          <p:nvPr/>
        </p:nvSpPr>
        <p:spPr>
          <a:xfrm>
            <a:off x="3920217" y="1641021"/>
            <a:ext cx="4351565" cy="64633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0" normalizeH="0" baseline="0" noProof="0" dirty="0">
                <a:ln>
                  <a:noFill/>
                </a:ln>
                <a:solidFill>
                  <a:srgbClr val="002060"/>
                </a:solidFill>
                <a:effectLst/>
                <a:uLnTx/>
                <a:uFillTx/>
                <a:latin typeface="Garamond" panose="02020404030301010803" pitchFamily="18" charset="0"/>
                <a:ea typeface="+mn-ea"/>
                <a:cs typeface="+mn-cs"/>
              </a:rPr>
              <a:t>Moral Theology </a:t>
            </a:r>
          </a:p>
        </p:txBody>
      </p:sp>
      <p:sp>
        <p:nvSpPr>
          <p:cNvPr id="6" name="TextBox 5">
            <a:extLst>
              <a:ext uri="{FF2B5EF4-FFF2-40B4-BE49-F238E27FC236}">
                <a16:creationId xmlns:a16="http://schemas.microsoft.com/office/drawing/2014/main" id="{99916FEA-CA1A-4C61-B8F6-B96269A5935C}"/>
              </a:ext>
            </a:extLst>
          </p:cNvPr>
          <p:cNvSpPr txBox="1"/>
          <p:nvPr/>
        </p:nvSpPr>
        <p:spPr>
          <a:xfrm>
            <a:off x="1523999" y="3132364"/>
            <a:ext cx="2024744" cy="91440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DD9C084F-BDCD-4593-891C-03F0871D266F}"/>
              </a:ext>
            </a:extLst>
          </p:cNvPr>
          <p:cNvSpPr txBox="1"/>
          <p:nvPr/>
        </p:nvSpPr>
        <p:spPr>
          <a:xfrm>
            <a:off x="1676399" y="3284764"/>
            <a:ext cx="2024744" cy="91440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E4BA8100-2471-46F0-9FD5-028E214D8716}"/>
              </a:ext>
            </a:extLst>
          </p:cNvPr>
          <p:cNvSpPr txBox="1"/>
          <p:nvPr/>
        </p:nvSpPr>
        <p:spPr>
          <a:xfrm>
            <a:off x="1045027" y="3472542"/>
            <a:ext cx="2024744" cy="91440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C967D7A0-C30B-4936-B46C-38657843BA03}"/>
              </a:ext>
            </a:extLst>
          </p:cNvPr>
          <p:cNvSpPr/>
          <p:nvPr/>
        </p:nvSpPr>
        <p:spPr>
          <a:xfrm>
            <a:off x="1045027" y="3472542"/>
            <a:ext cx="1306287" cy="914400"/>
          </a:xfrm>
          <a:prstGeom prst="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002060"/>
                </a:solidFill>
                <a:effectLst/>
                <a:uLnTx/>
                <a:uFillTx/>
                <a:latin typeface="Calibri" panose="020F0502020204030204"/>
                <a:ea typeface="+mn-ea"/>
                <a:cs typeface="+mn-cs"/>
              </a:rPr>
              <a:t>Biblical Ethics</a:t>
            </a:r>
          </a:p>
        </p:txBody>
      </p:sp>
      <p:sp>
        <p:nvSpPr>
          <p:cNvPr id="15" name="Rectangle 14">
            <a:extLst>
              <a:ext uri="{FF2B5EF4-FFF2-40B4-BE49-F238E27FC236}">
                <a16:creationId xmlns:a16="http://schemas.microsoft.com/office/drawing/2014/main" id="{C831C83F-BD5B-4632-A1E2-3C2C17BF61F8}"/>
              </a:ext>
            </a:extLst>
          </p:cNvPr>
          <p:cNvSpPr/>
          <p:nvPr/>
        </p:nvSpPr>
        <p:spPr>
          <a:xfrm>
            <a:off x="3200398" y="3472542"/>
            <a:ext cx="1439638" cy="914400"/>
          </a:xfrm>
          <a:prstGeom prst="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002060"/>
                </a:solidFill>
                <a:effectLst/>
                <a:uLnTx/>
                <a:uFillTx/>
                <a:latin typeface="Calibri" panose="020F0502020204030204"/>
                <a:ea typeface="+mn-ea"/>
                <a:cs typeface="+mn-cs"/>
              </a:rPr>
              <a:t>Divine Command Ethics </a:t>
            </a:r>
          </a:p>
        </p:txBody>
      </p:sp>
      <p:sp>
        <p:nvSpPr>
          <p:cNvPr id="16" name="Rectangle 15">
            <a:extLst>
              <a:ext uri="{FF2B5EF4-FFF2-40B4-BE49-F238E27FC236}">
                <a16:creationId xmlns:a16="http://schemas.microsoft.com/office/drawing/2014/main" id="{BCE4CB12-8957-4E9D-A862-9B506A95C0A8}"/>
              </a:ext>
            </a:extLst>
          </p:cNvPr>
          <p:cNvSpPr/>
          <p:nvPr/>
        </p:nvSpPr>
        <p:spPr>
          <a:xfrm>
            <a:off x="5597992" y="3472542"/>
            <a:ext cx="1360713" cy="914400"/>
          </a:xfrm>
          <a:prstGeom prst="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002060"/>
                </a:solidFill>
                <a:effectLst/>
                <a:uLnTx/>
                <a:uFillTx/>
                <a:latin typeface="Calibri" panose="020F0502020204030204"/>
                <a:ea typeface="+mn-ea"/>
                <a:cs typeface="+mn-cs"/>
              </a:rPr>
              <a:t>Agapistic Ethics</a:t>
            </a:r>
          </a:p>
        </p:txBody>
      </p:sp>
      <p:sp>
        <p:nvSpPr>
          <p:cNvPr id="17" name="Rectangle 16">
            <a:extLst>
              <a:ext uri="{FF2B5EF4-FFF2-40B4-BE49-F238E27FC236}">
                <a16:creationId xmlns:a16="http://schemas.microsoft.com/office/drawing/2014/main" id="{C315A155-882C-4552-9654-A9AF32729C9C}"/>
              </a:ext>
            </a:extLst>
          </p:cNvPr>
          <p:cNvSpPr/>
          <p:nvPr/>
        </p:nvSpPr>
        <p:spPr>
          <a:xfrm>
            <a:off x="8109866" y="3472542"/>
            <a:ext cx="1360713" cy="914400"/>
          </a:xfrm>
          <a:prstGeom prst="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002060"/>
                </a:solidFill>
                <a:effectLst/>
                <a:uLnTx/>
                <a:uFillTx/>
                <a:latin typeface="Calibri" panose="020F0502020204030204"/>
                <a:ea typeface="+mn-ea"/>
                <a:cs typeface="+mn-cs"/>
              </a:rPr>
              <a:t>Narrative Ethics</a:t>
            </a:r>
          </a:p>
        </p:txBody>
      </p:sp>
      <p:sp>
        <p:nvSpPr>
          <p:cNvPr id="18" name="Rectangle 17">
            <a:extLst>
              <a:ext uri="{FF2B5EF4-FFF2-40B4-BE49-F238E27FC236}">
                <a16:creationId xmlns:a16="http://schemas.microsoft.com/office/drawing/2014/main" id="{F16BAD55-6B2C-4B4F-861D-36A050979451}"/>
              </a:ext>
            </a:extLst>
          </p:cNvPr>
          <p:cNvSpPr/>
          <p:nvPr/>
        </p:nvSpPr>
        <p:spPr>
          <a:xfrm>
            <a:off x="10412189" y="3472542"/>
            <a:ext cx="1360713" cy="914400"/>
          </a:xfrm>
          <a:prstGeom prst="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002060"/>
                </a:solidFill>
                <a:effectLst/>
                <a:uLnTx/>
                <a:uFillTx/>
                <a:latin typeface="Calibri" panose="020F0502020204030204"/>
                <a:ea typeface="+mn-ea"/>
                <a:cs typeface="+mn-cs"/>
              </a:rPr>
              <a:t>Natural Law Ethics</a:t>
            </a:r>
          </a:p>
        </p:txBody>
      </p:sp>
      <p:cxnSp>
        <p:nvCxnSpPr>
          <p:cNvPr id="20" name="Straight Connector 19">
            <a:extLst>
              <a:ext uri="{FF2B5EF4-FFF2-40B4-BE49-F238E27FC236}">
                <a16:creationId xmlns:a16="http://schemas.microsoft.com/office/drawing/2014/main" id="{236FDBD2-1C96-4ED0-A530-86CE327879D5}"/>
              </a:ext>
            </a:extLst>
          </p:cNvPr>
          <p:cNvCxnSpPr/>
          <p:nvPr/>
        </p:nvCxnSpPr>
        <p:spPr>
          <a:xfrm>
            <a:off x="1698170" y="2726871"/>
            <a:ext cx="9394375" cy="0"/>
          </a:xfrm>
          <a:prstGeom prst="line">
            <a:avLst/>
          </a:prstGeom>
        </p:spPr>
        <p:style>
          <a:lnRef idx="3">
            <a:schemeClr val="dk1"/>
          </a:lnRef>
          <a:fillRef idx="0">
            <a:schemeClr val="dk1"/>
          </a:fillRef>
          <a:effectRef idx="2">
            <a:schemeClr val="dk1"/>
          </a:effectRef>
          <a:fontRef idx="minor">
            <a:schemeClr val="tx1"/>
          </a:fontRef>
        </p:style>
      </p:cxnSp>
      <p:cxnSp>
        <p:nvCxnSpPr>
          <p:cNvPr id="22" name="Straight Arrow Connector 21">
            <a:extLst>
              <a:ext uri="{FF2B5EF4-FFF2-40B4-BE49-F238E27FC236}">
                <a16:creationId xmlns:a16="http://schemas.microsoft.com/office/drawing/2014/main" id="{C0F823E5-1B85-4301-BC23-C71F0044EEA8}"/>
              </a:ext>
            </a:extLst>
          </p:cNvPr>
          <p:cNvCxnSpPr/>
          <p:nvPr/>
        </p:nvCxnSpPr>
        <p:spPr>
          <a:xfrm>
            <a:off x="1676399" y="2743200"/>
            <a:ext cx="21771" cy="68580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4" name="Straight Arrow Connector 23">
            <a:extLst>
              <a:ext uri="{FF2B5EF4-FFF2-40B4-BE49-F238E27FC236}">
                <a16:creationId xmlns:a16="http://schemas.microsoft.com/office/drawing/2014/main" id="{3226F0BB-88F7-4DF6-B733-C84742E6AC2F}"/>
              </a:ext>
            </a:extLst>
          </p:cNvPr>
          <p:cNvCxnSpPr/>
          <p:nvPr/>
        </p:nvCxnSpPr>
        <p:spPr>
          <a:xfrm>
            <a:off x="11092545" y="2756807"/>
            <a:ext cx="0" cy="62865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6" name="Straight Arrow Connector 25">
            <a:extLst>
              <a:ext uri="{FF2B5EF4-FFF2-40B4-BE49-F238E27FC236}">
                <a16:creationId xmlns:a16="http://schemas.microsoft.com/office/drawing/2014/main" id="{7189D134-9EA1-4030-BA19-33B08B8C0EEA}"/>
              </a:ext>
            </a:extLst>
          </p:cNvPr>
          <p:cNvCxnSpPr>
            <a:endCxn id="15" idx="0"/>
          </p:cNvCxnSpPr>
          <p:nvPr/>
        </p:nvCxnSpPr>
        <p:spPr>
          <a:xfrm>
            <a:off x="3920217" y="2743200"/>
            <a:ext cx="0" cy="72934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8" name="Straight Connector 27">
            <a:extLst>
              <a:ext uri="{FF2B5EF4-FFF2-40B4-BE49-F238E27FC236}">
                <a16:creationId xmlns:a16="http://schemas.microsoft.com/office/drawing/2014/main" id="{A115EF61-3355-4E7C-A4F1-F15B8D33C6CC}"/>
              </a:ext>
            </a:extLst>
          </p:cNvPr>
          <p:cNvCxnSpPr>
            <a:endCxn id="16" idx="0"/>
          </p:cNvCxnSpPr>
          <p:nvPr/>
        </p:nvCxnSpPr>
        <p:spPr>
          <a:xfrm>
            <a:off x="6278348" y="2756807"/>
            <a:ext cx="1" cy="715735"/>
          </a:xfrm>
          <a:prstGeom prst="line">
            <a:avLst/>
          </a:prstGeom>
        </p:spPr>
        <p:style>
          <a:lnRef idx="3">
            <a:schemeClr val="dk1"/>
          </a:lnRef>
          <a:fillRef idx="0">
            <a:schemeClr val="dk1"/>
          </a:fillRef>
          <a:effectRef idx="2">
            <a:schemeClr val="dk1"/>
          </a:effectRef>
          <a:fontRef idx="minor">
            <a:schemeClr val="tx1"/>
          </a:fontRef>
        </p:style>
      </p:cxnSp>
      <p:cxnSp>
        <p:nvCxnSpPr>
          <p:cNvPr id="30" name="Straight Arrow Connector 29">
            <a:extLst>
              <a:ext uri="{FF2B5EF4-FFF2-40B4-BE49-F238E27FC236}">
                <a16:creationId xmlns:a16="http://schemas.microsoft.com/office/drawing/2014/main" id="{ABE19A15-A856-4F27-AA54-42E9D088A723}"/>
              </a:ext>
            </a:extLst>
          </p:cNvPr>
          <p:cNvCxnSpPr/>
          <p:nvPr/>
        </p:nvCxnSpPr>
        <p:spPr>
          <a:xfrm>
            <a:off x="8870497" y="2756807"/>
            <a:ext cx="0" cy="67219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6737466"/>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p:txBody>
          <a:bodyPr/>
          <a:lstStyle/>
          <a:p>
            <a:r>
              <a:rPr lang="en-US" b="1" dirty="0">
                <a:solidFill>
                  <a:srgbClr val="002060"/>
                </a:solidFill>
                <a:latin typeface="Garamond" panose="02020404030301010803" pitchFamily="18" charset="0"/>
              </a:rPr>
              <a:t>Characteristics of Christian Ethics</a:t>
            </a:r>
            <a:r>
              <a:rPr lang="en-GB" b="1" dirty="0">
                <a:solidFill>
                  <a:srgbClr val="002060"/>
                </a:solidFill>
                <a:latin typeface="Garamond" panose="02020404030301010803" pitchFamily="18" charset="0"/>
              </a:rPr>
              <a:t/>
            </a:r>
            <a:br>
              <a:rPr lang="en-GB" b="1" dirty="0">
                <a:solidFill>
                  <a:srgbClr val="002060"/>
                </a:solidFill>
                <a:latin typeface="Garamond" panose="02020404030301010803" pitchFamily="18" charset="0"/>
              </a:rPr>
            </a:br>
            <a:endParaRPr lang="en-US" b="1" dirty="0">
              <a:solidFill>
                <a:srgbClr val="002060"/>
              </a:solidFill>
              <a:latin typeface="Garamond" panose="020204040303010108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484671"/>
            <a:ext cx="10481095" cy="4382729"/>
          </a:xfrm>
        </p:spPr>
        <p:txBody>
          <a:bodyPr>
            <a:normAutofit lnSpcReduction="10000"/>
          </a:bodyPr>
          <a:lstStyle/>
          <a:p>
            <a:r>
              <a:rPr lang="en-US" sz="3200" dirty="0">
                <a:solidFill>
                  <a:srgbClr val="002060"/>
                </a:solidFill>
                <a:latin typeface="Garamond" panose="02020404030301010803" pitchFamily="18" charset="0"/>
              </a:rPr>
              <a:t>Ethics deals with what is morally right and wrong. Christian ethics deals with what is morally right or wrong for the Christian. Since Christians base their beliefs on God’s revelation in scripture, the Bible will be cited as an authority for conclusions on moral behavior. </a:t>
            </a:r>
            <a:endParaRPr lang="en-GB" sz="3200" dirty="0">
              <a:solidFill>
                <a:srgbClr val="002060"/>
              </a:solidFill>
              <a:latin typeface="Garamond" panose="02020404030301010803" pitchFamily="18" charset="0"/>
            </a:endParaRPr>
          </a:p>
          <a:p>
            <a:r>
              <a:rPr lang="en-US" sz="3200" dirty="0">
                <a:solidFill>
                  <a:srgbClr val="002060"/>
                </a:solidFill>
                <a:latin typeface="Garamond" panose="02020404030301010803" pitchFamily="18" charset="0"/>
              </a:rPr>
              <a:t>God has not limited Himself to revelation in scripture; He also has general revelation in nature (Rom. 1:19-20; 2: 12:14). </a:t>
            </a:r>
            <a:endParaRPr lang="en-US" sz="3200" dirty="0" smtClean="0">
              <a:solidFill>
                <a:srgbClr val="002060"/>
              </a:solidFill>
              <a:latin typeface="Garamond" panose="02020404030301010803" pitchFamily="18" charset="0"/>
            </a:endParaRPr>
          </a:p>
          <a:p>
            <a:r>
              <a:rPr lang="en-US" sz="3200" dirty="0" smtClean="0">
                <a:solidFill>
                  <a:srgbClr val="002060"/>
                </a:solidFill>
                <a:latin typeface="Garamond" panose="02020404030301010803" pitchFamily="18" charset="0"/>
              </a:rPr>
              <a:t>Since </a:t>
            </a:r>
            <a:r>
              <a:rPr lang="en-US" sz="3200" dirty="0">
                <a:solidFill>
                  <a:srgbClr val="002060"/>
                </a:solidFill>
                <a:latin typeface="Garamond" panose="02020404030301010803" pitchFamily="18" charset="0"/>
              </a:rPr>
              <a:t>God’s moral character does not change. It should be expected that there will be similarities and overlaps between God’s natural and supernatural revelations.</a:t>
            </a:r>
            <a:endParaRPr lang="en-GB" sz="3200" dirty="0">
              <a:solidFill>
                <a:srgbClr val="002060"/>
              </a:solidFill>
              <a:latin typeface="Garamond" panose="02020404030301010803" pitchFamily="18" charset="0"/>
            </a:endParaRPr>
          </a:p>
          <a:p>
            <a:pPr marL="0" indent="0">
              <a:buNone/>
            </a:pPr>
            <a:endParaRPr lang="en-GB" sz="4800" dirty="0">
              <a:solidFill>
                <a:srgbClr val="002060"/>
              </a:solidFill>
              <a:latin typeface="Garamond" panose="02020404030301010803" pitchFamily="18" charset="0"/>
            </a:endParaRPr>
          </a:p>
        </p:txBody>
      </p:sp>
    </p:spTree>
    <p:extLst>
      <p:ext uri="{BB962C8B-B14F-4D97-AF65-F5344CB8AC3E}">
        <p14:creationId xmlns:p14="http://schemas.microsoft.com/office/powerpoint/2010/main" val="3379877424"/>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p:txBody>
          <a:bodyPr/>
          <a:lstStyle/>
          <a:p>
            <a:r>
              <a:rPr lang="en-US" b="1" dirty="0">
                <a:solidFill>
                  <a:srgbClr val="002060"/>
                </a:solidFill>
                <a:latin typeface="Garamond" panose="02020404030301010803" pitchFamily="18" charset="0"/>
              </a:rPr>
              <a:t>Characteristics of Christian Ethics</a:t>
            </a:r>
            <a:r>
              <a:rPr lang="en-GB" b="1" dirty="0">
                <a:solidFill>
                  <a:srgbClr val="002060"/>
                </a:solidFill>
                <a:latin typeface="Garamond" panose="02020404030301010803" pitchFamily="18" charset="0"/>
              </a:rPr>
              <a:t/>
            </a:r>
            <a:br>
              <a:rPr lang="en-GB" b="1" dirty="0">
                <a:solidFill>
                  <a:srgbClr val="002060"/>
                </a:solidFill>
                <a:latin typeface="Garamond" panose="02020404030301010803" pitchFamily="18" charset="0"/>
              </a:rPr>
            </a:br>
            <a:endParaRPr lang="en-US" b="1" dirty="0">
              <a:solidFill>
                <a:srgbClr val="002060"/>
              </a:solidFill>
              <a:latin typeface="Garamond" panose="020204040303010108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538514" y="1484671"/>
            <a:ext cx="10314180" cy="3682415"/>
          </a:xfrm>
        </p:spPr>
        <p:txBody>
          <a:bodyPr>
            <a:normAutofit lnSpcReduction="10000"/>
          </a:bodyPr>
          <a:lstStyle/>
          <a:p>
            <a:pPr marL="514350" indent="-514350">
              <a:buAutoNum type="arabicPeriod"/>
            </a:pPr>
            <a:r>
              <a:rPr lang="en-US" sz="4000" dirty="0" smtClean="0">
                <a:solidFill>
                  <a:srgbClr val="002060"/>
                </a:solidFill>
                <a:latin typeface="Garamond" panose="02020404030301010803" pitchFamily="18" charset="0"/>
              </a:rPr>
              <a:t>Christian ethics is based on the will of God</a:t>
            </a:r>
          </a:p>
          <a:p>
            <a:pPr marL="514350" indent="-514350">
              <a:buAutoNum type="arabicPeriod"/>
            </a:pPr>
            <a:r>
              <a:rPr lang="en-US" sz="4000" dirty="0" smtClean="0">
                <a:solidFill>
                  <a:srgbClr val="002060"/>
                </a:solidFill>
                <a:latin typeface="Garamond" panose="02020404030301010803" pitchFamily="18" charset="0"/>
              </a:rPr>
              <a:t>Christian ethics is based on God’s revelation</a:t>
            </a:r>
          </a:p>
          <a:p>
            <a:pPr marL="514350" indent="-514350">
              <a:buAutoNum type="arabicPeriod"/>
            </a:pPr>
            <a:r>
              <a:rPr lang="en-US" sz="4000" dirty="0" smtClean="0">
                <a:solidFill>
                  <a:srgbClr val="002060"/>
                </a:solidFill>
                <a:latin typeface="Garamond" panose="02020404030301010803" pitchFamily="18" charset="0"/>
              </a:rPr>
              <a:t>Christian ethics is prescriptive </a:t>
            </a:r>
          </a:p>
          <a:p>
            <a:pPr marL="514350" indent="-514350">
              <a:buAutoNum type="arabicPeriod"/>
            </a:pPr>
            <a:r>
              <a:rPr lang="en-US" sz="4000" dirty="0" smtClean="0">
                <a:solidFill>
                  <a:srgbClr val="002060"/>
                </a:solidFill>
                <a:latin typeface="Garamond" panose="02020404030301010803" pitchFamily="18" charset="0"/>
              </a:rPr>
              <a:t>Christian ethics is based on Scripture </a:t>
            </a:r>
          </a:p>
          <a:p>
            <a:pPr marL="514350" indent="-514350">
              <a:buAutoNum type="arabicPeriod"/>
            </a:pPr>
            <a:r>
              <a:rPr lang="en-US" sz="4000" dirty="0" smtClean="0">
                <a:solidFill>
                  <a:srgbClr val="002060"/>
                </a:solidFill>
                <a:latin typeface="Garamond" panose="02020404030301010803" pitchFamily="18" charset="0"/>
              </a:rPr>
              <a:t>Christian ethics is absolute </a:t>
            </a:r>
          </a:p>
          <a:p>
            <a:pPr marL="514350" indent="-514350">
              <a:buAutoNum type="arabicPeriod"/>
            </a:pPr>
            <a:r>
              <a:rPr lang="en-US" sz="4000" dirty="0" smtClean="0">
                <a:solidFill>
                  <a:srgbClr val="002060"/>
                </a:solidFill>
                <a:latin typeface="Garamond" panose="02020404030301010803" pitchFamily="18" charset="0"/>
              </a:rPr>
              <a:t>Christian ethics is deontological </a:t>
            </a:r>
          </a:p>
        </p:txBody>
      </p:sp>
    </p:spTree>
    <p:extLst>
      <p:ext uri="{BB962C8B-B14F-4D97-AF65-F5344CB8AC3E}">
        <p14:creationId xmlns:p14="http://schemas.microsoft.com/office/powerpoint/2010/main" val="1384807566"/>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p:txBody>
          <a:bodyPr/>
          <a:lstStyle/>
          <a:p>
            <a:r>
              <a:rPr lang="en-GB" b="1" dirty="0">
                <a:solidFill>
                  <a:srgbClr val="002060"/>
                </a:solidFill>
                <a:latin typeface="Garamond" panose="02020404030301010803" pitchFamily="18" charset="0"/>
              </a:rPr>
              <a:t>What is a morally good action?</a:t>
            </a:r>
            <a:endParaRPr lang="en-US" dirty="0">
              <a:solidFill>
                <a:srgbClr val="002060"/>
              </a:solidFill>
              <a:latin typeface="Garamond" panose="020204040303010108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484671"/>
            <a:ext cx="10481095" cy="4382729"/>
          </a:xfrm>
        </p:spPr>
        <p:txBody>
          <a:bodyPr/>
          <a:lstStyle/>
          <a:p>
            <a:pPr marL="0" indent="0">
              <a:buNone/>
            </a:pPr>
            <a:r>
              <a:rPr lang="en-US" sz="4800" dirty="0">
                <a:solidFill>
                  <a:srgbClr val="002060"/>
                </a:solidFill>
                <a:latin typeface="Garamond" panose="02020404030301010803" pitchFamily="18" charset="0"/>
              </a:rPr>
              <a:t>Numerous theories have been proposed concerning what is meant by a morally good action. </a:t>
            </a:r>
          </a:p>
          <a:p>
            <a:pPr lvl="1"/>
            <a:r>
              <a:rPr lang="en-US" sz="4800" dirty="0">
                <a:solidFill>
                  <a:srgbClr val="002060"/>
                </a:solidFill>
                <a:latin typeface="Garamond" panose="02020404030301010803" pitchFamily="18" charset="0"/>
              </a:rPr>
              <a:t>Let’s look at the various views that contrast with a Christian view of morality.</a:t>
            </a:r>
            <a:endParaRPr lang="en-GB" sz="4800" dirty="0">
              <a:solidFill>
                <a:srgbClr val="002060"/>
              </a:solidFill>
              <a:latin typeface="Garamond" panose="02020404030301010803" pitchFamily="18" charset="0"/>
            </a:endParaRPr>
          </a:p>
          <a:p>
            <a:pPr marL="0" indent="0">
              <a:buNone/>
            </a:pPr>
            <a:endParaRPr lang="en-GB" sz="8800" dirty="0">
              <a:solidFill>
                <a:srgbClr val="002060"/>
              </a:solidFill>
              <a:latin typeface="Garamond" panose="02020404030301010803" pitchFamily="18" charset="0"/>
            </a:endParaRPr>
          </a:p>
        </p:txBody>
      </p:sp>
    </p:spTree>
    <p:extLst>
      <p:ext uri="{BB962C8B-B14F-4D97-AF65-F5344CB8AC3E}">
        <p14:creationId xmlns:p14="http://schemas.microsoft.com/office/powerpoint/2010/main" val="2642459785"/>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p:txBody>
          <a:bodyPr/>
          <a:lstStyle/>
          <a:p>
            <a:r>
              <a:rPr lang="en-GB" b="1" dirty="0">
                <a:solidFill>
                  <a:srgbClr val="002060"/>
                </a:solidFill>
                <a:latin typeface="Garamond" panose="02020404030301010803" pitchFamily="18" charset="0"/>
              </a:rPr>
              <a:t>What is a morally good action?</a:t>
            </a:r>
            <a:endParaRPr lang="en-US" dirty="0">
              <a:solidFill>
                <a:srgbClr val="002060"/>
              </a:solidFill>
              <a:latin typeface="Garamond" panose="020204040303010108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484671"/>
            <a:ext cx="10481095" cy="4382729"/>
          </a:xfrm>
        </p:spPr>
        <p:txBody>
          <a:bodyPr>
            <a:normAutofit fontScale="70000" lnSpcReduction="20000"/>
          </a:bodyPr>
          <a:lstStyle/>
          <a:p>
            <a:pPr marL="0" indent="0">
              <a:buNone/>
            </a:pPr>
            <a:r>
              <a:rPr lang="en-US" sz="3600" b="1" dirty="0">
                <a:solidFill>
                  <a:srgbClr val="002060"/>
                </a:solidFill>
                <a:latin typeface="Garamond" panose="02020404030301010803" pitchFamily="18" charset="0"/>
              </a:rPr>
              <a:t>Might is right </a:t>
            </a:r>
            <a:endParaRPr lang="en-GB" sz="3600" dirty="0">
              <a:solidFill>
                <a:srgbClr val="002060"/>
              </a:solidFill>
              <a:latin typeface="Garamond" panose="02020404030301010803" pitchFamily="18" charset="0"/>
            </a:endParaRPr>
          </a:p>
          <a:p>
            <a:r>
              <a:rPr lang="en-US" sz="3600" dirty="0">
                <a:solidFill>
                  <a:srgbClr val="002060"/>
                </a:solidFill>
                <a:latin typeface="Garamond" panose="02020404030301010803" pitchFamily="18" charset="0"/>
              </a:rPr>
              <a:t>The ancient Greek philosopher Thrasymachus is credited with holding that “justice is the interest of the stronger party” in other words, what is morally right is defined in terms of who has the power</a:t>
            </a:r>
            <a:r>
              <a:rPr lang="en-US" sz="3600" dirty="0" smtClean="0">
                <a:solidFill>
                  <a:srgbClr val="002060"/>
                </a:solidFill>
                <a:latin typeface="Garamond" panose="02020404030301010803" pitchFamily="18" charset="0"/>
              </a:rPr>
              <a:t>.</a:t>
            </a:r>
          </a:p>
          <a:p>
            <a:pPr marL="0" indent="0">
              <a:buNone/>
            </a:pPr>
            <a:endParaRPr lang="en-US" sz="3600" b="1" dirty="0" smtClean="0">
              <a:solidFill>
                <a:srgbClr val="002060"/>
              </a:solidFill>
              <a:latin typeface="Garamond" panose="02020404030301010803" pitchFamily="18" charset="0"/>
            </a:endParaRPr>
          </a:p>
          <a:p>
            <a:pPr marL="0" indent="0">
              <a:buNone/>
            </a:pPr>
            <a:r>
              <a:rPr lang="en-US" sz="3600" b="1" dirty="0" smtClean="0">
                <a:solidFill>
                  <a:srgbClr val="002060"/>
                </a:solidFill>
                <a:latin typeface="Garamond" panose="02020404030301010803" pitchFamily="18" charset="0"/>
              </a:rPr>
              <a:t>Man </a:t>
            </a:r>
            <a:r>
              <a:rPr lang="en-US" sz="3600" b="1" dirty="0">
                <a:solidFill>
                  <a:srgbClr val="002060"/>
                </a:solidFill>
                <a:latin typeface="Garamond" panose="02020404030301010803" pitchFamily="18" charset="0"/>
              </a:rPr>
              <a:t>is the measure</a:t>
            </a:r>
            <a:endParaRPr lang="en-GB" sz="3600" dirty="0">
              <a:solidFill>
                <a:srgbClr val="002060"/>
              </a:solidFill>
              <a:latin typeface="Garamond" panose="02020404030301010803" pitchFamily="18" charset="0"/>
            </a:endParaRPr>
          </a:p>
          <a:p>
            <a:r>
              <a:rPr lang="en-US" sz="3600" dirty="0">
                <a:solidFill>
                  <a:srgbClr val="002060"/>
                </a:solidFill>
                <a:latin typeface="Garamond" panose="02020404030301010803" pitchFamily="18" charset="0"/>
              </a:rPr>
              <a:t>Protagoras, an ancient Greek Philosopher claimed that “man is the measure of all things” understood in the in the individual sense, this means that each person’s own will is the standard for what is right and wrong. </a:t>
            </a:r>
            <a:r>
              <a:rPr lang="en-US" sz="3600" dirty="0" smtClean="0">
                <a:solidFill>
                  <a:srgbClr val="002060"/>
                </a:solidFill>
                <a:latin typeface="Garamond" panose="02020404030301010803" pitchFamily="18" charset="0"/>
              </a:rPr>
              <a:t>The </a:t>
            </a:r>
            <a:r>
              <a:rPr lang="en-US" sz="3600" dirty="0">
                <a:solidFill>
                  <a:srgbClr val="002060"/>
                </a:solidFill>
                <a:latin typeface="Garamond" panose="02020404030301010803" pitchFamily="18" charset="0"/>
              </a:rPr>
              <a:t>morally right thing to do is what is morally right to me. </a:t>
            </a:r>
          </a:p>
          <a:p>
            <a:pPr marL="0" indent="0">
              <a:buNone/>
            </a:pPr>
            <a:endParaRPr lang="en-US" sz="3600" dirty="0" smtClean="0">
              <a:solidFill>
                <a:srgbClr val="002060"/>
              </a:solidFill>
              <a:latin typeface="Garamond" panose="02020404030301010803" pitchFamily="18" charset="0"/>
            </a:endParaRPr>
          </a:p>
          <a:p>
            <a:pPr marL="0" indent="0">
              <a:buNone/>
            </a:pPr>
            <a:r>
              <a:rPr lang="en-US" sz="3600" dirty="0" smtClean="0">
                <a:solidFill>
                  <a:srgbClr val="002060"/>
                </a:solidFill>
                <a:latin typeface="Garamond" panose="02020404030301010803" pitchFamily="18" charset="0"/>
              </a:rPr>
              <a:t>What </a:t>
            </a:r>
            <a:r>
              <a:rPr lang="en-US" sz="3600" dirty="0">
                <a:solidFill>
                  <a:srgbClr val="002060"/>
                </a:solidFill>
                <a:latin typeface="Garamond" panose="02020404030301010803" pitchFamily="18" charset="0"/>
              </a:rPr>
              <a:t>is right to me may be wrong for another and vice versa</a:t>
            </a:r>
            <a:r>
              <a:rPr lang="en-US" sz="3600" dirty="0" smtClean="0">
                <a:solidFill>
                  <a:srgbClr val="002060"/>
                </a:solidFill>
                <a:latin typeface="Garamond" panose="02020404030301010803" pitchFamily="18" charset="0"/>
              </a:rPr>
              <a:t>. </a:t>
            </a:r>
            <a:endParaRPr lang="en-US" sz="3600" dirty="0">
              <a:solidFill>
                <a:srgbClr val="002060"/>
              </a:solidFill>
              <a:latin typeface="Garamond" panose="02020404030301010803" pitchFamily="18" charset="0"/>
            </a:endParaRPr>
          </a:p>
        </p:txBody>
      </p:sp>
    </p:spTree>
    <p:extLst>
      <p:ext uri="{BB962C8B-B14F-4D97-AF65-F5344CB8AC3E}">
        <p14:creationId xmlns:p14="http://schemas.microsoft.com/office/powerpoint/2010/main" val="648786917"/>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153885" y="381585"/>
            <a:ext cx="10481095" cy="4382729"/>
          </a:xfrm>
        </p:spPr>
        <p:txBody>
          <a:bodyPr>
            <a:noAutofit/>
          </a:bodyPr>
          <a:lstStyle/>
          <a:p>
            <a:pPr marL="0" indent="0">
              <a:buNone/>
            </a:pPr>
            <a:r>
              <a:rPr lang="en-US" sz="2400" b="1" dirty="0">
                <a:solidFill>
                  <a:srgbClr val="002060"/>
                </a:solidFill>
                <a:latin typeface="Garamond" panose="02020404030301010803" pitchFamily="18" charset="0"/>
              </a:rPr>
              <a:t>The Human Race Is the Basis of Right</a:t>
            </a:r>
            <a:endParaRPr lang="en-GB" sz="2400" dirty="0">
              <a:solidFill>
                <a:srgbClr val="002060"/>
              </a:solidFill>
              <a:latin typeface="Garamond" panose="02020404030301010803" pitchFamily="18" charset="0"/>
            </a:endParaRPr>
          </a:p>
          <a:p>
            <a:r>
              <a:rPr lang="en-US" sz="2400" dirty="0">
                <a:solidFill>
                  <a:srgbClr val="002060"/>
                </a:solidFill>
                <a:latin typeface="Garamond" panose="02020404030301010803" pitchFamily="18" charset="0"/>
              </a:rPr>
              <a:t>One way to avoid the radical individualism and ethical solipsism of Protagoras’ position is to use the human race as a whole as the standard for </a:t>
            </a:r>
            <a:r>
              <a:rPr lang="en-US" sz="2400" dirty="0" smtClean="0">
                <a:solidFill>
                  <a:srgbClr val="002060"/>
                </a:solidFill>
                <a:latin typeface="Garamond" panose="02020404030301010803" pitchFamily="18" charset="0"/>
              </a:rPr>
              <a:t>good. In </a:t>
            </a:r>
            <a:r>
              <a:rPr lang="en-US" sz="2400" dirty="0">
                <a:solidFill>
                  <a:srgbClr val="002060"/>
                </a:solidFill>
                <a:latin typeface="Garamond" panose="02020404030301010803" pitchFamily="18" charset="0"/>
              </a:rPr>
              <a:t>this case, the part does not determine what is right for the whole, but the whole determines what is right for the part. In brief, mankind is the measure of all things. </a:t>
            </a:r>
            <a:endParaRPr lang="en-US" sz="2400" dirty="0" smtClean="0">
              <a:solidFill>
                <a:srgbClr val="002060"/>
              </a:solidFill>
              <a:latin typeface="Garamond" panose="02020404030301010803" pitchFamily="18" charset="0"/>
            </a:endParaRPr>
          </a:p>
          <a:p>
            <a:pPr marL="0" indent="0">
              <a:buNone/>
            </a:pPr>
            <a:endParaRPr lang="en-US" sz="2400" b="1" dirty="0" smtClean="0">
              <a:solidFill>
                <a:srgbClr val="002060"/>
              </a:solidFill>
              <a:latin typeface="Garamond" panose="02020404030301010803" pitchFamily="18" charset="0"/>
            </a:endParaRPr>
          </a:p>
          <a:p>
            <a:pPr marL="0" indent="0">
              <a:buNone/>
            </a:pPr>
            <a:r>
              <a:rPr lang="en-US" sz="2400" b="1" dirty="0" smtClean="0">
                <a:solidFill>
                  <a:srgbClr val="002060"/>
                </a:solidFill>
                <a:latin typeface="Garamond" panose="02020404030301010803" pitchFamily="18" charset="0"/>
              </a:rPr>
              <a:t>Right </a:t>
            </a:r>
            <a:r>
              <a:rPr lang="en-US" sz="2400" b="1" dirty="0">
                <a:solidFill>
                  <a:srgbClr val="002060"/>
                </a:solidFill>
                <a:latin typeface="Garamond" panose="02020404030301010803" pitchFamily="18" charset="0"/>
              </a:rPr>
              <a:t>is Moderation</a:t>
            </a:r>
            <a:endParaRPr lang="en-GB" sz="2400" dirty="0">
              <a:solidFill>
                <a:srgbClr val="002060"/>
              </a:solidFill>
              <a:latin typeface="Garamond" panose="02020404030301010803" pitchFamily="18" charset="0"/>
            </a:endParaRPr>
          </a:p>
          <a:p>
            <a:r>
              <a:rPr lang="en-US" sz="2400" dirty="0">
                <a:solidFill>
                  <a:srgbClr val="002060"/>
                </a:solidFill>
                <a:latin typeface="Garamond" panose="02020404030301010803" pitchFamily="18" charset="0"/>
              </a:rPr>
              <a:t>According to Aristotle, morality is found in moderation. The right thing is the “golden mean” or moderate course of action. E.g. Aristotle believed that temperance is the mean between indulgence and insensibility. And pride is moderate course between vanity and humility. Likewise, course is the halfway point between fear and aggression.</a:t>
            </a:r>
            <a:endParaRPr lang="en-GB" sz="2400" dirty="0">
              <a:solidFill>
                <a:srgbClr val="002060"/>
              </a:solidFill>
              <a:latin typeface="Garamond" panose="02020404030301010803" pitchFamily="18" charset="0"/>
            </a:endParaRPr>
          </a:p>
          <a:p>
            <a:pPr marL="0" indent="0">
              <a:buNone/>
            </a:pPr>
            <a:r>
              <a:rPr lang="en-US" sz="2400" dirty="0">
                <a:solidFill>
                  <a:srgbClr val="002060"/>
                </a:solidFill>
                <a:latin typeface="Garamond" panose="02020404030301010803" pitchFamily="18" charset="0"/>
              </a:rPr>
              <a:t>To be moderate is often the wisest course. Even the Bible says.” Let your moderation be known unto all men” (Phil 4:5). The question is not whether moderation is often the proper expression of morality, but whether is the proper definition (or essence) of morality, there are several reasons for thinking that it is not the very nature of what is good. </a:t>
            </a:r>
            <a:endParaRPr lang="en-GB" sz="2400" dirty="0" smtClean="0">
              <a:solidFill>
                <a:srgbClr val="002060"/>
              </a:solidFill>
              <a:latin typeface="Garamond" panose="02020404030301010803" pitchFamily="18" charset="0"/>
            </a:endParaRPr>
          </a:p>
          <a:p>
            <a:pPr marL="0" indent="0">
              <a:buNone/>
            </a:pPr>
            <a:endParaRPr lang="en-US" sz="3200" dirty="0">
              <a:solidFill>
                <a:srgbClr val="002060"/>
              </a:solidFill>
              <a:latin typeface="Garamond" panose="02020404030301010803" pitchFamily="18" charset="0"/>
            </a:endParaRPr>
          </a:p>
        </p:txBody>
      </p:sp>
    </p:spTree>
    <p:extLst>
      <p:ext uri="{BB962C8B-B14F-4D97-AF65-F5344CB8AC3E}">
        <p14:creationId xmlns:p14="http://schemas.microsoft.com/office/powerpoint/2010/main" val="330429209"/>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182912" y="1339528"/>
            <a:ext cx="10481095" cy="4382729"/>
          </a:xfrm>
        </p:spPr>
        <p:txBody>
          <a:bodyPr>
            <a:normAutofit fontScale="92500" lnSpcReduction="10000"/>
          </a:bodyPr>
          <a:lstStyle/>
          <a:p>
            <a:pPr marL="0" indent="0">
              <a:buNone/>
            </a:pPr>
            <a:r>
              <a:rPr lang="en-US" b="1" dirty="0">
                <a:solidFill>
                  <a:srgbClr val="002060"/>
                </a:solidFill>
                <a:latin typeface="Garamond" panose="02020404030301010803" pitchFamily="18" charset="0"/>
              </a:rPr>
              <a:t>Right Is What Brings Pleasure </a:t>
            </a:r>
            <a:endParaRPr lang="en-GB" dirty="0">
              <a:solidFill>
                <a:srgbClr val="002060"/>
              </a:solidFill>
              <a:latin typeface="Garamond" panose="02020404030301010803" pitchFamily="18" charset="0"/>
            </a:endParaRPr>
          </a:p>
          <a:p>
            <a:r>
              <a:rPr lang="en-US" dirty="0">
                <a:solidFill>
                  <a:srgbClr val="002060"/>
                </a:solidFill>
                <a:latin typeface="Garamond" panose="02020404030301010803" pitchFamily="18" charset="0"/>
              </a:rPr>
              <a:t>Springing from the Epicureans (fourth century BC), hedonists claim that what brings pleasure is morally right and what brings pain is morally wrong. But since few things are all pleasure or all pain, the formula for determining what is good is complicated. The good, they claim is what brings the most pleasure and the least pain to the greatest number of people.</a:t>
            </a:r>
            <a:endParaRPr lang="en-GB" dirty="0">
              <a:solidFill>
                <a:srgbClr val="002060"/>
              </a:solidFill>
              <a:latin typeface="Garamond" panose="02020404030301010803" pitchFamily="18" charset="0"/>
            </a:endParaRPr>
          </a:p>
          <a:p>
            <a:r>
              <a:rPr lang="en-US" dirty="0">
                <a:solidFill>
                  <a:srgbClr val="002060"/>
                </a:solidFill>
                <a:latin typeface="Garamond" panose="02020404030301010803" pitchFamily="18" charset="0"/>
              </a:rPr>
              <a:t>There are many difficulties with this definition of good. First not all pleasure are good (e.g., sadism), and not all the pain is bad (</a:t>
            </a:r>
            <a:r>
              <a:rPr lang="en-US" dirty="0" err="1">
                <a:solidFill>
                  <a:srgbClr val="002060"/>
                </a:solidFill>
                <a:latin typeface="Garamond" panose="02020404030301010803" pitchFamily="18" charset="0"/>
              </a:rPr>
              <a:t>e.g</a:t>
            </a:r>
            <a:r>
              <a:rPr lang="en-US" dirty="0">
                <a:solidFill>
                  <a:srgbClr val="002060"/>
                </a:solidFill>
                <a:latin typeface="Garamond" panose="02020404030301010803" pitchFamily="18" charset="0"/>
              </a:rPr>
              <a:t> warning pain) second, what kind of pleasure should be used as the basis or test? There are physical, psychological, Spiritual and many other kinds of pleasure. Third are we to use immediate pleasure or ultimate pleasure as the test? Pleasures in this life or the next? Forth should it be pleasure for the individual, the group or the race?</a:t>
            </a:r>
            <a:endParaRPr lang="en-GB" dirty="0">
              <a:solidFill>
                <a:srgbClr val="002060"/>
              </a:solidFill>
              <a:latin typeface="Garamond" panose="02020404030301010803" pitchFamily="18" charset="0"/>
            </a:endParaRPr>
          </a:p>
          <a:p>
            <a:pPr marL="0" indent="0">
              <a:buNone/>
            </a:pPr>
            <a:endParaRPr lang="en-US" sz="3600" dirty="0">
              <a:solidFill>
                <a:srgbClr val="002060"/>
              </a:solidFill>
              <a:latin typeface="Garamond" panose="02020404030301010803" pitchFamily="18" charset="0"/>
            </a:endParaRPr>
          </a:p>
        </p:txBody>
      </p:sp>
    </p:spTree>
    <p:extLst>
      <p:ext uri="{BB962C8B-B14F-4D97-AF65-F5344CB8AC3E}">
        <p14:creationId xmlns:p14="http://schemas.microsoft.com/office/powerpoint/2010/main" val="1062396280"/>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110341" y="715414"/>
            <a:ext cx="10065659" cy="4382729"/>
          </a:xfrm>
        </p:spPr>
        <p:txBody>
          <a:bodyPr>
            <a:noAutofit/>
          </a:bodyPr>
          <a:lstStyle/>
          <a:p>
            <a:pPr marL="0" indent="0">
              <a:buNone/>
            </a:pPr>
            <a:r>
              <a:rPr lang="en-US" b="1" dirty="0">
                <a:solidFill>
                  <a:srgbClr val="002060"/>
                </a:solidFill>
                <a:latin typeface="Garamond" panose="02020404030301010803" pitchFamily="18" charset="0"/>
              </a:rPr>
              <a:t>Right Is the Greatest Good for the Greatest Number     </a:t>
            </a:r>
            <a:endParaRPr lang="en-GB" dirty="0">
              <a:solidFill>
                <a:srgbClr val="002060"/>
              </a:solidFill>
              <a:latin typeface="Garamond" panose="02020404030301010803" pitchFamily="18" charset="0"/>
            </a:endParaRPr>
          </a:p>
          <a:p>
            <a:r>
              <a:rPr lang="en-US" dirty="0">
                <a:solidFill>
                  <a:srgbClr val="002060"/>
                </a:solidFill>
                <a:latin typeface="Garamond" panose="02020404030301010803" pitchFamily="18" charset="0"/>
              </a:rPr>
              <a:t>Reflecting on the problems just mentioned, some </a:t>
            </a:r>
            <a:r>
              <a:rPr lang="en-US" dirty="0" err="1">
                <a:solidFill>
                  <a:srgbClr val="002060"/>
                </a:solidFill>
                <a:latin typeface="Garamond" panose="02020404030301010803" pitchFamily="18" charset="0"/>
              </a:rPr>
              <a:t>utilitarians</a:t>
            </a:r>
            <a:r>
              <a:rPr lang="en-US" dirty="0">
                <a:solidFill>
                  <a:srgbClr val="002060"/>
                </a:solidFill>
                <a:latin typeface="Garamond" panose="02020404030301010803" pitchFamily="18" charset="0"/>
              </a:rPr>
              <a:t> have defined moral rightness in terms of what brings the greatest good for the greatest number of persons in the long run. </a:t>
            </a:r>
            <a:r>
              <a:rPr lang="en-US" dirty="0" smtClean="0">
                <a:solidFill>
                  <a:srgbClr val="002060"/>
                </a:solidFill>
                <a:latin typeface="Garamond" panose="02020404030301010803" pitchFamily="18" charset="0"/>
              </a:rPr>
              <a:t>Some</a:t>
            </a:r>
            <a:r>
              <a:rPr lang="en-US" dirty="0">
                <a:solidFill>
                  <a:srgbClr val="002060"/>
                </a:solidFill>
                <a:latin typeface="Garamond" panose="02020404030301010803" pitchFamily="18" charset="0"/>
              </a:rPr>
              <a:t>, like Bentham understand good quantitatively, while others, like Stuart Mill understand it qualitatively</a:t>
            </a:r>
            <a:r>
              <a:rPr lang="en-US" dirty="0" smtClean="0">
                <a:solidFill>
                  <a:srgbClr val="002060"/>
                </a:solidFill>
                <a:latin typeface="Garamond" panose="02020404030301010803" pitchFamily="18" charset="0"/>
              </a:rPr>
              <a:t>.</a:t>
            </a:r>
          </a:p>
          <a:p>
            <a:pPr marL="0" indent="0">
              <a:buNone/>
            </a:pPr>
            <a:endParaRPr lang="en-US" b="1" dirty="0" smtClean="0">
              <a:latin typeface="Garamond" panose="02020404030301010803" pitchFamily="18" charset="0"/>
            </a:endParaRPr>
          </a:p>
          <a:p>
            <a:pPr marL="0" indent="0">
              <a:buNone/>
            </a:pPr>
            <a:r>
              <a:rPr lang="en-US" b="1" dirty="0" smtClean="0">
                <a:solidFill>
                  <a:srgbClr val="002060"/>
                </a:solidFill>
                <a:latin typeface="Garamond" panose="02020404030301010803" pitchFamily="18" charset="0"/>
              </a:rPr>
              <a:t>Right </a:t>
            </a:r>
            <a:r>
              <a:rPr lang="en-US" b="1" dirty="0">
                <a:solidFill>
                  <a:srgbClr val="002060"/>
                </a:solidFill>
                <a:latin typeface="Garamond" panose="02020404030301010803" pitchFamily="18" charset="0"/>
              </a:rPr>
              <a:t>is what is Desirable for Its Own Sake</a:t>
            </a:r>
            <a:endParaRPr lang="en-GB" dirty="0">
              <a:solidFill>
                <a:srgbClr val="002060"/>
              </a:solidFill>
              <a:latin typeface="Garamond" panose="02020404030301010803" pitchFamily="18" charset="0"/>
            </a:endParaRPr>
          </a:p>
          <a:p>
            <a:r>
              <a:rPr lang="en-US" dirty="0">
                <a:solidFill>
                  <a:srgbClr val="002060"/>
                </a:solidFill>
                <a:latin typeface="Garamond" panose="02020404030301010803" pitchFamily="18" charset="0"/>
              </a:rPr>
              <a:t>Following Aristotelian thoughts, some have defined good as that which is desirable for its own sake, in and of itself. </a:t>
            </a:r>
            <a:r>
              <a:rPr lang="en-US" dirty="0" smtClean="0">
                <a:solidFill>
                  <a:srgbClr val="002060"/>
                </a:solidFill>
                <a:latin typeface="Garamond" panose="02020404030301010803" pitchFamily="18" charset="0"/>
              </a:rPr>
              <a:t>That </a:t>
            </a:r>
            <a:r>
              <a:rPr lang="en-US" dirty="0">
                <a:solidFill>
                  <a:srgbClr val="002060"/>
                </a:solidFill>
                <a:latin typeface="Garamond" panose="02020404030301010803" pitchFamily="18" charset="0"/>
              </a:rPr>
              <a:t>is, moral value is an end but not a means. </a:t>
            </a:r>
            <a:r>
              <a:rPr lang="en-US" dirty="0" smtClean="0">
                <a:solidFill>
                  <a:srgbClr val="002060"/>
                </a:solidFill>
                <a:latin typeface="Garamond" panose="02020404030301010803" pitchFamily="18" charset="0"/>
              </a:rPr>
              <a:t>It </a:t>
            </a:r>
            <a:r>
              <a:rPr lang="en-US" dirty="0">
                <a:solidFill>
                  <a:srgbClr val="002060"/>
                </a:solidFill>
                <a:latin typeface="Garamond" panose="02020404030301010803" pitchFamily="18" charset="0"/>
              </a:rPr>
              <a:t>is never to be desired for the sake of anything else.</a:t>
            </a:r>
            <a:endParaRPr lang="en-GB" dirty="0">
              <a:solidFill>
                <a:srgbClr val="002060"/>
              </a:solidFill>
              <a:latin typeface="Garamond" panose="02020404030301010803" pitchFamily="18" charset="0"/>
            </a:endParaRPr>
          </a:p>
          <a:p>
            <a:pPr marL="0" indent="0">
              <a:buNone/>
            </a:pPr>
            <a:endParaRPr lang="en-US" sz="4000" dirty="0">
              <a:latin typeface="Garamond" panose="02020404030301010803" pitchFamily="18" charset="0"/>
            </a:endParaRPr>
          </a:p>
          <a:p>
            <a:endParaRPr lang="en-GB" dirty="0">
              <a:solidFill>
                <a:srgbClr val="002060"/>
              </a:solidFill>
              <a:latin typeface="Garamond" panose="02020404030301010803" pitchFamily="18" charset="0"/>
            </a:endParaRPr>
          </a:p>
          <a:p>
            <a:pPr marL="0" indent="0">
              <a:buNone/>
            </a:pPr>
            <a:endParaRPr lang="en-US" sz="4000" dirty="0">
              <a:solidFill>
                <a:srgbClr val="002060"/>
              </a:solidFill>
              <a:latin typeface="Garamond" panose="02020404030301010803" pitchFamily="18" charset="0"/>
            </a:endParaRPr>
          </a:p>
        </p:txBody>
      </p:sp>
    </p:spTree>
    <p:extLst>
      <p:ext uri="{BB962C8B-B14F-4D97-AF65-F5344CB8AC3E}">
        <p14:creationId xmlns:p14="http://schemas.microsoft.com/office/powerpoint/2010/main" val="1690081592"/>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081314" y="700899"/>
            <a:ext cx="10481095" cy="4382729"/>
          </a:xfrm>
        </p:spPr>
        <p:txBody>
          <a:bodyPr>
            <a:normAutofit/>
          </a:bodyPr>
          <a:lstStyle/>
          <a:p>
            <a:pPr marL="0" indent="0">
              <a:buNone/>
            </a:pPr>
            <a:r>
              <a:rPr lang="en-US" sz="3200" b="1" dirty="0">
                <a:solidFill>
                  <a:srgbClr val="002060"/>
                </a:solidFill>
                <a:latin typeface="Garamond" panose="02020404030301010803" pitchFamily="18" charset="0"/>
              </a:rPr>
              <a:t>Right is Indefinable</a:t>
            </a:r>
            <a:endParaRPr lang="en-GB" sz="3200" dirty="0">
              <a:solidFill>
                <a:srgbClr val="002060"/>
              </a:solidFill>
              <a:latin typeface="Garamond" panose="02020404030301010803" pitchFamily="18" charset="0"/>
            </a:endParaRPr>
          </a:p>
          <a:p>
            <a:r>
              <a:rPr lang="en-US" sz="3200" dirty="0">
                <a:solidFill>
                  <a:srgbClr val="002060"/>
                </a:solidFill>
                <a:latin typeface="Garamond" panose="02020404030301010803" pitchFamily="18" charset="0"/>
              </a:rPr>
              <a:t>Despairing of any hope of specifying what is morally good, some simply insist that good is indefinable. </a:t>
            </a:r>
            <a:r>
              <a:rPr lang="en-US" sz="3200" dirty="0" smtClean="0">
                <a:solidFill>
                  <a:srgbClr val="002060"/>
                </a:solidFill>
                <a:latin typeface="Garamond" panose="02020404030301010803" pitchFamily="18" charset="0"/>
              </a:rPr>
              <a:t>For </a:t>
            </a:r>
            <a:r>
              <a:rPr lang="en-US" sz="3200" dirty="0">
                <a:solidFill>
                  <a:srgbClr val="002060"/>
                </a:solidFill>
                <a:latin typeface="Garamond" panose="02020404030301010803" pitchFamily="18" charset="0"/>
              </a:rPr>
              <a:t>instance G. E. Moore (1873-1958) argued that every attempt to define good commits the “naturalistic fallacy” of assuming that since pleasure can be attributed to good, they are identical. </a:t>
            </a:r>
          </a:p>
          <a:p>
            <a:r>
              <a:rPr lang="en-US" sz="2800" dirty="0">
                <a:solidFill>
                  <a:srgbClr val="002060"/>
                </a:solidFill>
                <a:latin typeface="Garamond" panose="02020404030301010803" pitchFamily="18" charset="0"/>
              </a:rPr>
              <a:t>Moore contended that all we can say is that “good is good” and nothing more. Attempting to define good in terms of something else makes that something else an intrinsic good</a:t>
            </a:r>
            <a:r>
              <a:rPr lang="en-US" sz="2800" dirty="0" smtClean="0">
                <a:solidFill>
                  <a:srgbClr val="002060"/>
                </a:solidFill>
                <a:latin typeface="Garamond" panose="02020404030301010803" pitchFamily="18" charset="0"/>
              </a:rPr>
              <a:t>.</a:t>
            </a:r>
          </a:p>
          <a:p>
            <a:endParaRPr lang="en-GB" sz="2800" dirty="0">
              <a:solidFill>
                <a:srgbClr val="002060"/>
              </a:solidFill>
              <a:latin typeface="Garamond" panose="02020404030301010803" pitchFamily="18" charset="0"/>
            </a:endParaRPr>
          </a:p>
          <a:p>
            <a:pPr marL="0" indent="0">
              <a:buNone/>
            </a:pPr>
            <a:endParaRPr lang="en-US" sz="4400" dirty="0">
              <a:solidFill>
                <a:srgbClr val="002060"/>
              </a:solidFill>
              <a:latin typeface="Garamond" panose="02020404030301010803" pitchFamily="18" charset="0"/>
            </a:endParaRPr>
          </a:p>
        </p:txBody>
      </p:sp>
    </p:spTree>
    <p:extLst>
      <p:ext uri="{BB962C8B-B14F-4D97-AF65-F5344CB8AC3E}">
        <p14:creationId xmlns:p14="http://schemas.microsoft.com/office/powerpoint/2010/main" val="3614955347"/>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484671"/>
            <a:ext cx="10481095" cy="4382729"/>
          </a:xfrm>
        </p:spPr>
        <p:txBody>
          <a:bodyPr>
            <a:normAutofit lnSpcReduction="10000"/>
          </a:bodyPr>
          <a:lstStyle/>
          <a:p>
            <a:pPr marL="0" indent="0">
              <a:buNone/>
            </a:pPr>
            <a:r>
              <a:rPr lang="en-US" sz="3200" b="1" dirty="0">
                <a:solidFill>
                  <a:srgbClr val="002060"/>
                </a:solidFill>
                <a:latin typeface="Garamond" panose="02020404030301010803" pitchFamily="18" charset="0"/>
              </a:rPr>
              <a:t>Good is what God Wills</a:t>
            </a:r>
            <a:endParaRPr lang="en-GB" sz="3200" dirty="0">
              <a:solidFill>
                <a:srgbClr val="002060"/>
              </a:solidFill>
              <a:latin typeface="Garamond" panose="02020404030301010803" pitchFamily="18" charset="0"/>
            </a:endParaRPr>
          </a:p>
          <a:p>
            <a:r>
              <a:rPr lang="en-US" sz="3200" dirty="0">
                <a:solidFill>
                  <a:srgbClr val="002060"/>
                </a:solidFill>
                <a:latin typeface="Garamond" panose="02020404030301010803" pitchFamily="18" charset="0"/>
              </a:rPr>
              <a:t>One final alternative is to define good in terms of what God wills. </a:t>
            </a:r>
          </a:p>
          <a:p>
            <a:r>
              <a:rPr lang="en-US" sz="3200" dirty="0">
                <a:solidFill>
                  <a:srgbClr val="002060"/>
                </a:solidFill>
                <a:latin typeface="Garamond" panose="02020404030301010803" pitchFamily="18" charset="0"/>
              </a:rPr>
              <a:t>This of course is the Christian view of the nature of good. The good is what God wills is good. Whatever action God specifies to be good is good action. </a:t>
            </a:r>
          </a:p>
          <a:p>
            <a:r>
              <a:rPr lang="en-US" sz="2800" dirty="0">
                <a:solidFill>
                  <a:srgbClr val="002060"/>
                </a:solidFill>
                <a:latin typeface="Garamond" panose="02020404030301010803" pitchFamily="18" charset="0"/>
              </a:rPr>
              <a:t>Conversely, if God wills an action to be evil, then it is evil. Thus, moral good is both ultimate and specifiable. It is ultimate because it comes from God</a:t>
            </a:r>
            <a:r>
              <a:rPr lang="en-US" sz="3200" dirty="0">
                <a:solidFill>
                  <a:srgbClr val="002060"/>
                </a:solidFill>
                <a:latin typeface="Garamond" panose="02020404030301010803" pitchFamily="18" charset="0"/>
              </a:rPr>
              <a:t>. </a:t>
            </a:r>
          </a:p>
          <a:p>
            <a:r>
              <a:rPr lang="en-US" sz="2800" dirty="0">
                <a:solidFill>
                  <a:srgbClr val="002060"/>
                </a:solidFill>
                <a:latin typeface="Garamond" panose="02020404030301010803" pitchFamily="18" charset="0"/>
              </a:rPr>
              <a:t>It is specifiable because it can be found in His revelation to mankind.</a:t>
            </a:r>
            <a:endParaRPr lang="en-GB" sz="2800" dirty="0">
              <a:solidFill>
                <a:srgbClr val="002060"/>
              </a:solidFill>
              <a:latin typeface="Garamond" panose="02020404030301010803" pitchFamily="18" charset="0"/>
            </a:endParaRPr>
          </a:p>
          <a:p>
            <a:pPr marL="0" indent="0">
              <a:buNone/>
            </a:pPr>
            <a:endParaRPr lang="en-US" sz="4400" dirty="0">
              <a:solidFill>
                <a:srgbClr val="002060"/>
              </a:solidFill>
              <a:latin typeface="Garamond" panose="02020404030301010803" pitchFamily="18" charset="0"/>
            </a:endParaRPr>
          </a:p>
        </p:txBody>
      </p:sp>
    </p:spTree>
    <p:extLst>
      <p:ext uri="{BB962C8B-B14F-4D97-AF65-F5344CB8AC3E}">
        <p14:creationId xmlns:p14="http://schemas.microsoft.com/office/powerpoint/2010/main" val="3725773380"/>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p:txBody>
          <a:bodyPr/>
          <a:lstStyle/>
          <a:p>
            <a:r>
              <a:rPr lang="en-US" b="1" dirty="0">
                <a:solidFill>
                  <a:srgbClr val="002060"/>
                </a:solidFill>
                <a:latin typeface="Garamond" panose="02020404030301010803" pitchFamily="18" charset="0"/>
              </a:rPr>
              <a:t>Christian Ethical Foundations</a:t>
            </a:r>
            <a:endParaRPr lang="en-GB" dirty="0">
              <a:solidFill>
                <a:srgbClr val="002060"/>
              </a:solidFill>
              <a:latin typeface="Garamond" panose="020204040303010108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484671"/>
            <a:ext cx="10481095" cy="4382729"/>
          </a:xfrm>
        </p:spPr>
        <p:txBody>
          <a:bodyPr>
            <a:normAutofit lnSpcReduction="10000"/>
          </a:bodyPr>
          <a:lstStyle/>
          <a:p>
            <a:pPr marL="0" indent="0">
              <a:buNone/>
            </a:pPr>
            <a:r>
              <a:rPr lang="en-US" sz="3000" dirty="0">
                <a:solidFill>
                  <a:srgbClr val="002060"/>
                </a:solidFill>
                <a:latin typeface="Garamond" panose="02020404030301010803" pitchFamily="18" charset="0"/>
              </a:rPr>
              <a:t>Christian ethics rests on a number of biblical principles. </a:t>
            </a:r>
          </a:p>
          <a:p>
            <a:r>
              <a:rPr lang="en-US" sz="3000" dirty="0">
                <a:solidFill>
                  <a:srgbClr val="002060"/>
                </a:solidFill>
                <a:latin typeface="Garamond" panose="02020404030301010803" pitchFamily="18" charset="0"/>
              </a:rPr>
              <a:t>Some of these moral foundations are </a:t>
            </a:r>
            <a:r>
              <a:rPr lang="en-US" sz="3000" b="1" dirty="0">
                <a:solidFill>
                  <a:srgbClr val="002060"/>
                </a:solidFill>
                <a:latin typeface="Garamond" panose="02020404030301010803" pitchFamily="18" charset="0"/>
              </a:rPr>
              <a:t>love</a:t>
            </a:r>
            <a:r>
              <a:rPr lang="en-US" sz="3000" dirty="0">
                <a:solidFill>
                  <a:srgbClr val="002060"/>
                </a:solidFill>
                <a:latin typeface="Garamond" panose="02020404030301010803" pitchFamily="18" charset="0"/>
              </a:rPr>
              <a:t>, </a:t>
            </a:r>
            <a:r>
              <a:rPr lang="en-US" sz="3000" b="1" dirty="0">
                <a:solidFill>
                  <a:srgbClr val="002060"/>
                </a:solidFill>
                <a:latin typeface="Garamond" panose="02020404030301010803" pitchFamily="18" charset="0"/>
              </a:rPr>
              <a:t>justice</a:t>
            </a:r>
            <a:r>
              <a:rPr lang="en-US" sz="3000" dirty="0">
                <a:solidFill>
                  <a:srgbClr val="002060"/>
                </a:solidFill>
                <a:latin typeface="Garamond" panose="02020404030301010803" pitchFamily="18" charset="0"/>
              </a:rPr>
              <a:t>, </a:t>
            </a:r>
            <a:r>
              <a:rPr lang="en-US" sz="3000" b="1" dirty="0">
                <a:solidFill>
                  <a:srgbClr val="002060"/>
                </a:solidFill>
                <a:latin typeface="Garamond" panose="02020404030301010803" pitchFamily="18" charset="0"/>
              </a:rPr>
              <a:t>honest</a:t>
            </a:r>
            <a:r>
              <a:rPr lang="en-US" sz="3000" dirty="0">
                <a:solidFill>
                  <a:srgbClr val="002060"/>
                </a:solidFill>
                <a:latin typeface="Garamond" panose="02020404030301010803" pitchFamily="18" charset="0"/>
              </a:rPr>
              <a:t>, </a:t>
            </a:r>
            <a:r>
              <a:rPr lang="en-US" sz="3000" b="1" dirty="0">
                <a:solidFill>
                  <a:srgbClr val="002060"/>
                </a:solidFill>
                <a:latin typeface="Garamond" panose="02020404030301010803" pitchFamily="18" charset="0"/>
              </a:rPr>
              <a:t>integrity</a:t>
            </a:r>
            <a:r>
              <a:rPr lang="en-US" sz="3000" dirty="0">
                <a:solidFill>
                  <a:srgbClr val="002060"/>
                </a:solidFill>
                <a:latin typeface="Garamond" panose="02020404030301010803" pitchFamily="18" charset="0"/>
              </a:rPr>
              <a:t> and </a:t>
            </a:r>
            <a:r>
              <a:rPr lang="en-US" sz="3000" b="1" dirty="0">
                <a:solidFill>
                  <a:srgbClr val="002060"/>
                </a:solidFill>
                <a:latin typeface="Garamond" panose="02020404030301010803" pitchFamily="18" charset="0"/>
              </a:rPr>
              <a:t>civility</a:t>
            </a:r>
            <a:r>
              <a:rPr lang="en-US" sz="3000" dirty="0">
                <a:solidFill>
                  <a:srgbClr val="002060"/>
                </a:solidFill>
                <a:latin typeface="Garamond" panose="02020404030301010803" pitchFamily="18" charset="0"/>
              </a:rPr>
              <a:t>. </a:t>
            </a:r>
          </a:p>
          <a:p>
            <a:r>
              <a:rPr lang="en-US" sz="3000" dirty="0">
                <a:solidFill>
                  <a:srgbClr val="002060"/>
                </a:solidFill>
                <a:latin typeface="Garamond" panose="02020404030301010803" pitchFamily="18" charset="0"/>
              </a:rPr>
              <a:t>Christians are called to love God and have “integrity of heart.” Anyone who is called with always try to do what is right and strive to live moral and upright lives. </a:t>
            </a:r>
          </a:p>
          <a:p>
            <a:r>
              <a:rPr lang="en-US" sz="3000" dirty="0">
                <a:solidFill>
                  <a:srgbClr val="002060"/>
                </a:solidFill>
                <a:latin typeface="Garamond" panose="02020404030301010803" pitchFamily="18" charset="0"/>
              </a:rPr>
              <a:t>Living godly lives is the very foundation of personal moral ethics. Those who attempt to “love their neighbor” will apply these biblical principles in a loving way to society. And loving one’s neighbor is the foundation of social ethics.</a:t>
            </a:r>
            <a:endParaRPr lang="en-GB" sz="3000" dirty="0">
              <a:solidFill>
                <a:srgbClr val="002060"/>
              </a:solidFill>
              <a:latin typeface="Garamond" panose="02020404030301010803" pitchFamily="18" charset="0"/>
            </a:endParaRPr>
          </a:p>
          <a:p>
            <a:pPr marL="0" indent="0">
              <a:buNone/>
            </a:pPr>
            <a:endParaRPr lang="en-US" sz="3000" dirty="0">
              <a:solidFill>
                <a:srgbClr val="002060"/>
              </a:solidFill>
              <a:latin typeface="Garamond" panose="02020404030301010803" pitchFamily="18" charset="0"/>
            </a:endParaRPr>
          </a:p>
        </p:txBody>
      </p:sp>
    </p:spTree>
    <p:extLst>
      <p:ext uri="{BB962C8B-B14F-4D97-AF65-F5344CB8AC3E}">
        <p14:creationId xmlns:p14="http://schemas.microsoft.com/office/powerpoint/2010/main" val="4248250494"/>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p:txBody>
          <a:bodyPr/>
          <a:lstStyle/>
          <a:p>
            <a:r>
              <a:rPr lang="en-US" b="1" dirty="0">
                <a:solidFill>
                  <a:srgbClr val="002060"/>
                </a:solidFill>
                <a:latin typeface="Garamond" panose="02020404030301010803" pitchFamily="18" charset="0"/>
              </a:rPr>
              <a:t>Christian Ethical Foundations</a:t>
            </a:r>
            <a:endParaRPr lang="en-GB" dirty="0">
              <a:solidFill>
                <a:srgbClr val="002060"/>
              </a:solidFill>
              <a:latin typeface="Garamond" panose="020204040303010108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484671"/>
            <a:ext cx="10481095" cy="4382729"/>
          </a:xfrm>
        </p:spPr>
        <p:txBody>
          <a:bodyPr>
            <a:normAutofit fontScale="92500" lnSpcReduction="10000"/>
          </a:bodyPr>
          <a:lstStyle/>
          <a:p>
            <a:pPr marL="457200" indent="-457200">
              <a:buAutoNum type="arabicPeriod"/>
            </a:pPr>
            <a:r>
              <a:rPr lang="en-US" b="1" dirty="0">
                <a:solidFill>
                  <a:srgbClr val="002060"/>
                </a:solidFill>
                <a:latin typeface="Garamond" panose="02020404030301010803" pitchFamily="18" charset="0"/>
              </a:rPr>
              <a:t>Love</a:t>
            </a:r>
            <a:endParaRPr lang="en-GB" b="1" dirty="0">
              <a:solidFill>
                <a:srgbClr val="002060"/>
              </a:solidFill>
              <a:latin typeface="Garamond" panose="02020404030301010803" pitchFamily="18" charset="0"/>
            </a:endParaRPr>
          </a:p>
          <a:p>
            <a:pPr lvl="1"/>
            <a:r>
              <a:rPr lang="en-US" i="0" dirty="0">
                <a:solidFill>
                  <a:srgbClr val="002060"/>
                </a:solidFill>
                <a:latin typeface="Garamond" panose="02020404030301010803" pitchFamily="18" charset="0"/>
              </a:rPr>
              <a:t>One of the most important of the numerous moral foundations of Christian ethics is love. God loves us and desires that we love Him too. Such love is a mutual love and is seen in the love between God the Father and God the Son. And we are to both love God and each other.</a:t>
            </a:r>
            <a:endParaRPr lang="en-GB" i="0" dirty="0">
              <a:solidFill>
                <a:srgbClr val="002060"/>
              </a:solidFill>
              <a:latin typeface="Garamond" panose="02020404030301010803" pitchFamily="18" charset="0"/>
            </a:endParaRPr>
          </a:p>
          <a:p>
            <a:pPr marL="0" indent="0">
              <a:buNone/>
            </a:pPr>
            <a:r>
              <a:rPr lang="en-US" dirty="0">
                <a:solidFill>
                  <a:srgbClr val="002060"/>
                </a:solidFill>
                <a:latin typeface="Garamond" panose="02020404030301010803" pitchFamily="18" charset="0"/>
              </a:rPr>
              <a:t>The Bible has many words that we translate into the one English word love:</a:t>
            </a:r>
            <a:endParaRPr lang="en-GB" dirty="0">
              <a:solidFill>
                <a:srgbClr val="002060"/>
              </a:solidFill>
              <a:latin typeface="Garamond" panose="02020404030301010803" pitchFamily="18" charset="0"/>
            </a:endParaRPr>
          </a:p>
          <a:p>
            <a:pPr lvl="0"/>
            <a:r>
              <a:rPr lang="en-US" b="1" dirty="0">
                <a:solidFill>
                  <a:srgbClr val="002060"/>
                </a:solidFill>
                <a:latin typeface="Garamond" panose="02020404030301010803" pitchFamily="18" charset="0"/>
              </a:rPr>
              <a:t>Agape -</a:t>
            </a:r>
            <a:r>
              <a:rPr lang="en-US" dirty="0">
                <a:solidFill>
                  <a:srgbClr val="002060"/>
                </a:solidFill>
                <a:latin typeface="Garamond" panose="02020404030301010803" pitchFamily="18" charset="0"/>
              </a:rPr>
              <a:t> is sacrificial love and means to love other persons unconditionally, despite their reaction to you or your love for them.</a:t>
            </a:r>
            <a:endParaRPr lang="en-GB" dirty="0">
              <a:solidFill>
                <a:srgbClr val="002060"/>
              </a:solidFill>
              <a:latin typeface="Garamond" panose="02020404030301010803" pitchFamily="18" charset="0"/>
            </a:endParaRPr>
          </a:p>
          <a:p>
            <a:pPr lvl="0"/>
            <a:r>
              <a:rPr lang="en-US" b="1" dirty="0">
                <a:solidFill>
                  <a:srgbClr val="002060"/>
                </a:solidFill>
                <a:latin typeface="Garamond" panose="02020404030301010803" pitchFamily="18" charset="0"/>
              </a:rPr>
              <a:t>Philia – </a:t>
            </a:r>
            <a:r>
              <a:rPr lang="en-US" dirty="0">
                <a:solidFill>
                  <a:srgbClr val="002060"/>
                </a:solidFill>
                <a:latin typeface="Garamond" panose="02020404030301010803" pitchFamily="18" charset="0"/>
              </a:rPr>
              <a:t>is a spontaneous natural affection and is also used in the word Philadelphia (brotherly love) and philia (friendship)</a:t>
            </a:r>
            <a:endParaRPr lang="en-GB" dirty="0">
              <a:solidFill>
                <a:srgbClr val="002060"/>
              </a:solidFill>
              <a:latin typeface="Garamond" panose="02020404030301010803" pitchFamily="18" charset="0"/>
            </a:endParaRPr>
          </a:p>
          <a:p>
            <a:pPr lvl="0"/>
            <a:r>
              <a:rPr lang="en-US" b="1" dirty="0" err="1">
                <a:solidFill>
                  <a:srgbClr val="002060"/>
                </a:solidFill>
                <a:latin typeface="Garamond" panose="02020404030301010803" pitchFamily="18" charset="0"/>
              </a:rPr>
              <a:t>Chesed</a:t>
            </a:r>
            <a:r>
              <a:rPr lang="en-US" b="1" dirty="0">
                <a:solidFill>
                  <a:srgbClr val="002060"/>
                </a:solidFill>
                <a:latin typeface="Garamond" panose="02020404030301010803" pitchFamily="18" charset="0"/>
              </a:rPr>
              <a:t> – </a:t>
            </a:r>
            <a:r>
              <a:rPr lang="en-US" dirty="0">
                <a:solidFill>
                  <a:srgbClr val="002060"/>
                </a:solidFill>
                <a:latin typeface="Garamond" panose="02020404030301010803" pitchFamily="18" charset="0"/>
              </a:rPr>
              <a:t>this term is found in the OT. It describes unselfish love and is sometimes translated as “loyalty” or “steadfast love.” </a:t>
            </a:r>
            <a:endParaRPr lang="en-GB" dirty="0">
              <a:solidFill>
                <a:srgbClr val="002060"/>
              </a:solidFill>
              <a:latin typeface="Garamond" panose="02020404030301010803" pitchFamily="18" charset="0"/>
            </a:endParaRPr>
          </a:p>
          <a:p>
            <a:pPr marL="0" indent="0">
              <a:buNone/>
            </a:pPr>
            <a:endParaRPr lang="en-US" sz="3000" dirty="0">
              <a:solidFill>
                <a:srgbClr val="002060"/>
              </a:solidFill>
              <a:latin typeface="Garamond" panose="02020404030301010803" pitchFamily="18" charset="0"/>
            </a:endParaRPr>
          </a:p>
        </p:txBody>
      </p:sp>
    </p:spTree>
    <p:extLst>
      <p:ext uri="{BB962C8B-B14F-4D97-AF65-F5344CB8AC3E}">
        <p14:creationId xmlns:p14="http://schemas.microsoft.com/office/powerpoint/2010/main" val="2478550182"/>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p:txBody>
          <a:bodyPr>
            <a:normAutofit/>
          </a:bodyPr>
          <a:lstStyle/>
          <a:p>
            <a:r>
              <a:rPr lang="en-US" sz="4000" b="1" dirty="0">
                <a:solidFill>
                  <a:srgbClr val="002060"/>
                </a:solidFill>
                <a:latin typeface="Garamond" panose="02020404030301010803" pitchFamily="18" charset="0"/>
              </a:rPr>
              <a:t>Christian Ethical Foundations</a:t>
            </a:r>
            <a:endParaRPr lang="en-GB" sz="4000" dirty="0">
              <a:solidFill>
                <a:srgbClr val="002060"/>
              </a:solidFill>
              <a:latin typeface="Garamond" panose="020204040303010108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262743" y="1484671"/>
            <a:ext cx="10589951" cy="4382729"/>
          </a:xfrm>
        </p:spPr>
        <p:txBody>
          <a:bodyPr>
            <a:noAutofit/>
          </a:bodyPr>
          <a:lstStyle/>
          <a:p>
            <a:r>
              <a:rPr lang="en-US" sz="2400" dirty="0">
                <a:solidFill>
                  <a:srgbClr val="002060"/>
                </a:solidFill>
                <a:latin typeface="Garamond" panose="02020404030301010803" pitchFamily="18" charset="0"/>
              </a:rPr>
              <a:t>The most frequently used word for love in the New Testament is </a:t>
            </a:r>
            <a:r>
              <a:rPr lang="en-US" sz="2400" i="1" dirty="0">
                <a:solidFill>
                  <a:srgbClr val="002060"/>
                </a:solidFill>
                <a:latin typeface="Garamond" panose="02020404030301010803" pitchFamily="18" charset="0"/>
              </a:rPr>
              <a:t>agape. </a:t>
            </a:r>
            <a:r>
              <a:rPr lang="en-US" sz="2400" dirty="0">
                <a:solidFill>
                  <a:srgbClr val="002060"/>
                </a:solidFill>
                <a:latin typeface="Garamond" panose="02020404030301010803" pitchFamily="18" charset="0"/>
              </a:rPr>
              <a:t> Agape love is an unselfish love that is based upon principle and therefore spontaneous and not motivated by any value or benefit. Christians are to love others despite disappointment and rejection from others. </a:t>
            </a:r>
            <a:endParaRPr lang="en-GB" sz="2400" dirty="0">
              <a:solidFill>
                <a:srgbClr val="002060"/>
              </a:solidFill>
              <a:latin typeface="Garamond" panose="02020404030301010803" pitchFamily="18" charset="0"/>
            </a:endParaRPr>
          </a:p>
          <a:p>
            <a:r>
              <a:rPr lang="en-US" sz="2400" dirty="0">
                <a:solidFill>
                  <a:srgbClr val="002060"/>
                </a:solidFill>
                <a:latin typeface="Garamond" panose="02020404030301010803" pitchFamily="18" charset="0"/>
              </a:rPr>
              <a:t>We can equally define love as equal regard. Love means we value all people equally, regardless of their situation or circumstances or race.</a:t>
            </a:r>
            <a:endParaRPr lang="en-GB" sz="2400" dirty="0">
              <a:solidFill>
                <a:srgbClr val="002060"/>
              </a:solidFill>
              <a:latin typeface="Garamond" panose="02020404030301010803" pitchFamily="18" charset="0"/>
            </a:endParaRPr>
          </a:p>
          <a:p>
            <a:r>
              <a:rPr lang="en-US" sz="2400" dirty="0">
                <a:solidFill>
                  <a:srgbClr val="002060"/>
                </a:solidFill>
                <a:latin typeface="Garamond" panose="02020404030301010803" pitchFamily="18" charset="0"/>
              </a:rPr>
              <a:t>The agape love we are to have for each other also applies to other moral foundations such as justice. Justice is based upon equal rights and responsibilities for each person.</a:t>
            </a:r>
            <a:endParaRPr lang="en-GB" sz="2400" dirty="0">
              <a:solidFill>
                <a:srgbClr val="002060"/>
              </a:solidFill>
              <a:latin typeface="Garamond" panose="02020404030301010803" pitchFamily="18" charset="0"/>
            </a:endParaRPr>
          </a:p>
          <a:p>
            <a:r>
              <a:rPr lang="en-US" sz="2400" dirty="0">
                <a:solidFill>
                  <a:srgbClr val="002060"/>
                </a:solidFill>
                <a:latin typeface="Garamond" panose="02020404030301010803" pitchFamily="18" charset="0"/>
              </a:rPr>
              <a:t>Jesus also demonstrated </a:t>
            </a:r>
            <a:r>
              <a:rPr lang="en-US" sz="2400" dirty="0" err="1">
                <a:solidFill>
                  <a:srgbClr val="002060"/>
                </a:solidFill>
                <a:latin typeface="Garamond" panose="02020404030301010803" pitchFamily="18" charset="0"/>
              </a:rPr>
              <a:t>Hesed</a:t>
            </a:r>
            <a:r>
              <a:rPr lang="en-US" sz="2400" dirty="0">
                <a:solidFill>
                  <a:srgbClr val="002060"/>
                </a:solidFill>
                <a:latin typeface="Garamond" panose="02020404030301010803" pitchFamily="18" charset="0"/>
              </a:rPr>
              <a:t> love in His care for others and in His call for Christians to demonstrate love for others. He taught that the kingdom of God offered good news to </a:t>
            </a:r>
            <a:r>
              <a:rPr lang="en-US" sz="2400" dirty="0" err="1">
                <a:solidFill>
                  <a:srgbClr val="002060"/>
                </a:solidFill>
                <a:latin typeface="Garamond" panose="02020404030301010803" pitchFamily="18" charset="0"/>
              </a:rPr>
              <a:t>to</a:t>
            </a:r>
            <a:r>
              <a:rPr lang="en-US" sz="2400" dirty="0">
                <a:solidFill>
                  <a:srgbClr val="002060"/>
                </a:solidFill>
                <a:latin typeface="Garamond" panose="02020404030301010803" pitchFamily="18" charset="0"/>
              </a:rPr>
              <a:t> the poor and freedom to the oppressed, while providing sight to the blind and hearing to the deaf (Matt. 11:2-5; Luke 4:18).</a:t>
            </a:r>
            <a:endParaRPr lang="en-GB" sz="2400" dirty="0">
              <a:solidFill>
                <a:srgbClr val="002060"/>
              </a:solidFill>
              <a:latin typeface="Garamond" panose="02020404030301010803" pitchFamily="18" charset="0"/>
            </a:endParaRPr>
          </a:p>
          <a:p>
            <a:pPr marL="0" indent="0">
              <a:buNone/>
            </a:pPr>
            <a:endParaRPr lang="en-US" dirty="0">
              <a:solidFill>
                <a:srgbClr val="002060"/>
              </a:solidFill>
              <a:latin typeface="Garamond" panose="02020404030301010803" pitchFamily="18" charset="0"/>
            </a:endParaRPr>
          </a:p>
        </p:txBody>
      </p:sp>
    </p:spTree>
    <p:extLst>
      <p:ext uri="{BB962C8B-B14F-4D97-AF65-F5344CB8AC3E}">
        <p14:creationId xmlns:p14="http://schemas.microsoft.com/office/powerpoint/2010/main" val="1378020637"/>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p:txBody>
          <a:bodyPr/>
          <a:lstStyle/>
          <a:p>
            <a:r>
              <a:rPr lang="en-US" b="1" dirty="0">
                <a:solidFill>
                  <a:srgbClr val="002060"/>
                </a:solidFill>
                <a:latin typeface="Garamond" panose="02020404030301010803" pitchFamily="18" charset="0"/>
              </a:rPr>
              <a:t>Christian Ethical Foundations</a:t>
            </a:r>
            <a:endParaRPr lang="en-GB" dirty="0">
              <a:solidFill>
                <a:srgbClr val="002060"/>
              </a:solidFill>
              <a:latin typeface="Garamond" panose="020204040303010108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42571" y="1325014"/>
            <a:ext cx="10481094" cy="4382729"/>
          </a:xfrm>
        </p:spPr>
        <p:txBody>
          <a:bodyPr>
            <a:noAutofit/>
          </a:bodyPr>
          <a:lstStyle/>
          <a:p>
            <a:pPr marL="0" indent="0">
              <a:buNone/>
            </a:pPr>
            <a:r>
              <a:rPr lang="en-US" sz="2600" b="1" dirty="0">
                <a:solidFill>
                  <a:srgbClr val="002060"/>
                </a:solidFill>
                <a:latin typeface="Garamond" panose="02020404030301010803" pitchFamily="18" charset="0"/>
              </a:rPr>
              <a:t>2. Justice</a:t>
            </a:r>
            <a:endParaRPr lang="en-GB" sz="2600" dirty="0">
              <a:solidFill>
                <a:srgbClr val="002060"/>
              </a:solidFill>
              <a:latin typeface="Garamond" panose="02020404030301010803" pitchFamily="18" charset="0"/>
            </a:endParaRPr>
          </a:p>
          <a:p>
            <a:pPr lvl="1"/>
            <a:r>
              <a:rPr lang="en-US" sz="2600" i="0" dirty="0">
                <a:solidFill>
                  <a:srgbClr val="002060"/>
                </a:solidFill>
                <a:latin typeface="Garamond" panose="02020404030301010803" pitchFamily="18" charset="0"/>
              </a:rPr>
              <a:t>This is another biblical moral foundation. Though it may not readily apparent because some words for justice are often translated as “righteousness” and “judgment”</a:t>
            </a:r>
            <a:endParaRPr lang="en-GB" sz="2600" i="0" dirty="0">
              <a:solidFill>
                <a:srgbClr val="002060"/>
              </a:solidFill>
              <a:latin typeface="Garamond" panose="02020404030301010803" pitchFamily="18" charset="0"/>
            </a:endParaRPr>
          </a:p>
          <a:p>
            <a:pPr lvl="1"/>
            <a:r>
              <a:rPr lang="en-US" sz="2600" i="0" dirty="0">
                <a:solidFill>
                  <a:srgbClr val="002060"/>
                </a:solidFill>
                <a:latin typeface="Garamond" panose="02020404030301010803" pitchFamily="18" charset="0"/>
              </a:rPr>
              <a:t>Justice is the standard by which privileges and penalties are distributed within a society. It is the standard by which God measures human actions and attitudes, being one of the chief attribute of God; therefore, human beings created in God’s image must also do justly (Gen. 18:19).</a:t>
            </a:r>
            <a:endParaRPr lang="en-GB" sz="2600" i="0" dirty="0">
              <a:solidFill>
                <a:srgbClr val="002060"/>
              </a:solidFill>
              <a:latin typeface="Garamond" panose="02020404030301010803" pitchFamily="18" charset="0"/>
            </a:endParaRPr>
          </a:p>
          <a:p>
            <a:pPr lvl="1"/>
            <a:r>
              <a:rPr lang="en-US" sz="2600" i="0" dirty="0">
                <a:solidFill>
                  <a:srgbClr val="002060"/>
                </a:solidFill>
                <a:latin typeface="Garamond" panose="02020404030301010803" pitchFamily="18" charset="0"/>
              </a:rPr>
              <a:t>God is the defender of the poor and the oppressed (Jer. 22:15-16; Ps. 10:17-18). Likewise, God’s special regard for the poor and weak in society must characterize His people. The Bible focuses specifically on the poor, the widowed, the fatherless, slaves, resident aliens and wage earners and those with disabilities (Job. 29:12-17; Ps. 146:7-9; Mal. 3:5)</a:t>
            </a:r>
            <a:endParaRPr lang="en-GB" sz="2600" i="0" dirty="0">
              <a:solidFill>
                <a:srgbClr val="002060"/>
              </a:solidFill>
              <a:latin typeface="Garamond" panose="02020404030301010803" pitchFamily="18" charset="0"/>
            </a:endParaRPr>
          </a:p>
          <a:p>
            <a:pPr marL="0" indent="0">
              <a:buNone/>
            </a:pPr>
            <a:endParaRPr lang="en-US" sz="2600" dirty="0">
              <a:solidFill>
                <a:srgbClr val="002060"/>
              </a:solidFill>
              <a:latin typeface="Garamond" panose="02020404030301010803" pitchFamily="18" charset="0"/>
            </a:endParaRPr>
          </a:p>
        </p:txBody>
      </p:sp>
    </p:spTree>
    <p:extLst>
      <p:ext uri="{BB962C8B-B14F-4D97-AF65-F5344CB8AC3E}">
        <p14:creationId xmlns:p14="http://schemas.microsoft.com/office/powerpoint/2010/main" val="1094836849"/>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p:txBody>
          <a:bodyPr/>
          <a:lstStyle/>
          <a:p>
            <a:r>
              <a:rPr lang="en-US" b="1" dirty="0">
                <a:solidFill>
                  <a:srgbClr val="002060"/>
                </a:solidFill>
                <a:latin typeface="Garamond" panose="02020404030301010803" pitchFamily="18" charset="0"/>
              </a:rPr>
              <a:t>Christian Ethical Foundations</a:t>
            </a:r>
            <a:endParaRPr lang="en-GB" dirty="0">
              <a:solidFill>
                <a:srgbClr val="002060"/>
              </a:solidFill>
              <a:latin typeface="Garamond" panose="020204040303010108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484671"/>
            <a:ext cx="10481095" cy="4382729"/>
          </a:xfrm>
        </p:spPr>
        <p:txBody>
          <a:bodyPr>
            <a:normAutofit lnSpcReduction="10000"/>
          </a:bodyPr>
          <a:lstStyle/>
          <a:p>
            <a:pPr marL="0" indent="0">
              <a:buNone/>
            </a:pPr>
            <a:r>
              <a:rPr lang="en-US" b="1" dirty="0">
                <a:solidFill>
                  <a:srgbClr val="002060"/>
                </a:solidFill>
                <a:latin typeface="Garamond" panose="02020404030301010803" pitchFamily="18" charset="0"/>
              </a:rPr>
              <a:t>3. Honesty </a:t>
            </a:r>
            <a:endParaRPr lang="en-GB" dirty="0">
              <a:solidFill>
                <a:srgbClr val="002060"/>
              </a:solidFill>
              <a:latin typeface="Garamond" panose="02020404030301010803" pitchFamily="18" charset="0"/>
            </a:endParaRPr>
          </a:p>
          <a:p>
            <a:pPr lvl="1"/>
            <a:r>
              <a:rPr lang="en-US" i="0" dirty="0">
                <a:solidFill>
                  <a:srgbClr val="002060"/>
                </a:solidFill>
                <a:latin typeface="Garamond" panose="02020404030301010803" pitchFamily="18" charset="0"/>
              </a:rPr>
              <a:t>Honesty, another Christian moral foundation includes being honest in our dealings with others and being honest and truthful in what we say. </a:t>
            </a:r>
            <a:endParaRPr lang="en-GB" i="0" dirty="0">
              <a:solidFill>
                <a:srgbClr val="002060"/>
              </a:solidFill>
              <a:latin typeface="Garamond" panose="02020404030301010803" pitchFamily="18" charset="0"/>
            </a:endParaRPr>
          </a:p>
          <a:p>
            <a:pPr lvl="1"/>
            <a:r>
              <a:rPr lang="en-US" i="0" dirty="0">
                <a:solidFill>
                  <a:srgbClr val="002060"/>
                </a:solidFill>
                <a:latin typeface="Garamond" panose="02020404030301010803" pitchFamily="18" charset="0"/>
              </a:rPr>
              <a:t>In the OT, there is the urgent call on people to deal honestly with one another (Lev. 19:35 says, “Do not use dishonest standards when measuring length, weight or quantity.” Likewise Proverbs 11:1 says “The lord abhors dishonest scales” believers are to use honest scales and are to deal honestly with others. A righteous person does not “accept a bribe against the innocent” (Ps. 15:5). Isaiah (5:23) pronounces judgment on those who acquit the guilty for a bribe, but deny justice to the innocent.</a:t>
            </a:r>
            <a:endParaRPr lang="en-GB" i="0" dirty="0">
              <a:solidFill>
                <a:srgbClr val="002060"/>
              </a:solidFill>
              <a:latin typeface="Garamond" panose="02020404030301010803" pitchFamily="18" charset="0"/>
            </a:endParaRPr>
          </a:p>
          <a:p>
            <a:pPr lvl="1"/>
            <a:r>
              <a:rPr lang="en-US" i="0" dirty="0">
                <a:solidFill>
                  <a:srgbClr val="002060"/>
                </a:solidFill>
                <a:latin typeface="Garamond" panose="02020404030301010803" pitchFamily="18" charset="0"/>
              </a:rPr>
              <a:t>The New Testament admonishes Christians to have “good conscience” and to act “honorably” in all circumstances (Heb. 13:18). Paul said he always attempted to have good conscience toward God and before men (Acts 24:16). </a:t>
            </a:r>
            <a:endParaRPr lang="en-GB" i="0" dirty="0">
              <a:solidFill>
                <a:srgbClr val="002060"/>
              </a:solidFill>
              <a:latin typeface="Garamond" panose="02020404030301010803" pitchFamily="18" charset="0"/>
            </a:endParaRPr>
          </a:p>
          <a:p>
            <a:pPr marL="0" indent="0">
              <a:buNone/>
            </a:pPr>
            <a:endParaRPr lang="en-US" sz="3000" dirty="0">
              <a:solidFill>
                <a:srgbClr val="002060"/>
              </a:solidFill>
              <a:latin typeface="Garamond" panose="02020404030301010803" pitchFamily="18" charset="0"/>
            </a:endParaRPr>
          </a:p>
        </p:txBody>
      </p:sp>
    </p:spTree>
    <p:extLst>
      <p:ext uri="{BB962C8B-B14F-4D97-AF65-F5344CB8AC3E}">
        <p14:creationId xmlns:p14="http://schemas.microsoft.com/office/powerpoint/2010/main" val="1229648550"/>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p:txBody>
          <a:bodyPr/>
          <a:lstStyle/>
          <a:p>
            <a:r>
              <a:rPr lang="en-US" b="1" dirty="0">
                <a:solidFill>
                  <a:srgbClr val="002060"/>
                </a:solidFill>
                <a:latin typeface="Garamond" panose="02020404030301010803" pitchFamily="18" charset="0"/>
              </a:rPr>
              <a:t>Characteristics of Christian Ethics</a:t>
            </a:r>
            <a:r>
              <a:rPr lang="en-GB" dirty="0">
                <a:solidFill>
                  <a:srgbClr val="002060"/>
                </a:solidFill>
                <a:latin typeface="Garamond" panose="02020404030301010803" pitchFamily="18" charset="0"/>
              </a:rPr>
              <a:t/>
            </a:r>
            <a:br>
              <a:rPr lang="en-GB" dirty="0">
                <a:solidFill>
                  <a:srgbClr val="002060"/>
                </a:solidFill>
                <a:latin typeface="Garamond" panose="02020404030301010803" pitchFamily="18" charset="0"/>
              </a:rPr>
            </a:br>
            <a:endParaRPr lang="en-US" dirty="0">
              <a:solidFill>
                <a:srgbClr val="002060"/>
              </a:solidFill>
              <a:latin typeface="Garamond" panose="020204040303010108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484671"/>
            <a:ext cx="10481095" cy="4382729"/>
          </a:xfrm>
        </p:spPr>
        <p:txBody>
          <a:bodyPr/>
          <a:lstStyle/>
          <a:p>
            <a:pPr marL="0" indent="0">
              <a:buNone/>
            </a:pPr>
            <a:r>
              <a:rPr lang="en-US" b="1" dirty="0">
                <a:solidFill>
                  <a:srgbClr val="002060"/>
                </a:solidFill>
                <a:latin typeface="Garamond" panose="02020404030301010803" pitchFamily="18" charset="0"/>
              </a:rPr>
              <a:t>4. Integrity </a:t>
            </a:r>
            <a:endParaRPr lang="en-GB" dirty="0">
              <a:solidFill>
                <a:srgbClr val="002060"/>
              </a:solidFill>
              <a:latin typeface="Garamond" panose="02020404030301010803" pitchFamily="18" charset="0"/>
            </a:endParaRPr>
          </a:p>
          <a:p>
            <a:pPr lvl="1"/>
            <a:r>
              <a:rPr lang="en-US" i="0" dirty="0">
                <a:solidFill>
                  <a:srgbClr val="002060"/>
                </a:solidFill>
                <a:latin typeface="Garamond" panose="02020404030301010803" pitchFamily="18" charset="0"/>
              </a:rPr>
              <a:t>Integrity is a character quality that we often talk about but do not see quite as regularly in the lives of public officials or even in the lives of the people with whom we live and work. The word integrity come from the same Latin root as integer and implies a wholeness of person. Just as we would talk about a whole number, so also we would talk about a whole person who is undivided</a:t>
            </a:r>
            <a:endParaRPr lang="en-GB" i="0" dirty="0">
              <a:solidFill>
                <a:srgbClr val="002060"/>
              </a:solidFill>
              <a:latin typeface="Garamond" panose="02020404030301010803" pitchFamily="18" charset="0"/>
            </a:endParaRPr>
          </a:p>
          <a:p>
            <a:pPr lvl="1"/>
            <a:r>
              <a:rPr lang="en-US" i="0" dirty="0">
                <a:solidFill>
                  <a:srgbClr val="002060"/>
                </a:solidFill>
                <a:latin typeface="Garamond" panose="02020404030301010803" pitchFamily="18" charset="0"/>
              </a:rPr>
              <a:t>In the Sermon on the Mount, Jesus talked about those were “pure in heart” (Matt. 5:8) implying an undividedness in following God’s commands. Integrity therefore does not only imply undividedness, but a moral purity as well.</a:t>
            </a:r>
            <a:endParaRPr lang="en-GB" i="0" dirty="0">
              <a:solidFill>
                <a:srgbClr val="002060"/>
              </a:solidFill>
              <a:latin typeface="Garamond" panose="02020404030301010803" pitchFamily="18" charset="0"/>
            </a:endParaRPr>
          </a:p>
          <a:p>
            <a:pPr lvl="1"/>
            <a:r>
              <a:rPr lang="en-US" i="0" dirty="0">
                <a:solidFill>
                  <a:srgbClr val="002060"/>
                </a:solidFill>
                <a:latin typeface="Garamond" panose="02020404030301010803" pitchFamily="18" charset="0"/>
              </a:rPr>
              <a:t>Numerous examples of lives of integrity, good character, and moral purity can be found in the Bible. 1 Kings 9:4 – Solomon, 1 Chron. 29:17 – David etc.</a:t>
            </a:r>
            <a:endParaRPr lang="en-GB" i="0" dirty="0">
              <a:solidFill>
                <a:srgbClr val="002060"/>
              </a:solidFill>
              <a:latin typeface="Garamond" panose="02020404030301010803" pitchFamily="18" charset="0"/>
            </a:endParaRPr>
          </a:p>
        </p:txBody>
      </p:sp>
    </p:spTree>
    <p:extLst>
      <p:ext uri="{BB962C8B-B14F-4D97-AF65-F5344CB8AC3E}">
        <p14:creationId xmlns:p14="http://schemas.microsoft.com/office/powerpoint/2010/main" val="273998858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685800"/>
            <a:ext cx="10084279" cy="720213"/>
          </a:xfrm>
        </p:spPr>
        <p:txBody>
          <a:bodyPr>
            <a:normAutofit fontScale="90000"/>
          </a:bodyPr>
          <a:lstStyle/>
          <a:p>
            <a:r>
              <a:rPr lang="en-US" b="1" dirty="0">
                <a:solidFill>
                  <a:srgbClr val="002060"/>
                </a:solidFill>
                <a:latin typeface="Garamond" panose="02020404030301010803" pitchFamily="18" charset="0"/>
              </a:rPr>
              <a:t>Parameters of Christian Moral Conduct</a:t>
            </a:r>
            <a:r>
              <a:rPr lang="en-GB" b="1" dirty="0">
                <a:solidFill>
                  <a:srgbClr val="002060"/>
                </a:solidFill>
                <a:latin typeface="Garamond" panose="02020404030301010803" pitchFamily="18" charset="0"/>
              </a:rPr>
              <a:t/>
            </a:r>
            <a:br>
              <a:rPr lang="en-GB" b="1" dirty="0">
                <a:solidFill>
                  <a:srgbClr val="002060"/>
                </a:solidFill>
                <a:latin typeface="Garamond" panose="02020404030301010803" pitchFamily="18" charset="0"/>
              </a:rPr>
            </a:br>
            <a:endParaRPr lang="en-US" b="1" dirty="0">
              <a:solidFill>
                <a:srgbClr val="002060"/>
              </a:solidFill>
              <a:latin typeface="Garamond" panose="020204040303010108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484671"/>
            <a:ext cx="10239555" cy="4382729"/>
          </a:xfrm>
        </p:spPr>
        <p:txBody>
          <a:bodyPr>
            <a:normAutofit lnSpcReduction="10000"/>
          </a:bodyPr>
          <a:lstStyle/>
          <a:p>
            <a:pPr marL="0" indent="0">
              <a:buNone/>
            </a:pPr>
            <a:r>
              <a:rPr lang="en-US" sz="3600" dirty="0">
                <a:solidFill>
                  <a:srgbClr val="002060"/>
                </a:solidFill>
                <a:latin typeface="Garamond" panose="02020404030301010803" pitchFamily="18" charset="0"/>
              </a:rPr>
              <a:t>Parameter is defined as any constant limiting factor with variable values. </a:t>
            </a:r>
          </a:p>
          <a:p>
            <a:r>
              <a:rPr lang="en-US" sz="3400" dirty="0">
                <a:solidFill>
                  <a:srgbClr val="002060"/>
                </a:solidFill>
                <a:latin typeface="Garamond" panose="02020404030301010803" pitchFamily="18" charset="0"/>
              </a:rPr>
              <a:t>The parameters in ethics are called moral values. Value is also defined philosophically as the statutes in the scale of preference. Everything that comes to our conscience is evaluated. </a:t>
            </a:r>
            <a:endParaRPr lang="en-GB" sz="3400" dirty="0">
              <a:solidFill>
                <a:srgbClr val="002060"/>
              </a:solidFill>
              <a:latin typeface="Garamond" panose="02020404030301010803" pitchFamily="18" charset="0"/>
            </a:endParaRPr>
          </a:p>
          <a:p>
            <a:r>
              <a:rPr lang="en-US" sz="3400" dirty="0">
                <a:solidFill>
                  <a:srgbClr val="002060"/>
                </a:solidFill>
                <a:latin typeface="Garamond" panose="02020404030301010803" pitchFamily="18" charset="0"/>
              </a:rPr>
              <a:t>In examining the nature of value, one will realize that there are two types of values namely; </a:t>
            </a:r>
            <a:r>
              <a:rPr lang="en-US" sz="3400" b="1" dirty="0">
                <a:solidFill>
                  <a:srgbClr val="002060"/>
                </a:solidFill>
                <a:latin typeface="Garamond" panose="02020404030301010803" pitchFamily="18" charset="0"/>
              </a:rPr>
              <a:t>intrinsic </a:t>
            </a:r>
            <a:r>
              <a:rPr lang="en-US" sz="3400" dirty="0">
                <a:solidFill>
                  <a:srgbClr val="002060"/>
                </a:solidFill>
                <a:latin typeface="Garamond" panose="02020404030301010803" pitchFamily="18" charset="0"/>
              </a:rPr>
              <a:t>and </a:t>
            </a:r>
            <a:r>
              <a:rPr lang="en-US" sz="3400" b="1" dirty="0">
                <a:solidFill>
                  <a:srgbClr val="002060"/>
                </a:solidFill>
                <a:latin typeface="Garamond" panose="02020404030301010803" pitchFamily="18" charset="0"/>
              </a:rPr>
              <a:t>extrinsic </a:t>
            </a:r>
            <a:r>
              <a:rPr lang="en-US" sz="3400" dirty="0">
                <a:solidFill>
                  <a:srgbClr val="002060"/>
                </a:solidFill>
                <a:latin typeface="Garamond" panose="02020404030301010803" pitchFamily="18" charset="0"/>
              </a:rPr>
              <a:t>values.</a:t>
            </a:r>
            <a:endParaRPr lang="en-GB" sz="3400" dirty="0">
              <a:solidFill>
                <a:srgbClr val="002060"/>
              </a:solidFill>
              <a:latin typeface="Garamond" panose="02020404030301010803" pitchFamily="18" charset="0"/>
            </a:endParaRPr>
          </a:p>
          <a:p>
            <a:pPr marL="0" indent="0">
              <a:buNone/>
            </a:pPr>
            <a:endParaRPr lang="en-GB" sz="5400" dirty="0">
              <a:solidFill>
                <a:srgbClr val="002060"/>
              </a:solidFill>
              <a:latin typeface="Garamond" panose="02020404030301010803" pitchFamily="18" charset="0"/>
            </a:endParaRPr>
          </a:p>
        </p:txBody>
      </p:sp>
    </p:spTree>
    <p:extLst>
      <p:ext uri="{BB962C8B-B14F-4D97-AF65-F5344CB8AC3E}">
        <p14:creationId xmlns:p14="http://schemas.microsoft.com/office/powerpoint/2010/main" val="420984598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685800"/>
            <a:ext cx="10084279" cy="720213"/>
          </a:xfrm>
        </p:spPr>
        <p:txBody>
          <a:bodyPr>
            <a:normAutofit fontScale="90000"/>
          </a:bodyPr>
          <a:lstStyle/>
          <a:p>
            <a:r>
              <a:rPr lang="en-US" b="1" dirty="0">
                <a:solidFill>
                  <a:srgbClr val="002060"/>
                </a:solidFill>
                <a:latin typeface="Garamond" panose="02020404030301010803" pitchFamily="18" charset="0"/>
              </a:rPr>
              <a:t>Parameters of Christian Moral Conduct</a:t>
            </a:r>
            <a:r>
              <a:rPr lang="en-GB" dirty="0">
                <a:solidFill>
                  <a:srgbClr val="002060"/>
                </a:solidFill>
                <a:latin typeface="Garamond" panose="02020404030301010803" pitchFamily="18" charset="0"/>
              </a:rPr>
              <a:t/>
            </a:r>
            <a:br>
              <a:rPr lang="en-GB" dirty="0">
                <a:solidFill>
                  <a:srgbClr val="002060"/>
                </a:solidFill>
                <a:latin typeface="Garamond" panose="02020404030301010803" pitchFamily="18" charset="0"/>
              </a:rPr>
            </a:br>
            <a:endParaRPr lang="en-US" dirty="0">
              <a:solidFill>
                <a:srgbClr val="002060"/>
              </a:solidFill>
              <a:latin typeface="Garamond" panose="020204040303010108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484671"/>
            <a:ext cx="10239555" cy="4382729"/>
          </a:xfrm>
        </p:spPr>
        <p:txBody>
          <a:bodyPr>
            <a:normAutofit lnSpcReduction="10000"/>
          </a:bodyPr>
          <a:lstStyle/>
          <a:p>
            <a:pPr marL="0" indent="0">
              <a:buNone/>
            </a:pPr>
            <a:r>
              <a:rPr lang="en-US" sz="3600" b="1" dirty="0">
                <a:solidFill>
                  <a:srgbClr val="002060"/>
                </a:solidFill>
                <a:latin typeface="Garamond" panose="02020404030301010803" pitchFamily="18" charset="0"/>
              </a:rPr>
              <a:t>Intrinsic values </a:t>
            </a:r>
          </a:p>
          <a:p>
            <a:r>
              <a:rPr lang="en-US" sz="2800" dirty="0">
                <a:solidFill>
                  <a:srgbClr val="002060"/>
                </a:solidFill>
                <a:latin typeface="Garamond" panose="02020404030301010803" pitchFamily="18" charset="0"/>
              </a:rPr>
              <a:t>These are things that inherently or essentially are of value in and of themselves. They do not need external pressure to be what they are. Human Beings are of intrinsic value. Human life is intrinsic because there is the image of God in man. Pleasure, health and knowledge are often said to be intrinsic goods because they seem (typically) to be ends in themselves and not tools for obtaining some higher goods. </a:t>
            </a:r>
          </a:p>
          <a:p>
            <a:r>
              <a:rPr lang="en-US" sz="2800" dirty="0">
                <a:solidFill>
                  <a:srgbClr val="002060"/>
                </a:solidFill>
                <a:latin typeface="Garamond" panose="02020404030301010803" pitchFamily="18" charset="0"/>
              </a:rPr>
              <a:t>In ethics, “intrinsic” is used in reference to goodness or value to distinguish instrumentally good things (things which are good only because they are needed in order to obtain other good things) from things which are good in themselves.</a:t>
            </a:r>
            <a:endParaRPr lang="en-GB" sz="2800" dirty="0">
              <a:solidFill>
                <a:srgbClr val="002060"/>
              </a:solidFill>
              <a:latin typeface="Garamond" panose="02020404030301010803" pitchFamily="18" charset="0"/>
            </a:endParaRPr>
          </a:p>
          <a:p>
            <a:pPr marL="0" indent="0">
              <a:buNone/>
            </a:pPr>
            <a:endParaRPr lang="en-GB" sz="4400" dirty="0">
              <a:solidFill>
                <a:srgbClr val="002060"/>
              </a:solidFill>
              <a:latin typeface="Garamond" panose="02020404030301010803" pitchFamily="18" charset="0"/>
            </a:endParaRPr>
          </a:p>
        </p:txBody>
      </p:sp>
    </p:spTree>
    <p:extLst>
      <p:ext uri="{BB962C8B-B14F-4D97-AF65-F5344CB8AC3E}">
        <p14:creationId xmlns:p14="http://schemas.microsoft.com/office/powerpoint/2010/main" val="38384190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685800"/>
            <a:ext cx="10084279" cy="720213"/>
          </a:xfrm>
        </p:spPr>
        <p:txBody>
          <a:bodyPr>
            <a:normAutofit fontScale="90000"/>
          </a:bodyPr>
          <a:lstStyle/>
          <a:p>
            <a:r>
              <a:rPr lang="en-US" b="1" dirty="0">
                <a:solidFill>
                  <a:srgbClr val="002060"/>
                </a:solidFill>
                <a:latin typeface="Garamond" panose="02020404030301010803" pitchFamily="18" charset="0"/>
              </a:rPr>
              <a:t>Parameters of Christian Moral Conduct</a:t>
            </a:r>
            <a:r>
              <a:rPr lang="en-GB" dirty="0">
                <a:solidFill>
                  <a:srgbClr val="002060"/>
                </a:solidFill>
                <a:latin typeface="Garamond" panose="02020404030301010803" pitchFamily="18" charset="0"/>
              </a:rPr>
              <a:t/>
            </a:r>
            <a:br>
              <a:rPr lang="en-GB" dirty="0">
                <a:solidFill>
                  <a:srgbClr val="002060"/>
                </a:solidFill>
                <a:latin typeface="Garamond" panose="02020404030301010803" pitchFamily="18" charset="0"/>
              </a:rPr>
            </a:br>
            <a:endParaRPr lang="en-US" dirty="0">
              <a:solidFill>
                <a:srgbClr val="002060"/>
              </a:solidFill>
              <a:latin typeface="Garamond" panose="020204040303010108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484671"/>
            <a:ext cx="10239555" cy="4382729"/>
          </a:xfrm>
        </p:spPr>
        <p:txBody>
          <a:bodyPr/>
          <a:lstStyle/>
          <a:p>
            <a:pPr marL="0" indent="0">
              <a:buNone/>
            </a:pPr>
            <a:r>
              <a:rPr lang="en-US" sz="4000" b="1" dirty="0">
                <a:solidFill>
                  <a:srgbClr val="002060"/>
                </a:solidFill>
                <a:latin typeface="Garamond" panose="02020404030301010803" pitchFamily="18" charset="0"/>
              </a:rPr>
              <a:t>Extrinsic values </a:t>
            </a:r>
          </a:p>
          <a:p>
            <a:pPr lvl="1"/>
            <a:r>
              <a:rPr lang="en-US" sz="4000" i="0" dirty="0">
                <a:solidFill>
                  <a:srgbClr val="002060"/>
                </a:solidFill>
                <a:latin typeface="Garamond" panose="02020404030301010803" pitchFamily="18" charset="0"/>
              </a:rPr>
              <a:t>These are accessory, not belonging, not intrinsic. These are values which we place on things. </a:t>
            </a:r>
          </a:p>
          <a:p>
            <a:pPr lvl="1"/>
            <a:r>
              <a:rPr lang="en-US" sz="4000" i="0" dirty="0">
                <a:solidFill>
                  <a:srgbClr val="002060"/>
                </a:solidFill>
                <a:latin typeface="Garamond" panose="02020404030301010803" pitchFamily="18" charset="0"/>
              </a:rPr>
              <a:t>Values which on themselves will amount to nothing but we place value on them. </a:t>
            </a:r>
          </a:p>
          <a:p>
            <a:pPr lvl="1"/>
            <a:r>
              <a:rPr lang="en-US" sz="4000" i="0" dirty="0">
                <a:solidFill>
                  <a:srgbClr val="002060"/>
                </a:solidFill>
                <a:latin typeface="Garamond" panose="02020404030301010803" pitchFamily="18" charset="0"/>
              </a:rPr>
              <a:t>They are sometimes called symbolic values.</a:t>
            </a:r>
            <a:endParaRPr lang="en-GB" sz="4000" i="0" dirty="0">
              <a:solidFill>
                <a:srgbClr val="002060"/>
              </a:solidFill>
              <a:latin typeface="Garamond" panose="02020404030301010803" pitchFamily="18" charset="0"/>
            </a:endParaRPr>
          </a:p>
          <a:p>
            <a:pPr marL="0" indent="0">
              <a:buNone/>
            </a:pPr>
            <a:endParaRPr lang="en-GB" sz="6000" dirty="0">
              <a:solidFill>
                <a:srgbClr val="002060"/>
              </a:solidFill>
              <a:latin typeface="Garamond" panose="02020404030301010803" pitchFamily="18" charset="0"/>
            </a:endParaRPr>
          </a:p>
        </p:txBody>
      </p:sp>
    </p:spTree>
    <p:extLst>
      <p:ext uri="{BB962C8B-B14F-4D97-AF65-F5344CB8AC3E}">
        <p14:creationId xmlns:p14="http://schemas.microsoft.com/office/powerpoint/2010/main" val="152247939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685800"/>
            <a:ext cx="10084279" cy="720213"/>
          </a:xfrm>
        </p:spPr>
        <p:txBody>
          <a:bodyPr>
            <a:normAutofit fontScale="90000"/>
          </a:bodyPr>
          <a:lstStyle/>
          <a:p>
            <a:r>
              <a:rPr lang="en-US" b="1" dirty="0">
                <a:solidFill>
                  <a:srgbClr val="002060"/>
                </a:solidFill>
                <a:latin typeface="Garamond" panose="02020404030301010803" pitchFamily="18" charset="0"/>
              </a:rPr>
              <a:t>Parameters of Christian Moral Conduct</a:t>
            </a:r>
            <a:r>
              <a:rPr lang="en-GB" dirty="0">
                <a:solidFill>
                  <a:srgbClr val="002060"/>
                </a:solidFill>
                <a:latin typeface="Garamond" panose="02020404030301010803" pitchFamily="18" charset="0"/>
              </a:rPr>
              <a:t/>
            </a:r>
            <a:br>
              <a:rPr lang="en-GB" dirty="0">
                <a:solidFill>
                  <a:srgbClr val="002060"/>
                </a:solidFill>
                <a:latin typeface="Garamond" panose="02020404030301010803" pitchFamily="18" charset="0"/>
              </a:rPr>
            </a:br>
            <a:endParaRPr lang="en-US" dirty="0">
              <a:solidFill>
                <a:srgbClr val="002060"/>
              </a:solidFill>
              <a:latin typeface="Garamond" panose="020204040303010108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406013"/>
            <a:ext cx="10688129" cy="4382729"/>
          </a:xfrm>
        </p:spPr>
        <p:txBody>
          <a:bodyPr>
            <a:normAutofit lnSpcReduction="10000"/>
          </a:bodyPr>
          <a:lstStyle/>
          <a:p>
            <a:pPr marL="0" indent="0">
              <a:buNone/>
            </a:pPr>
            <a:r>
              <a:rPr lang="en-US" sz="3000" dirty="0">
                <a:solidFill>
                  <a:srgbClr val="002060"/>
                </a:solidFill>
                <a:latin typeface="Garamond" panose="02020404030301010803" pitchFamily="18" charset="0"/>
              </a:rPr>
              <a:t>In discussing the types of values, it noted that not all values are moral values. We can have economic value like money or aesthetic value like beauty or the strategic value from the point of war or in the art of war; this refers to the overall plan or the position of the army. Again, not all values are necessarily moral.</a:t>
            </a:r>
            <a:endParaRPr lang="en-GB" sz="3000" dirty="0">
              <a:solidFill>
                <a:srgbClr val="002060"/>
              </a:solidFill>
              <a:latin typeface="Garamond" panose="02020404030301010803" pitchFamily="18" charset="0"/>
            </a:endParaRPr>
          </a:p>
          <a:p>
            <a:r>
              <a:rPr lang="en-US" sz="3000" dirty="0">
                <a:solidFill>
                  <a:srgbClr val="002060"/>
                </a:solidFill>
                <a:latin typeface="Garamond" panose="02020404030301010803" pitchFamily="18" charset="0"/>
              </a:rPr>
              <a:t>Sometimes, there are attachment and confusing value. Moral values must therefore be distinguished from other values. The factors for recognizing the difference can be seen in the following ways:</a:t>
            </a:r>
            <a:endParaRPr lang="en-GB" sz="3000" dirty="0">
              <a:solidFill>
                <a:srgbClr val="002060"/>
              </a:solidFill>
              <a:latin typeface="Garamond" panose="02020404030301010803" pitchFamily="18" charset="0"/>
            </a:endParaRPr>
          </a:p>
          <a:p>
            <a:pPr lvl="0"/>
            <a:r>
              <a:rPr lang="en-US" sz="3000" dirty="0">
                <a:solidFill>
                  <a:srgbClr val="002060"/>
                </a:solidFill>
                <a:latin typeface="Garamond" panose="02020404030301010803" pitchFamily="18" charset="0"/>
              </a:rPr>
              <a:t>Moral values define traits human character. Honesty is a moral value. Kindness, peace, justice, and etc.</a:t>
            </a:r>
            <a:endParaRPr lang="en-GB" sz="3000" dirty="0">
              <a:solidFill>
                <a:srgbClr val="002060"/>
              </a:solidFill>
              <a:latin typeface="Garamond" panose="02020404030301010803" pitchFamily="18" charset="0"/>
            </a:endParaRPr>
          </a:p>
          <a:p>
            <a:pPr marL="0" indent="0">
              <a:buNone/>
            </a:pPr>
            <a:endParaRPr lang="en-GB" sz="3000" dirty="0">
              <a:solidFill>
                <a:srgbClr val="002060"/>
              </a:solidFill>
              <a:latin typeface="Garamond" panose="02020404030301010803" pitchFamily="18" charset="0"/>
            </a:endParaRPr>
          </a:p>
        </p:txBody>
      </p:sp>
    </p:spTree>
    <p:extLst>
      <p:ext uri="{BB962C8B-B14F-4D97-AF65-F5344CB8AC3E}">
        <p14:creationId xmlns:p14="http://schemas.microsoft.com/office/powerpoint/2010/main" val="11796562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685800"/>
            <a:ext cx="10084279" cy="720213"/>
          </a:xfrm>
        </p:spPr>
        <p:txBody>
          <a:bodyPr>
            <a:normAutofit fontScale="90000"/>
          </a:bodyPr>
          <a:lstStyle/>
          <a:p>
            <a:r>
              <a:rPr lang="en-US" b="1" dirty="0">
                <a:solidFill>
                  <a:srgbClr val="002060"/>
                </a:solidFill>
                <a:latin typeface="Garamond" panose="02020404030301010803" pitchFamily="18" charset="0"/>
              </a:rPr>
              <a:t>Parameters of Christian Moral Conduct</a:t>
            </a:r>
            <a:r>
              <a:rPr lang="en-GB" dirty="0">
                <a:solidFill>
                  <a:srgbClr val="002060"/>
                </a:solidFill>
                <a:latin typeface="Garamond" panose="02020404030301010803" pitchFamily="18" charset="0"/>
              </a:rPr>
              <a:t/>
            </a:r>
            <a:br>
              <a:rPr lang="en-GB" dirty="0">
                <a:solidFill>
                  <a:srgbClr val="002060"/>
                </a:solidFill>
                <a:latin typeface="Garamond" panose="02020404030301010803" pitchFamily="18" charset="0"/>
              </a:rPr>
            </a:br>
            <a:endParaRPr lang="en-US" dirty="0">
              <a:solidFill>
                <a:srgbClr val="002060"/>
              </a:solidFill>
              <a:latin typeface="Garamond" panose="020204040303010108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484671"/>
            <a:ext cx="10239555" cy="4382729"/>
          </a:xfrm>
        </p:spPr>
        <p:txBody>
          <a:bodyPr>
            <a:normAutofit lnSpcReduction="10000"/>
          </a:bodyPr>
          <a:lstStyle/>
          <a:p>
            <a:pPr lvl="0"/>
            <a:r>
              <a:rPr lang="en-US" sz="2800" dirty="0">
                <a:solidFill>
                  <a:srgbClr val="002060"/>
                </a:solidFill>
                <a:latin typeface="Garamond" panose="02020404030301010803" pitchFamily="18" charset="0"/>
              </a:rPr>
              <a:t>Moral values describes and intentions. So purity is a moral value, benevolence, nobility. Noble intensions are very important because we can be evil but noble intensions bring out valuable motive. Jesus admonishes us not to guess or judge other person’s motives.</a:t>
            </a:r>
            <a:endParaRPr lang="en-GB" sz="2800" dirty="0">
              <a:solidFill>
                <a:srgbClr val="002060"/>
              </a:solidFill>
              <a:latin typeface="Garamond" panose="02020404030301010803" pitchFamily="18" charset="0"/>
            </a:endParaRPr>
          </a:p>
          <a:p>
            <a:pPr lvl="0"/>
            <a:r>
              <a:rPr lang="en-US" sz="2800" dirty="0">
                <a:solidFill>
                  <a:srgbClr val="002060"/>
                </a:solidFill>
                <a:latin typeface="Garamond" panose="02020404030301010803" pitchFamily="18" charset="0"/>
              </a:rPr>
              <a:t>Moral values describe things that are essential and necessary for human beings, that which when neglected or not accepted will reduce human dignity or wholeness thereby making man incomplete or not whole. Dignity, life, freedom, sanctity, space, food and drinking. All these values are placed differently on scale. The Bible does not only give moral values but shows how to put them on a scale of preference – how to choose.</a:t>
            </a:r>
            <a:endParaRPr lang="en-GB" sz="2800" dirty="0">
              <a:solidFill>
                <a:srgbClr val="002060"/>
              </a:solidFill>
              <a:latin typeface="Garamond" panose="02020404030301010803" pitchFamily="18" charset="0"/>
            </a:endParaRPr>
          </a:p>
          <a:p>
            <a:pPr marL="0" indent="0">
              <a:buNone/>
            </a:pPr>
            <a:endParaRPr lang="en-GB" sz="2800" dirty="0">
              <a:solidFill>
                <a:srgbClr val="002060"/>
              </a:solidFill>
              <a:latin typeface="Garamond" panose="02020404030301010803" pitchFamily="18" charset="0"/>
            </a:endParaRPr>
          </a:p>
        </p:txBody>
      </p:sp>
    </p:spTree>
    <p:extLst>
      <p:ext uri="{BB962C8B-B14F-4D97-AF65-F5344CB8AC3E}">
        <p14:creationId xmlns:p14="http://schemas.microsoft.com/office/powerpoint/2010/main" val="370138675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242204" y="967659"/>
            <a:ext cx="9601200" cy="720213"/>
          </a:xfrm>
        </p:spPr>
        <p:txBody>
          <a:bodyPr>
            <a:noAutofit/>
          </a:bodyPr>
          <a:lstStyle/>
          <a:p>
            <a:r>
              <a:rPr lang="en-US" b="1" dirty="0">
                <a:solidFill>
                  <a:srgbClr val="002060"/>
                </a:solidFill>
                <a:latin typeface="Garamond" panose="02020404030301010803" pitchFamily="18" charset="0"/>
              </a:rPr>
              <a:t>Functions of Moral Values</a:t>
            </a:r>
            <a:r>
              <a:rPr lang="en-GB" dirty="0">
                <a:solidFill>
                  <a:srgbClr val="002060"/>
                </a:solidFill>
                <a:latin typeface="Garamond" panose="02020404030301010803" pitchFamily="18" charset="0"/>
              </a:rPr>
              <a:t/>
            </a:r>
            <a:br>
              <a:rPr lang="en-GB" dirty="0">
                <a:solidFill>
                  <a:srgbClr val="002060"/>
                </a:solidFill>
                <a:latin typeface="Garamond" panose="02020404030301010803" pitchFamily="18" charset="0"/>
              </a:rPr>
            </a:br>
            <a:r>
              <a:rPr lang="en-GB" dirty="0">
                <a:solidFill>
                  <a:srgbClr val="002060"/>
                </a:solidFill>
                <a:latin typeface="Garamond" panose="02020404030301010803" pitchFamily="18" charset="0"/>
              </a:rPr>
              <a:t/>
            </a:r>
            <a:br>
              <a:rPr lang="en-GB" dirty="0">
                <a:solidFill>
                  <a:srgbClr val="002060"/>
                </a:solidFill>
                <a:latin typeface="Garamond" panose="02020404030301010803" pitchFamily="18" charset="0"/>
              </a:rPr>
            </a:br>
            <a:endParaRPr lang="en-US" dirty="0">
              <a:solidFill>
                <a:srgbClr val="002060"/>
              </a:solidFill>
              <a:latin typeface="Garamond" panose="020204040303010108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242204" y="1136328"/>
            <a:ext cx="10239555" cy="4382729"/>
          </a:xfrm>
        </p:spPr>
        <p:txBody>
          <a:bodyPr>
            <a:noAutofit/>
          </a:bodyPr>
          <a:lstStyle/>
          <a:p>
            <a:pPr marL="0" indent="0">
              <a:buNone/>
            </a:pPr>
            <a:r>
              <a:rPr lang="en-US" sz="3200" dirty="0">
                <a:solidFill>
                  <a:srgbClr val="002060"/>
                </a:solidFill>
                <a:latin typeface="Garamond" panose="02020404030301010803" pitchFamily="18" charset="0"/>
              </a:rPr>
              <a:t>Moral values have functions. Values were created by God. Genesis 1 and 2 tells us some types. The word good expresses value. Value functions in five (5) ways.</a:t>
            </a:r>
            <a:endParaRPr lang="en-GB" sz="3200" dirty="0">
              <a:solidFill>
                <a:srgbClr val="002060"/>
              </a:solidFill>
              <a:latin typeface="Garamond" panose="02020404030301010803" pitchFamily="18" charset="0"/>
            </a:endParaRPr>
          </a:p>
          <a:p>
            <a:pPr marL="987552" lvl="1" indent="-457200">
              <a:buFont typeface="+mj-lt"/>
              <a:buAutoNum type="arabicPeriod"/>
            </a:pPr>
            <a:r>
              <a:rPr lang="en-US" sz="2800" i="0" dirty="0">
                <a:solidFill>
                  <a:srgbClr val="002060"/>
                </a:solidFill>
                <a:latin typeface="Garamond" panose="02020404030301010803" pitchFamily="18" charset="0"/>
              </a:rPr>
              <a:t>To attract and motivate human will</a:t>
            </a:r>
            <a:endParaRPr lang="en-GB" sz="2800" i="0" dirty="0">
              <a:solidFill>
                <a:srgbClr val="002060"/>
              </a:solidFill>
              <a:latin typeface="Garamond" panose="02020404030301010803" pitchFamily="18" charset="0"/>
            </a:endParaRPr>
          </a:p>
          <a:p>
            <a:pPr marL="987552" lvl="1" indent="-457200">
              <a:buFont typeface="+mj-lt"/>
              <a:buAutoNum type="arabicPeriod"/>
            </a:pPr>
            <a:r>
              <a:rPr lang="en-US" sz="2800" i="0" dirty="0">
                <a:solidFill>
                  <a:srgbClr val="002060"/>
                </a:solidFill>
                <a:latin typeface="Garamond" panose="02020404030301010803" pitchFamily="18" charset="0"/>
              </a:rPr>
              <a:t>The role of value is to indicate minimum standard. We can give in up to the essential value. If we compromise out on essential values, we are losing out on life.</a:t>
            </a:r>
            <a:endParaRPr lang="en-GB" sz="2800" i="0" dirty="0">
              <a:solidFill>
                <a:srgbClr val="002060"/>
              </a:solidFill>
              <a:latin typeface="Garamond" panose="02020404030301010803" pitchFamily="18" charset="0"/>
            </a:endParaRPr>
          </a:p>
          <a:p>
            <a:pPr marL="987552" lvl="1" indent="-457200">
              <a:buFont typeface="+mj-lt"/>
              <a:buAutoNum type="arabicPeriod"/>
            </a:pPr>
            <a:r>
              <a:rPr lang="en-US" sz="2800" i="0" dirty="0">
                <a:solidFill>
                  <a:srgbClr val="002060"/>
                </a:solidFill>
                <a:latin typeface="Garamond" panose="02020404030301010803" pitchFamily="18" charset="0"/>
              </a:rPr>
              <a:t>Values calibrate (mark, scale of measurement) norms. More value, more norm, more important value, more important norms. Proverbs 23:24</a:t>
            </a:r>
            <a:endParaRPr lang="en-GB" sz="2800" i="0" dirty="0">
              <a:solidFill>
                <a:srgbClr val="002060"/>
              </a:solidFill>
              <a:latin typeface="Garamond" panose="02020404030301010803" pitchFamily="18" charset="0"/>
            </a:endParaRPr>
          </a:p>
          <a:p>
            <a:pPr marL="987552" lvl="1" indent="-457200">
              <a:buFont typeface="+mj-lt"/>
              <a:buAutoNum type="arabicPeriod"/>
            </a:pPr>
            <a:r>
              <a:rPr lang="en-US" sz="2800" i="0" dirty="0">
                <a:solidFill>
                  <a:srgbClr val="002060"/>
                </a:solidFill>
                <a:latin typeface="Garamond" panose="02020404030301010803" pitchFamily="18" charset="0"/>
              </a:rPr>
              <a:t>The role of moral is to justify norm</a:t>
            </a:r>
            <a:endParaRPr lang="en-GB" sz="2800" i="0" dirty="0">
              <a:solidFill>
                <a:srgbClr val="002060"/>
              </a:solidFill>
              <a:latin typeface="Garamond" panose="02020404030301010803" pitchFamily="18" charset="0"/>
            </a:endParaRPr>
          </a:p>
          <a:p>
            <a:pPr marL="987552" lvl="1" indent="-457200">
              <a:buFont typeface="+mj-lt"/>
              <a:buAutoNum type="arabicPeriod"/>
            </a:pPr>
            <a:r>
              <a:rPr lang="en-US" sz="2800" i="0" dirty="0">
                <a:solidFill>
                  <a:srgbClr val="002060"/>
                </a:solidFill>
                <a:latin typeface="Garamond" panose="02020404030301010803" pitchFamily="18" charset="0"/>
              </a:rPr>
              <a:t>Values participate in guiding our moral lives. These are accomplished in three (3) ways</a:t>
            </a:r>
            <a:endParaRPr lang="en-GB" sz="2800" i="0" dirty="0">
              <a:solidFill>
                <a:srgbClr val="002060"/>
              </a:solidFill>
              <a:latin typeface="Garamond" panose="02020404030301010803" pitchFamily="18" charset="0"/>
            </a:endParaRPr>
          </a:p>
          <a:p>
            <a:pPr marL="0" indent="0">
              <a:buNone/>
            </a:pPr>
            <a:endParaRPr lang="en-GB" sz="4000" dirty="0">
              <a:solidFill>
                <a:srgbClr val="002060"/>
              </a:solidFill>
              <a:latin typeface="Garamond" panose="02020404030301010803" pitchFamily="18" charset="0"/>
            </a:endParaRPr>
          </a:p>
        </p:txBody>
      </p:sp>
    </p:spTree>
    <p:extLst>
      <p:ext uri="{BB962C8B-B14F-4D97-AF65-F5344CB8AC3E}">
        <p14:creationId xmlns:p14="http://schemas.microsoft.com/office/powerpoint/2010/main" val="315143905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8" y="717773"/>
            <a:ext cx="10239554" cy="1126420"/>
          </a:xfrm>
        </p:spPr>
        <p:txBody>
          <a:bodyPr>
            <a:normAutofit fontScale="90000"/>
          </a:bodyPr>
          <a:lstStyle/>
          <a:p>
            <a:r>
              <a:rPr lang="en-US" sz="4000" b="1" dirty="0">
                <a:solidFill>
                  <a:srgbClr val="002060"/>
                </a:solidFill>
                <a:latin typeface="Garamond" panose="02020404030301010803" pitchFamily="18" charset="0"/>
              </a:rPr>
              <a:t>Foundations of Christian Moral Conduct with Creation as Basis and Man as a Moral Being</a:t>
            </a:r>
            <a:r>
              <a:rPr lang="en-GB" sz="4000" b="1" dirty="0">
                <a:solidFill>
                  <a:srgbClr val="002060"/>
                </a:solidFill>
                <a:latin typeface="Garamond" panose="02020404030301010803" pitchFamily="18" charset="0"/>
              </a:rPr>
              <a:t/>
            </a:r>
            <a:br>
              <a:rPr lang="en-GB" sz="4000" b="1" dirty="0">
                <a:solidFill>
                  <a:srgbClr val="002060"/>
                </a:solidFill>
                <a:latin typeface="Garamond" panose="02020404030301010803" pitchFamily="18" charset="0"/>
              </a:rPr>
            </a:br>
            <a:r>
              <a:rPr lang="en-GB" sz="4000" b="1" dirty="0">
                <a:solidFill>
                  <a:srgbClr val="002060"/>
                </a:solidFill>
                <a:latin typeface="Garamond" panose="02020404030301010803" pitchFamily="18" charset="0"/>
              </a:rPr>
              <a:t/>
            </a:r>
            <a:br>
              <a:rPr lang="en-GB" sz="4000" b="1" dirty="0">
                <a:solidFill>
                  <a:srgbClr val="002060"/>
                </a:solidFill>
                <a:latin typeface="Garamond" panose="02020404030301010803" pitchFamily="18" charset="0"/>
              </a:rPr>
            </a:br>
            <a:endParaRPr lang="en-US" sz="4000" b="1" dirty="0">
              <a:solidFill>
                <a:srgbClr val="002060"/>
              </a:solidFill>
              <a:latin typeface="Garamond" panose="020204040303010108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8" y="1949128"/>
            <a:ext cx="10239555" cy="4382729"/>
          </a:xfrm>
        </p:spPr>
        <p:txBody>
          <a:bodyPr>
            <a:normAutofit lnSpcReduction="10000"/>
          </a:bodyPr>
          <a:lstStyle/>
          <a:p>
            <a:pPr marL="0" indent="0">
              <a:buNone/>
            </a:pPr>
            <a:r>
              <a:rPr lang="en-US" sz="2600" dirty="0">
                <a:solidFill>
                  <a:srgbClr val="002060"/>
                </a:solidFill>
                <a:latin typeface="Garamond" panose="02020404030301010803" pitchFamily="18" charset="0"/>
              </a:rPr>
              <a:t>Christian moral activity does not exist in a vacuum. </a:t>
            </a:r>
          </a:p>
          <a:p>
            <a:r>
              <a:rPr lang="en-US" sz="2600" dirty="0">
                <a:solidFill>
                  <a:srgbClr val="002060"/>
                </a:solidFill>
                <a:latin typeface="Garamond" panose="02020404030301010803" pitchFamily="18" charset="0"/>
              </a:rPr>
              <a:t>There is no morality without knowing and human beings and the vice versa. Good life is a fruit which has roots. Fruits must bring certain food into it. There are certain definite foundations of moral conduct. </a:t>
            </a:r>
          </a:p>
          <a:p>
            <a:r>
              <a:rPr lang="en-US" sz="2600" dirty="0">
                <a:solidFill>
                  <a:srgbClr val="002060"/>
                </a:solidFill>
                <a:latin typeface="Garamond" panose="02020404030301010803" pitchFamily="18" charset="0"/>
              </a:rPr>
              <a:t>These can be analyzed from our view of God, of man and of scripture. Our view of man is very significant in understanding his moral conduct. </a:t>
            </a:r>
          </a:p>
          <a:p>
            <a:r>
              <a:rPr lang="en-US" sz="2600" dirty="0">
                <a:solidFill>
                  <a:srgbClr val="002060"/>
                </a:solidFill>
                <a:latin typeface="Garamond" panose="02020404030301010803" pitchFamily="18" charset="0"/>
              </a:rPr>
              <a:t>The purpose of Christian morality is to produce moral Christians and to make man whole and holy. It is important to understand man and the way he is. To capture the very essence of man we have to go to his roots to know the beginnings. Where did life begin and how did man come into existence?</a:t>
            </a:r>
            <a:endParaRPr lang="en-GB" sz="2600" dirty="0">
              <a:solidFill>
                <a:srgbClr val="002060"/>
              </a:solidFill>
              <a:latin typeface="Garamond" panose="02020404030301010803" pitchFamily="18" charset="0"/>
            </a:endParaRPr>
          </a:p>
          <a:p>
            <a:pPr marL="0" indent="0">
              <a:buNone/>
            </a:pPr>
            <a:endParaRPr lang="en-GB" sz="2600" dirty="0">
              <a:solidFill>
                <a:srgbClr val="002060"/>
              </a:solidFill>
              <a:latin typeface="Garamond" panose="02020404030301010803" pitchFamily="18" charset="0"/>
            </a:endParaRPr>
          </a:p>
        </p:txBody>
      </p:sp>
    </p:spTree>
    <p:extLst>
      <p:ext uri="{BB962C8B-B14F-4D97-AF65-F5344CB8AC3E}">
        <p14:creationId xmlns:p14="http://schemas.microsoft.com/office/powerpoint/2010/main" val="162722939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284513" y="790344"/>
            <a:ext cx="10239554" cy="1126420"/>
          </a:xfrm>
        </p:spPr>
        <p:txBody>
          <a:bodyPr>
            <a:normAutofit fontScale="90000"/>
          </a:bodyPr>
          <a:lstStyle/>
          <a:p>
            <a:r>
              <a:rPr lang="en-US" sz="4000" b="1" dirty="0">
                <a:solidFill>
                  <a:srgbClr val="002060"/>
                </a:solidFill>
                <a:latin typeface="Garamond" panose="02020404030301010803" pitchFamily="18" charset="0"/>
              </a:rPr>
              <a:t>Foundations of Christian Moral Conduct with Creation as Basis and Man as a Moral Being</a:t>
            </a:r>
            <a:r>
              <a:rPr lang="en-GB" sz="4000" dirty="0">
                <a:solidFill>
                  <a:srgbClr val="002060"/>
                </a:solidFill>
                <a:latin typeface="Garamond" panose="02020404030301010803" pitchFamily="18" charset="0"/>
              </a:rPr>
              <a:t/>
            </a:r>
            <a:br>
              <a:rPr lang="en-GB" sz="4000" dirty="0">
                <a:solidFill>
                  <a:srgbClr val="002060"/>
                </a:solidFill>
                <a:latin typeface="Garamond" panose="02020404030301010803" pitchFamily="18" charset="0"/>
              </a:rPr>
            </a:br>
            <a:r>
              <a:rPr lang="en-GB" sz="4000" dirty="0">
                <a:solidFill>
                  <a:srgbClr val="002060"/>
                </a:solidFill>
                <a:latin typeface="Garamond" panose="02020404030301010803" pitchFamily="18" charset="0"/>
              </a:rPr>
              <a:t/>
            </a:r>
            <a:br>
              <a:rPr lang="en-GB" sz="4000" dirty="0">
                <a:solidFill>
                  <a:srgbClr val="002060"/>
                </a:solidFill>
                <a:latin typeface="Garamond" panose="02020404030301010803" pitchFamily="18" charset="0"/>
              </a:rPr>
            </a:br>
            <a:endParaRPr lang="en-US" sz="4000" dirty="0">
              <a:solidFill>
                <a:srgbClr val="002060"/>
              </a:solidFill>
              <a:latin typeface="Garamond" panose="020204040303010108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473199" y="2094271"/>
            <a:ext cx="10377578" cy="4382729"/>
          </a:xfrm>
        </p:spPr>
        <p:txBody>
          <a:bodyPr>
            <a:normAutofit lnSpcReduction="10000"/>
          </a:bodyPr>
          <a:lstStyle/>
          <a:p>
            <a:pPr marL="457200" indent="-457200">
              <a:buAutoNum type="arabicPeriod"/>
            </a:pPr>
            <a:r>
              <a:rPr lang="en-US" sz="3200" b="1" dirty="0">
                <a:solidFill>
                  <a:srgbClr val="002060"/>
                </a:solidFill>
                <a:latin typeface="Garamond" panose="02020404030301010803" pitchFamily="18" charset="0"/>
              </a:rPr>
              <a:t>First, Man Has A Noble Origin</a:t>
            </a:r>
            <a:r>
              <a:rPr lang="en-US" sz="3200" dirty="0">
                <a:solidFill>
                  <a:srgbClr val="002060"/>
                </a:solidFill>
                <a:latin typeface="Garamond" panose="02020404030301010803" pitchFamily="18" charset="0"/>
              </a:rPr>
              <a:t> </a:t>
            </a:r>
          </a:p>
          <a:p>
            <a:pPr lvl="1"/>
            <a:r>
              <a:rPr lang="en-US" sz="3000" i="0" dirty="0">
                <a:solidFill>
                  <a:srgbClr val="002060"/>
                </a:solidFill>
                <a:latin typeface="Garamond" panose="02020404030301010803" pitchFamily="18" charset="0"/>
              </a:rPr>
              <a:t>Every human being put heavy emphasis on the point of identity. It is morally important for every human being to remember where he came from. </a:t>
            </a:r>
          </a:p>
          <a:p>
            <a:pPr lvl="1"/>
            <a:r>
              <a:rPr lang="en-US" sz="3000" i="0" dirty="0">
                <a:solidFill>
                  <a:srgbClr val="002060"/>
                </a:solidFill>
                <a:latin typeface="Garamond" panose="02020404030301010803" pitchFamily="18" charset="0"/>
              </a:rPr>
              <a:t>We are not ordinary. We are not cheap people. We are of a noble origin. </a:t>
            </a:r>
          </a:p>
          <a:p>
            <a:pPr lvl="1"/>
            <a:r>
              <a:rPr lang="en-US" sz="3000" i="0" dirty="0">
                <a:solidFill>
                  <a:srgbClr val="002060"/>
                </a:solidFill>
                <a:latin typeface="Garamond" panose="02020404030301010803" pitchFamily="18" charset="0"/>
              </a:rPr>
              <a:t>God is the noblest being that has ever existed therefore when we sin we act cheaply and puts at stake God’s reputation. God made us wonderfully, exceptionally and very special. </a:t>
            </a:r>
          </a:p>
          <a:p>
            <a:pPr lvl="1"/>
            <a:r>
              <a:rPr lang="en-US" sz="3000" i="0" dirty="0">
                <a:solidFill>
                  <a:srgbClr val="002060"/>
                </a:solidFill>
                <a:latin typeface="Garamond" panose="02020404030301010803" pitchFamily="18" charset="0"/>
              </a:rPr>
              <a:t>We are princes and princesses – heirs of God’s throne. </a:t>
            </a:r>
            <a:endParaRPr lang="en-GB" sz="3000" i="0" dirty="0">
              <a:solidFill>
                <a:srgbClr val="002060"/>
              </a:solidFill>
              <a:latin typeface="Garamond" panose="02020404030301010803" pitchFamily="18" charset="0"/>
            </a:endParaRPr>
          </a:p>
          <a:p>
            <a:pPr marL="0" indent="0">
              <a:buNone/>
            </a:pPr>
            <a:endParaRPr lang="en-GB" sz="3200" dirty="0">
              <a:solidFill>
                <a:srgbClr val="002060"/>
              </a:solidFill>
              <a:latin typeface="Garamond" panose="02020404030301010803" pitchFamily="18" charset="0"/>
            </a:endParaRPr>
          </a:p>
        </p:txBody>
      </p:sp>
    </p:spTree>
    <p:extLst>
      <p:ext uri="{BB962C8B-B14F-4D97-AF65-F5344CB8AC3E}">
        <p14:creationId xmlns:p14="http://schemas.microsoft.com/office/powerpoint/2010/main" val="196059163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427672" y="746801"/>
            <a:ext cx="10239554" cy="1126420"/>
          </a:xfrm>
        </p:spPr>
        <p:txBody>
          <a:bodyPr>
            <a:normAutofit fontScale="90000"/>
          </a:bodyPr>
          <a:lstStyle/>
          <a:p>
            <a:r>
              <a:rPr lang="en-US" sz="4000" b="1" dirty="0">
                <a:solidFill>
                  <a:srgbClr val="002060"/>
                </a:solidFill>
                <a:latin typeface="Garamond" panose="02020404030301010803" pitchFamily="18" charset="0"/>
              </a:rPr>
              <a:t>Foundations of Christian Moral Conduct with Creation as Basis and Man as a Moral Being</a:t>
            </a:r>
            <a:r>
              <a:rPr lang="en-GB" sz="4000" dirty="0">
                <a:solidFill>
                  <a:srgbClr val="002060"/>
                </a:solidFill>
                <a:latin typeface="Garamond" panose="02020404030301010803" pitchFamily="18" charset="0"/>
              </a:rPr>
              <a:t/>
            </a:r>
            <a:br>
              <a:rPr lang="en-GB" sz="4000" dirty="0">
                <a:solidFill>
                  <a:srgbClr val="002060"/>
                </a:solidFill>
                <a:latin typeface="Garamond" panose="02020404030301010803" pitchFamily="18" charset="0"/>
              </a:rPr>
            </a:br>
            <a:r>
              <a:rPr lang="en-GB" sz="4000" dirty="0">
                <a:solidFill>
                  <a:srgbClr val="002060"/>
                </a:solidFill>
                <a:latin typeface="Garamond" panose="02020404030301010803" pitchFamily="18" charset="0"/>
              </a:rPr>
              <a:t/>
            </a:r>
            <a:br>
              <a:rPr lang="en-GB" sz="4000" dirty="0">
                <a:solidFill>
                  <a:srgbClr val="002060"/>
                </a:solidFill>
                <a:latin typeface="Garamond" panose="02020404030301010803" pitchFamily="18" charset="0"/>
              </a:rPr>
            </a:br>
            <a:endParaRPr lang="en-US" sz="4000" dirty="0">
              <a:solidFill>
                <a:srgbClr val="002060"/>
              </a:solidFill>
              <a:latin typeface="Garamond" panose="020204040303010108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155940" y="1484671"/>
            <a:ext cx="10783018" cy="4382729"/>
          </a:xfrm>
        </p:spPr>
        <p:txBody>
          <a:bodyPr>
            <a:normAutofit lnSpcReduction="10000"/>
          </a:bodyPr>
          <a:lstStyle/>
          <a:p>
            <a:pPr marL="0" indent="0">
              <a:buNone/>
            </a:pPr>
            <a:r>
              <a:rPr lang="en-US" sz="3200" b="1" dirty="0">
                <a:solidFill>
                  <a:srgbClr val="002060"/>
                </a:solidFill>
                <a:latin typeface="Garamond" panose="02020404030301010803" pitchFamily="18" charset="0"/>
              </a:rPr>
              <a:t>2. Man was created in the image of God</a:t>
            </a:r>
          </a:p>
          <a:p>
            <a:pPr lvl="1"/>
            <a:r>
              <a:rPr lang="en-US" sz="2800" i="0" dirty="0">
                <a:solidFill>
                  <a:srgbClr val="002060"/>
                </a:solidFill>
                <a:latin typeface="Garamond" panose="02020404030301010803" pitchFamily="18" charset="0"/>
              </a:rPr>
              <a:t>We are exceptional. We are like God. We need not belittle ourselves. We are not just made anyhow. We were made and created according to the true blueprint. </a:t>
            </a:r>
          </a:p>
          <a:p>
            <a:pPr lvl="1"/>
            <a:r>
              <a:rPr lang="en-US" sz="2800" i="0" dirty="0">
                <a:solidFill>
                  <a:srgbClr val="002060"/>
                </a:solidFill>
                <a:latin typeface="Garamond" panose="02020404030301010803" pitchFamily="18" charset="0"/>
              </a:rPr>
              <a:t>The original plan of which we are made is eternal and man was to exist for eternity. God has not abandoned this plan for man. If I am like God, I must act and live responsibly and respectfully. I can hope and strive to be good and holy like God. I am open to grow and progress to the full stature of the fullness of God. </a:t>
            </a:r>
          </a:p>
          <a:p>
            <a:pPr lvl="1"/>
            <a:r>
              <a:rPr lang="en-US" sz="2800" i="0" dirty="0">
                <a:solidFill>
                  <a:srgbClr val="002060"/>
                </a:solidFill>
                <a:latin typeface="Garamond" panose="02020404030301010803" pitchFamily="18" charset="0"/>
              </a:rPr>
              <a:t>God’s character and nature is the original plan which we are copying. God is the measure and standard, the plumb line of our ethical bite. </a:t>
            </a:r>
            <a:endParaRPr lang="en-GB" sz="2800" i="0" dirty="0">
              <a:solidFill>
                <a:srgbClr val="002060"/>
              </a:solidFill>
              <a:latin typeface="Garamond" panose="02020404030301010803" pitchFamily="18" charset="0"/>
            </a:endParaRPr>
          </a:p>
          <a:p>
            <a:pPr marL="0" indent="0">
              <a:buNone/>
            </a:pPr>
            <a:endParaRPr lang="en-GB" sz="4000" dirty="0">
              <a:solidFill>
                <a:srgbClr val="002060"/>
              </a:solidFill>
              <a:latin typeface="Garamond" panose="02020404030301010803" pitchFamily="18" charset="0"/>
            </a:endParaRPr>
          </a:p>
        </p:txBody>
      </p:sp>
    </p:spTree>
    <p:extLst>
      <p:ext uri="{BB962C8B-B14F-4D97-AF65-F5344CB8AC3E}">
        <p14:creationId xmlns:p14="http://schemas.microsoft.com/office/powerpoint/2010/main" val="273676371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732287"/>
            <a:ext cx="10239554" cy="1126420"/>
          </a:xfrm>
        </p:spPr>
        <p:txBody>
          <a:bodyPr>
            <a:normAutofit fontScale="90000"/>
          </a:bodyPr>
          <a:lstStyle/>
          <a:p>
            <a:r>
              <a:rPr lang="en-US" sz="4000" b="1" dirty="0">
                <a:solidFill>
                  <a:srgbClr val="002060"/>
                </a:solidFill>
                <a:latin typeface="Garamond" panose="02020404030301010803" pitchFamily="18" charset="0"/>
              </a:rPr>
              <a:t>Foundations of Christian Moral Conduct with Creation as Basis and Man as a Moral Being</a:t>
            </a:r>
            <a:r>
              <a:rPr lang="en-GB" sz="4000" dirty="0">
                <a:solidFill>
                  <a:srgbClr val="002060"/>
                </a:solidFill>
                <a:latin typeface="Garamond" panose="02020404030301010803" pitchFamily="18" charset="0"/>
              </a:rPr>
              <a:t/>
            </a:r>
            <a:br>
              <a:rPr lang="en-GB" sz="4000" dirty="0">
                <a:solidFill>
                  <a:srgbClr val="002060"/>
                </a:solidFill>
                <a:latin typeface="Garamond" panose="02020404030301010803" pitchFamily="18" charset="0"/>
              </a:rPr>
            </a:br>
            <a:r>
              <a:rPr lang="en-GB" sz="4000" dirty="0">
                <a:solidFill>
                  <a:srgbClr val="002060"/>
                </a:solidFill>
                <a:latin typeface="Garamond" panose="02020404030301010803" pitchFamily="18" charset="0"/>
              </a:rPr>
              <a:t/>
            </a:r>
            <a:br>
              <a:rPr lang="en-GB" sz="4000" dirty="0">
                <a:solidFill>
                  <a:srgbClr val="002060"/>
                </a:solidFill>
                <a:latin typeface="Garamond" panose="02020404030301010803" pitchFamily="18" charset="0"/>
              </a:rPr>
            </a:br>
            <a:endParaRPr lang="en-US" sz="4000" dirty="0">
              <a:solidFill>
                <a:srgbClr val="002060"/>
              </a:solidFill>
              <a:latin typeface="Garamond" panose="020204040303010108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484671"/>
            <a:ext cx="10532854" cy="4382729"/>
          </a:xfrm>
        </p:spPr>
        <p:txBody>
          <a:bodyPr>
            <a:normAutofit/>
          </a:bodyPr>
          <a:lstStyle/>
          <a:p>
            <a:pPr marL="0" indent="0">
              <a:buNone/>
            </a:pPr>
            <a:r>
              <a:rPr lang="en-US" sz="3200" b="1" dirty="0">
                <a:solidFill>
                  <a:srgbClr val="002060"/>
                </a:solidFill>
                <a:latin typeface="Garamond" panose="02020404030301010803" pitchFamily="18" charset="0"/>
              </a:rPr>
              <a:t>3. We were created with individuality </a:t>
            </a:r>
          </a:p>
          <a:p>
            <a:pPr lvl="1"/>
            <a:r>
              <a:rPr lang="en-US" sz="2800" i="0" dirty="0">
                <a:solidFill>
                  <a:srgbClr val="002060"/>
                </a:solidFill>
                <a:latin typeface="Garamond" panose="02020404030301010803" pitchFamily="18" charset="0"/>
              </a:rPr>
              <a:t>Man is like God because he is different from God. This is the meaning of individuality. It is the uniqueness of every human being. </a:t>
            </a:r>
          </a:p>
          <a:p>
            <a:pPr lvl="1"/>
            <a:r>
              <a:rPr lang="en-US" sz="2800" i="0" dirty="0">
                <a:solidFill>
                  <a:srgbClr val="002060"/>
                </a:solidFill>
                <a:latin typeface="Garamond" panose="02020404030301010803" pitchFamily="18" charset="0"/>
              </a:rPr>
              <a:t>No one is the repetition of another. All and everyone is unique. E.G. White states in Education page 17 that “Every human being created in the image of God is endowed with powers akin to God. God created us to be like Him but unique. </a:t>
            </a:r>
          </a:p>
          <a:p>
            <a:pPr lvl="1"/>
            <a:r>
              <a:rPr lang="en-US" sz="2800" i="0" dirty="0">
                <a:solidFill>
                  <a:srgbClr val="002060"/>
                </a:solidFill>
                <a:latin typeface="Garamond" panose="02020404030301010803" pitchFamily="18" charset="0"/>
              </a:rPr>
              <a:t>Individuality is the power to reason and think and do. God created and broke the mold. He never repeats the old mold. Sin and deformity cannot manifest in the image of God. </a:t>
            </a:r>
            <a:endParaRPr lang="en-GB" sz="2800" i="0" dirty="0">
              <a:solidFill>
                <a:srgbClr val="002060"/>
              </a:solidFill>
              <a:latin typeface="Garamond" panose="02020404030301010803" pitchFamily="18" charset="0"/>
            </a:endParaRPr>
          </a:p>
          <a:p>
            <a:pPr marL="0" indent="0">
              <a:buNone/>
            </a:pPr>
            <a:endParaRPr lang="en-GB" sz="4000" dirty="0">
              <a:solidFill>
                <a:srgbClr val="002060"/>
              </a:solidFill>
              <a:latin typeface="Garamond" panose="02020404030301010803" pitchFamily="18" charset="0"/>
            </a:endParaRPr>
          </a:p>
        </p:txBody>
      </p:sp>
    </p:spTree>
    <p:extLst>
      <p:ext uri="{BB962C8B-B14F-4D97-AF65-F5344CB8AC3E}">
        <p14:creationId xmlns:p14="http://schemas.microsoft.com/office/powerpoint/2010/main" val="89205095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659716"/>
            <a:ext cx="10239554" cy="1126420"/>
          </a:xfrm>
        </p:spPr>
        <p:txBody>
          <a:bodyPr>
            <a:normAutofit fontScale="90000"/>
          </a:bodyPr>
          <a:lstStyle/>
          <a:p>
            <a:r>
              <a:rPr lang="en-US" sz="4000" b="1" dirty="0">
                <a:solidFill>
                  <a:srgbClr val="002060"/>
                </a:solidFill>
                <a:latin typeface="Garamond" panose="02020404030301010803" pitchFamily="18" charset="0"/>
              </a:rPr>
              <a:t>Foundations of Christian Moral Conduct with Creation as Basis and Man as a Moral Being</a:t>
            </a:r>
            <a:r>
              <a:rPr lang="en-GB" sz="4000" dirty="0">
                <a:solidFill>
                  <a:srgbClr val="002060"/>
                </a:solidFill>
                <a:latin typeface="Garamond" panose="02020404030301010803" pitchFamily="18" charset="0"/>
              </a:rPr>
              <a:t/>
            </a:r>
            <a:br>
              <a:rPr lang="en-GB" sz="4000" dirty="0">
                <a:solidFill>
                  <a:srgbClr val="002060"/>
                </a:solidFill>
                <a:latin typeface="Garamond" panose="02020404030301010803" pitchFamily="18" charset="0"/>
              </a:rPr>
            </a:br>
            <a:r>
              <a:rPr lang="en-GB" sz="4000" dirty="0">
                <a:solidFill>
                  <a:srgbClr val="002060"/>
                </a:solidFill>
                <a:latin typeface="Garamond" panose="02020404030301010803" pitchFamily="18" charset="0"/>
              </a:rPr>
              <a:t/>
            </a:r>
            <a:br>
              <a:rPr lang="en-GB" sz="4000" dirty="0">
                <a:solidFill>
                  <a:srgbClr val="002060"/>
                </a:solidFill>
                <a:latin typeface="Garamond" panose="02020404030301010803" pitchFamily="18" charset="0"/>
              </a:rPr>
            </a:br>
            <a:endParaRPr lang="en-US" sz="4000" dirty="0">
              <a:solidFill>
                <a:srgbClr val="002060"/>
              </a:solidFill>
              <a:latin typeface="Garamond" panose="020204040303010108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484671"/>
            <a:ext cx="10377578" cy="4382729"/>
          </a:xfrm>
        </p:spPr>
        <p:txBody>
          <a:bodyPr>
            <a:normAutofit fontScale="92500" lnSpcReduction="10000"/>
          </a:bodyPr>
          <a:lstStyle/>
          <a:p>
            <a:pPr marL="0" indent="0">
              <a:buNone/>
            </a:pPr>
            <a:r>
              <a:rPr lang="en-US" sz="3200" b="1" dirty="0">
                <a:solidFill>
                  <a:srgbClr val="002060"/>
                </a:solidFill>
                <a:latin typeface="Garamond" panose="02020404030301010803" pitchFamily="18" charset="0"/>
              </a:rPr>
              <a:t>4. Man was planned for </a:t>
            </a:r>
          </a:p>
          <a:p>
            <a:pPr lvl="1"/>
            <a:r>
              <a:rPr lang="en-US" sz="3200" i="0" dirty="0">
                <a:solidFill>
                  <a:srgbClr val="002060"/>
                </a:solidFill>
                <a:latin typeface="Garamond" panose="02020404030301010803" pitchFamily="18" charset="0"/>
              </a:rPr>
              <a:t>Creation was not an afterthought. We were not made by accident, creation was planned. We are not to abuse our procreative powers. </a:t>
            </a:r>
          </a:p>
          <a:p>
            <a:pPr lvl="1"/>
            <a:r>
              <a:rPr lang="en-US" sz="3200" i="0" dirty="0">
                <a:solidFill>
                  <a:srgbClr val="002060"/>
                </a:solidFill>
                <a:latin typeface="Garamond" panose="02020404030301010803" pitchFamily="18" charset="0"/>
              </a:rPr>
              <a:t>It was only when everything necessary for man was accomplished that man was created. Gen. 1:27-29. “Let us make man” every human being’s worth is measured by Christ’s death. </a:t>
            </a:r>
          </a:p>
          <a:p>
            <a:pPr lvl="1"/>
            <a:r>
              <a:rPr lang="en-US" sz="3200" i="0" dirty="0">
                <a:solidFill>
                  <a:srgbClr val="002060"/>
                </a:solidFill>
                <a:latin typeface="Garamond" panose="02020404030301010803" pitchFamily="18" charset="0"/>
              </a:rPr>
              <a:t>In eternity God had an agenda. It is when the heavenly council planned the new type of being that man was created. Man was formed.</a:t>
            </a:r>
            <a:endParaRPr lang="en-GB" sz="3200" i="0" dirty="0">
              <a:solidFill>
                <a:srgbClr val="002060"/>
              </a:solidFill>
              <a:latin typeface="Garamond" panose="02020404030301010803" pitchFamily="18" charset="0"/>
            </a:endParaRPr>
          </a:p>
          <a:p>
            <a:pPr marL="0" indent="0">
              <a:buNone/>
            </a:pPr>
            <a:endParaRPr lang="en-GB" sz="4000" dirty="0">
              <a:solidFill>
                <a:srgbClr val="002060"/>
              </a:solidFill>
              <a:latin typeface="Garamond" panose="02020404030301010803" pitchFamily="18" charset="0"/>
            </a:endParaRPr>
          </a:p>
        </p:txBody>
      </p:sp>
    </p:spTree>
    <p:extLst>
      <p:ext uri="{BB962C8B-B14F-4D97-AF65-F5344CB8AC3E}">
        <p14:creationId xmlns:p14="http://schemas.microsoft.com/office/powerpoint/2010/main" val="380880911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717772"/>
            <a:ext cx="10239554" cy="1126420"/>
          </a:xfrm>
        </p:spPr>
        <p:txBody>
          <a:bodyPr>
            <a:normAutofit fontScale="90000"/>
          </a:bodyPr>
          <a:lstStyle/>
          <a:p>
            <a:r>
              <a:rPr lang="en-US" sz="4000" b="1" dirty="0">
                <a:solidFill>
                  <a:srgbClr val="002060"/>
                </a:solidFill>
                <a:latin typeface="Garamond" panose="02020404030301010803" pitchFamily="18" charset="0"/>
              </a:rPr>
              <a:t>Foundations of Christian Moral Conduct with Creation as Basis and Man as a Moral Being</a:t>
            </a:r>
            <a:r>
              <a:rPr lang="en-GB" sz="4000" dirty="0">
                <a:solidFill>
                  <a:srgbClr val="002060"/>
                </a:solidFill>
                <a:latin typeface="Garamond" panose="02020404030301010803" pitchFamily="18" charset="0"/>
              </a:rPr>
              <a:t/>
            </a:r>
            <a:br>
              <a:rPr lang="en-GB" sz="4000" dirty="0">
                <a:solidFill>
                  <a:srgbClr val="002060"/>
                </a:solidFill>
                <a:latin typeface="Garamond" panose="02020404030301010803" pitchFamily="18" charset="0"/>
              </a:rPr>
            </a:br>
            <a:r>
              <a:rPr lang="en-GB" sz="4000" dirty="0">
                <a:solidFill>
                  <a:srgbClr val="002060"/>
                </a:solidFill>
                <a:latin typeface="Garamond" panose="02020404030301010803" pitchFamily="18" charset="0"/>
              </a:rPr>
              <a:t/>
            </a:r>
            <a:br>
              <a:rPr lang="en-GB" sz="4000" dirty="0">
                <a:solidFill>
                  <a:srgbClr val="002060"/>
                </a:solidFill>
                <a:latin typeface="Garamond" panose="02020404030301010803" pitchFamily="18" charset="0"/>
              </a:rPr>
            </a:br>
            <a:endParaRPr lang="en-US" sz="4000" dirty="0">
              <a:solidFill>
                <a:srgbClr val="002060"/>
              </a:solidFill>
              <a:latin typeface="Garamond" panose="020204040303010108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484671"/>
            <a:ext cx="10377578" cy="4382729"/>
          </a:xfrm>
        </p:spPr>
        <p:txBody>
          <a:bodyPr/>
          <a:lstStyle/>
          <a:p>
            <a:pPr marL="0" indent="0">
              <a:buNone/>
            </a:pPr>
            <a:r>
              <a:rPr lang="en-US" sz="3600" b="1" dirty="0">
                <a:solidFill>
                  <a:srgbClr val="002060"/>
                </a:solidFill>
                <a:latin typeface="Garamond" panose="02020404030301010803" pitchFamily="18" charset="0"/>
              </a:rPr>
              <a:t>5. Man was made with a purpose for a purpose to achieve a purpose</a:t>
            </a:r>
            <a:r>
              <a:rPr lang="en-US" sz="3600" dirty="0">
                <a:solidFill>
                  <a:srgbClr val="002060"/>
                </a:solidFill>
                <a:latin typeface="Garamond" panose="02020404030301010803" pitchFamily="18" charset="0"/>
              </a:rPr>
              <a:t> </a:t>
            </a:r>
          </a:p>
          <a:p>
            <a:pPr lvl="1"/>
            <a:r>
              <a:rPr lang="en-US" sz="3600" i="0" dirty="0">
                <a:solidFill>
                  <a:srgbClr val="002060"/>
                </a:solidFill>
                <a:latin typeface="Garamond" panose="02020404030301010803" pitchFamily="18" charset="0"/>
              </a:rPr>
              <a:t>The creator Himself has a purpose for man and His purpose for man is for man’s own good (Jer. 29:11).</a:t>
            </a:r>
          </a:p>
          <a:p>
            <a:pPr lvl="1"/>
            <a:r>
              <a:rPr lang="en-US" sz="3600" i="0" dirty="0">
                <a:solidFill>
                  <a:srgbClr val="002060"/>
                </a:solidFill>
                <a:latin typeface="Garamond" panose="02020404030301010803" pitchFamily="18" charset="0"/>
              </a:rPr>
              <a:t>Myles Monroe noted that “the greatest tragedy of life is not death but a purposeless life.” </a:t>
            </a:r>
          </a:p>
          <a:p>
            <a:pPr lvl="1"/>
            <a:r>
              <a:rPr lang="en-US" sz="3600" i="0" dirty="0">
                <a:solidFill>
                  <a:srgbClr val="002060"/>
                </a:solidFill>
                <a:latin typeface="Garamond" panose="02020404030301010803" pitchFamily="18" charset="0"/>
              </a:rPr>
              <a:t>Rick Warren admonishes us to live a purpose driven life.</a:t>
            </a:r>
            <a:endParaRPr lang="en-GB" sz="3600" i="0" dirty="0">
              <a:solidFill>
                <a:srgbClr val="002060"/>
              </a:solidFill>
              <a:latin typeface="Garamond" panose="02020404030301010803" pitchFamily="18" charset="0"/>
            </a:endParaRPr>
          </a:p>
          <a:p>
            <a:pPr marL="0" indent="0">
              <a:buNone/>
            </a:pPr>
            <a:endParaRPr lang="en-GB" sz="4400" dirty="0">
              <a:solidFill>
                <a:srgbClr val="002060"/>
              </a:solidFill>
              <a:latin typeface="Garamond" panose="02020404030301010803" pitchFamily="18" charset="0"/>
            </a:endParaRPr>
          </a:p>
        </p:txBody>
      </p:sp>
    </p:spTree>
    <p:extLst>
      <p:ext uri="{BB962C8B-B14F-4D97-AF65-F5344CB8AC3E}">
        <p14:creationId xmlns:p14="http://schemas.microsoft.com/office/powerpoint/2010/main" val="10852071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233576" y="821889"/>
            <a:ext cx="10515600" cy="1325563"/>
          </a:xfrm>
        </p:spPr>
        <p:txBody>
          <a:bodyPr>
            <a:normAutofit fontScale="90000"/>
          </a:bodyPr>
          <a:lstStyle/>
          <a:p>
            <a:r>
              <a:rPr lang="en-US" b="1" dirty="0">
                <a:solidFill>
                  <a:srgbClr val="002060"/>
                </a:solidFill>
                <a:latin typeface="Garamond" panose="02020404030301010803" pitchFamily="18" charset="0"/>
              </a:rPr>
              <a:t>Man as a Moral Being</a:t>
            </a:r>
            <a:r>
              <a:rPr lang="en-GB" dirty="0">
                <a:solidFill>
                  <a:srgbClr val="002060"/>
                </a:solidFill>
                <a:latin typeface="Garamond" panose="02020404030301010803" pitchFamily="18" charset="0"/>
              </a:rPr>
              <a:t/>
            </a:r>
            <a:br>
              <a:rPr lang="en-GB" dirty="0">
                <a:solidFill>
                  <a:srgbClr val="002060"/>
                </a:solidFill>
                <a:latin typeface="Garamond" panose="02020404030301010803" pitchFamily="18" charset="0"/>
              </a:rPr>
            </a:br>
            <a:r>
              <a:rPr lang="en-GB" dirty="0">
                <a:solidFill>
                  <a:srgbClr val="002060"/>
                </a:solidFill>
                <a:latin typeface="Garamond" panose="02020404030301010803" pitchFamily="18" charset="0"/>
              </a:rPr>
              <a:t/>
            </a:r>
            <a:br>
              <a:rPr lang="en-GB" dirty="0">
                <a:solidFill>
                  <a:srgbClr val="002060"/>
                </a:solidFill>
                <a:latin typeface="Garamond" panose="02020404030301010803" pitchFamily="18" charset="0"/>
              </a:rPr>
            </a:br>
            <a:endParaRPr lang="en-US" dirty="0">
              <a:solidFill>
                <a:srgbClr val="002060"/>
              </a:solidFill>
              <a:latin typeface="Garamond" panose="020204040303010108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484671"/>
            <a:ext cx="10239555" cy="4382729"/>
          </a:xfrm>
        </p:spPr>
        <p:txBody>
          <a:bodyPr>
            <a:normAutofit fontScale="92500" lnSpcReduction="10000"/>
          </a:bodyPr>
          <a:lstStyle/>
          <a:p>
            <a:r>
              <a:rPr lang="en-US" dirty="0">
                <a:solidFill>
                  <a:srgbClr val="002060"/>
                </a:solidFill>
                <a:latin typeface="Garamond" panose="02020404030301010803" pitchFamily="18" charset="0"/>
              </a:rPr>
              <a:t>Man is a moral being and also a mixture of other facets such as the spiritual, the emotional, physical, psychological and social nature. Man is an intelligent being. Man’s moral nature is directly related to ethics which has to do with character, manners and conduct or habits. The study of ethics offers man the capacity to judge himself. Man has the capability of listening, hearing, seeing and even coming out of oneself to look at himself without losing himself (introspection). Inanimate things are not able to do that. Plants are not able to do just that </a:t>
            </a:r>
            <a:endParaRPr lang="en-GB" dirty="0">
              <a:solidFill>
                <a:srgbClr val="002060"/>
              </a:solidFill>
              <a:latin typeface="Garamond" panose="02020404030301010803" pitchFamily="18" charset="0"/>
            </a:endParaRPr>
          </a:p>
          <a:p>
            <a:r>
              <a:rPr lang="en-US" dirty="0">
                <a:solidFill>
                  <a:srgbClr val="002060"/>
                </a:solidFill>
                <a:latin typeface="Garamond" panose="02020404030301010803" pitchFamily="18" charset="0"/>
              </a:rPr>
              <a:t>Man has a moral being has the capacity and capability to evaluate his own attitude and is able to put etiquette to things. He has the knowledge of putting values to things being right or wrong. He has the ability to label attitude right or wrong. Other creatures cannot differentiate between right and wrong. They are unable to do that. </a:t>
            </a:r>
            <a:endParaRPr lang="en-GB" dirty="0">
              <a:solidFill>
                <a:srgbClr val="002060"/>
              </a:solidFill>
              <a:latin typeface="Garamond" panose="02020404030301010803" pitchFamily="18" charset="0"/>
            </a:endParaRPr>
          </a:p>
          <a:p>
            <a:pPr marL="0" indent="0">
              <a:buNone/>
            </a:pPr>
            <a:endParaRPr lang="en-GB" sz="3600" dirty="0">
              <a:solidFill>
                <a:srgbClr val="002060"/>
              </a:solidFill>
              <a:latin typeface="Garamond" panose="02020404030301010803" pitchFamily="18" charset="0"/>
            </a:endParaRPr>
          </a:p>
        </p:txBody>
      </p:sp>
    </p:spTree>
    <p:extLst>
      <p:ext uri="{BB962C8B-B14F-4D97-AF65-F5344CB8AC3E}">
        <p14:creationId xmlns:p14="http://schemas.microsoft.com/office/powerpoint/2010/main" val="2809962524"/>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745783A-DA3E-4EF2-99A3-179D7F03CA49}"/>
              </a:ext>
            </a:extLst>
          </p:cNvPr>
          <p:cNvSpPr>
            <a:spLocks noGrp="1"/>
          </p:cNvSpPr>
          <p:nvPr>
            <p:ph type="title"/>
          </p:nvPr>
        </p:nvSpPr>
        <p:spPr/>
        <p:txBody>
          <a:bodyPr/>
          <a:lstStyle/>
          <a:p>
            <a:r>
              <a:rPr lang="en-US" dirty="0"/>
              <a:t>Micah 6:8</a:t>
            </a:r>
            <a:endParaRPr lang="en-GB" dirty="0"/>
          </a:p>
        </p:txBody>
      </p:sp>
      <p:sp>
        <p:nvSpPr>
          <p:cNvPr id="5" name="Text Placeholder 4">
            <a:extLst>
              <a:ext uri="{FF2B5EF4-FFF2-40B4-BE49-F238E27FC236}">
                <a16:creationId xmlns:a16="http://schemas.microsoft.com/office/drawing/2014/main" id="{9D1D72DC-E77C-4DAA-8CCF-DFBE989CB0FB}"/>
              </a:ext>
            </a:extLst>
          </p:cNvPr>
          <p:cNvSpPr>
            <a:spLocks noGrp="1"/>
          </p:cNvSpPr>
          <p:nvPr>
            <p:ph type="body" sz="half" idx="2"/>
          </p:nvPr>
        </p:nvSpPr>
        <p:spPr>
          <a:xfrm>
            <a:off x="6739106" y="1966451"/>
            <a:ext cx="5013575" cy="4414183"/>
          </a:xfrm>
        </p:spPr>
        <p:txBody>
          <a:bodyPr/>
          <a:lstStyle/>
          <a:p>
            <a:pPr marL="0" indent="0" algn="ctr">
              <a:buNone/>
            </a:pPr>
            <a:r>
              <a:rPr lang="en-US" sz="3600" b="1" dirty="0"/>
              <a:t>He has told you, O mortal, what is good; and what does the Lord require of you but to do justice, and to love kindness, and to walk humbly with your God? </a:t>
            </a:r>
          </a:p>
          <a:p>
            <a:pPr marL="0" indent="0" algn="ctr">
              <a:buNone/>
            </a:pPr>
            <a:endParaRPr lang="en-GB" sz="3600" b="1" dirty="0"/>
          </a:p>
        </p:txBody>
      </p:sp>
      <p:sp>
        <p:nvSpPr>
          <p:cNvPr id="8" name="Rectangle 7">
            <a:extLst>
              <a:ext uri="{FF2B5EF4-FFF2-40B4-BE49-F238E27FC236}">
                <a16:creationId xmlns:a16="http://schemas.microsoft.com/office/drawing/2014/main" id="{192EF6F6-5B92-48AB-B328-0280477F9746}"/>
              </a:ext>
            </a:extLst>
          </p:cNvPr>
          <p:cNvSpPr/>
          <p:nvPr/>
        </p:nvSpPr>
        <p:spPr>
          <a:xfrm>
            <a:off x="435428" y="1210484"/>
            <a:ext cx="5660571" cy="3139321"/>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6600" b="0" i="0" u="none" strike="noStrike" kern="1200" cap="none" spc="0" normalizeH="0" baseline="0" noProof="0" dirty="0">
                <a:ln>
                  <a:noFill/>
                </a:ln>
                <a:solidFill>
                  <a:srgbClr val="002060"/>
                </a:solidFill>
                <a:effectLst/>
                <a:uLnTx/>
                <a:uFillTx/>
                <a:latin typeface="Impact"/>
                <a:ea typeface="+mn-ea"/>
                <a:cs typeface="+mn-cs"/>
              </a:rPr>
              <a:t>Ethics in the Hebrew </a:t>
            </a:r>
            <a:r>
              <a:rPr kumimoji="0" lang="en-US" sz="6600" b="0" i="0" u="none" strike="noStrike" kern="1200" cap="none" spc="0" normalizeH="0" baseline="0" noProof="0" dirty="0" smtClean="0">
                <a:ln>
                  <a:noFill/>
                </a:ln>
                <a:solidFill>
                  <a:srgbClr val="002060"/>
                </a:solidFill>
                <a:effectLst/>
                <a:uLnTx/>
                <a:uFillTx/>
                <a:latin typeface="Impact"/>
                <a:ea typeface="+mn-ea"/>
                <a:cs typeface="+mn-cs"/>
              </a:rPr>
              <a:t>Scriptures</a:t>
            </a:r>
            <a:endParaRPr kumimoji="0" lang="en-GB" sz="1800" b="0" i="0" u="none" strike="noStrike" kern="1200" cap="none" spc="0" normalizeH="0" baseline="0" noProof="0" dirty="0">
              <a:ln>
                <a:noFill/>
              </a:ln>
              <a:solidFill>
                <a:srgbClr val="00206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67380909"/>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745783A-DA3E-4EF2-99A3-179D7F03CA49}"/>
              </a:ext>
            </a:extLst>
          </p:cNvPr>
          <p:cNvSpPr>
            <a:spLocks noGrp="1"/>
          </p:cNvSpPr>
          <p:nvPr>
            <p:ph type="title"/>
          </p:nvPr>
        </p:nvSpPr>
        <p:spPr/>
        <p:txBody>
          <a:bodyPr/>
          <a:lstStyle/>
          <a:p>
            <a:r>
              <a:rPr lang="en-US" b="1" dirty="0" smtClean="0"/>
              <a:t>Matthew 7:12</a:t>
            </a:r>
            <a:endParaRPr lang="en-GB" b="1" dirty="0"/>
          </a:p>
        </p:txBody>
      </p:sp>
      <p:sp>
        <p:nvSpPr>
          <p:cNvPr id="5" name="Text Placeholder 4">
            <a:extLst>
              <a:ext uri="{FF2B5EF4-FFF2-40B4-BE49-F238E27FC236}">
                <a16:creationId xmlns:a16="http://schemas.microsoft.com/office/drawing/2014/main" id="{9D1D72DC-E77C-4DAA-8CCF-DFBE989CB0FB}"/>
              </a:ext>
            </a:extLst>
          </p:cNvPr>
          <p:cNvSpPr>
            <a:spLocks noGrp="1"/>
          </p:cNvSpPr>
          <p:nvPr>
            <p:ph type="body" sz="half" idx="2"/>
          </p:nvPr>
        </p:nvSpPr>
        <p:spPr>
          <a:xfrm>
            <a:off x="6258560" y="1966451"/>
            <a:ext cx="5494121" cy="4414183"/>
          </a:xfrm>
        </p:spPr>
        <p:txBody>
          <a:bodyPr>
            <a:normAutofit/>
          </a:bodyPr>
          <a:lstStyle/>
          <a:p>
            <a:pPr marL="0" indent="0" algn="ctr">
              <a:buNone/>
            </a:pPr>
            <a:r>
              <a:rPr lang="en-US" sz="4400" b="1" dirty="0" smtClean="0"/>
              <a:t>Therefore, whatever you want men to do to you, do also to them, for this is the Law and the Prophets</a:t>
            </a:r>
            <a:endParaRPr lang="en-GB" sz="4400" b="1" dirty="0"/>
          </a:p>
        </p:txBody>
      </p:sp>
      <p:sp>
        <p:nvSpPr>
          <p:cNvPr id="8" name="Rectangle 7">
            <a:extLst>
              <a:ext uri="{FF2B5EF4-FFF2-40B4-BE49-F238E27FC236}">
                <a16:creationId xmlns:a16="http://schemas.microsoft.com/office/drawing/2014/main" id="{192EF6F6-5B92-48AB-B328-0280477F9746}"/>
              </a:ext>
            </a:extLst>
          </p:cNvPr>
          <p:cNvSpPr/>
          <p:nvPr/>
        </p:nvSpPr>
        <p:spPr>
          <a:xfrm>
            <a:off x="435428" y="1966451"/>
            <a:ext cx="6495348" cy="3139321"/>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6600" b="0" i="0" u="none" strike="noStrike" kern="1200" cap="none" spc="0" normalizeH="0" baseline="0" noProof="0" dirty="0">
                <a:ln>
                  <a:noFill/>
                </a:ln>
                <a:solidFill>
                  <a:srgbClr val="002060"/>
                </a:solidFill>
                <a:effectLst/>
                <a:uLnTx/>
                <a:uFillTx/>
                <a:latin typeface="Impact"/>
                <a:ea typeface="+mn-ea"/>
                <a:cs typeface="+mn-cs"/>
              </a:rPr>
              <a:t>Ethics in the </a:t>
            </a:r>
            <a:r>
              <a:rPr kumimoji="0" lang="en-US" sz="6600" b="0" i="0" u="none" strike="noStrike" kern="1200" cap="none" spc="0" normalizeH="0" baseline="0" noProof="0" dirty="0" smtClean="0">
                <a:ln>
                  <a:noFill/>
                </a:ln>
                <a:solidFill>
                  <a:srgbClr val="002060"/>
                </a:solidFill>
                <a:effectLst/>
                <a:uLnTx/>
                <a:uFillTx/>
                <a:latin typeface="Impact"/>
                <a:ea typeface="+mn-ea"/>
                <a:cs typeface="+mn-cs"/>
              </a:rPr>
              <a:t>Christian Scriptures</a:t>
            </a:r>
            <a:endParaRPr kumimoji="0" lang="en-GB" sz="1800" b="0" i="0" u="none" strike="noStrike" kern="1200" cap="none" spc="0" normalizeH="0" baseline="0" noProof="0" dirty="0">
              <a:ln>
                <a:noFill/>
              </a:ln>
              <a:solidFill>
                <a:srgbClr val="00206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5704527"/>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92EF6F6-5B92-48AB-B328-0280477F9746}"/>
              </a:ext>
            </a:extLst>
          </p:cNvPr>
          <p:cNvSpPr/>
          <p:nvPr/>
        </p:nvSpPr>
        <p:spPr>
          <a:xfrm>
            <a:off x="435428" y="1966451"/>
            <a:ext cx="11258732" cy="2123658"/>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6600" b="0" i="0" u="none" strike="noStrike" kern="1200" cap="none" spc="0" normalizeH="0" baseline="0" noProof="0" dirty="0" smtClean="0">
                <a:ln>
                  <a:noFill/>
                </a:ln>
                <a:solidFill>
                  <a:srgbClr val="002060"/>
                </a:solidFill>
                <a:effectLst/>
                <a:uLnTx/>
                <a:uFillTx/>
                <a:latin typeface="Impact"/>
                <a:ea typeface="+mn-ea"/>
                <a:cs typeface="+mn-cs"/>
              </a:rPr>
              <a:t>Class Test </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6600" b="0" i="0" u="none" strike="noStrike" kern="1200" cap="none" spc="0" normalizeH="0" baseline="0" noProof="0" dirty="0">
              <a:ln>
                <a:noFill/>
              </a:ln>
              <a:solidFill>
                <a:srgbClr val="002060"/>
              </a:solidFill>
              <a:effectLst/>
              <a:uLnTx/>
              <a:uFillTx/>
              <a:latin typeface="Impact"/>
              <a:ea typeface="+mn-ea"/>
              <a:cs typeface="+mn-cs"/>
            </a:endParaRPr>
          </a:p>
        </p:txBody>
      </p:sp>
      <p:sp>
        <p:nvSpPr>
          <p:cNvPr id="6" name="Rectangle 5"/>
          <p:cNvSpPr/>
          <p:nvPr/>
        </p:nvSpPr>
        <p:spPr>
          <a:xfrm>
            <a:off x="3016794" y="5645835"/>
            <a:ext cx="6096000" cy="584775"/>
          </a:xfrm>
          <a:prstGeom prst="rect">
            <a:avLst/>
          </a:prstGeom>
        </p:spPr>
        <p:txBody>
          <a:bodyP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smtClean="0">
                <a:ln>
                  <a:noFill/>
                </a:ln>
                <a:solidFill>
                  <a:srgbClr val="000000"/>
                </a:solidFill>
                <a:effectLst/>
                <a:uLnTx/>
                <a:uFillTx/>
                <a:latin typeface="Constantia" panose="02030602050306030303" pitchFamily="18" charset="0"/>
                <a:ea typeface="+mn-ea"/>
                <a:cs typeface="+mn-cs"/>
              </a:rPr>
              <a:t>20 minutes </a:t>
            </a:r>
            <a:endParaRPr kumimoji="0" lang="en-GB" sz="3200" b="1" i="0" u="none" strike="noStrike" kern="1200" cap="none" spc="0" normalizeH="0" baseline="0" noProof="0" dirty="0">
              <a:ln>
                <a:noFill/>
              </a:ln>
              <a:solidFill>
                <a:prstClr val="black"/>
              </a:solidFill>
              <a:effectLst/>
              <a:uLnTx/>
              <a:uFillTx/>
              <a:latin typeface="Constantia" panose="02030602050306030303" pitchFamily="18" charset="0"/>
              <a:ea typeface="+mn-ea"/>
              <a:cs typeface="+mn-cs"/>
            </a:endParaRPr>
          </a:p>
        </p:txBody>
      </p:sp>
    </p:spTree>
    <p:extLst>
      <p:ext uri="{BB962C8B-B14F-4D97-AF65-F5344CB8AC3E}">
        <p14:creationId xmlns:p14="http://schemas.microsoft.com/office/powerpoint/2010/main" val="519462092"/>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838200" y="365125"/>
            <a:ext cx="10515600" cy="579755"/>
          </a:xfrm>
        </p:spPr>
        <p:txBody>
          <a:bodyPr>
            <a:normAutofit fontScale="90000"/>
          </a:bodyPr>
          <a:lstStyle/>
          <a:p>
            <a:r>
              <a:rPr lang="en-US" sz="4000" b="1" i="1" dirty="0" smtClean="0"/>
              <a:t>Answer all questions </a:t>
            </a:r>
            <a:endParaRPr lang="en-GB" sz="4000" b="1" i="1" dirty="0"/>
          </a:p>
        </p:txBody>
      </p:sp>
      <p:sp>
        <p:nvSpPr>
          <p:cNvPr id="7" name="Content Placeholder 6"/>
          <p:cNvSpPr>
            <a:spLocks noGrp="1"/>
          </p:cNvSpPr>
          <p:nvPr>
            <p:ph idx="1"/>
          </p:nvPr>
        </p:nvSpPr>
        <p:spPr>
          <a:xfrm>
            <a:off x="838200" y="1249680"/>
            <a:ext cx="10515600" cy="5232083"/>
          </a:xfrm>
        </p:spPr>
        <p:txBody>
          <a:bodyPr>
            <a:normAutofit fontScale="92500" lnSpcReduction="10000"/>
          </a:bodyPr>
          <a:lstStyle/>
          <a:p>
            <a:pPr marL="514350" indent="-514350" algn="just">
              <a:buAutoNum type="arabicPeriod"/>
            </a:pPr>
            <a:r>
              <a:rPr lang="en-US" sz="3600" b="1" dirty="0" smtClean="0">
                <a:latin typeface="Constantia" panose="02030602050306030303" pitchFamily="18" charset="0"/>
              </a:rPr>
              <a:t>Under which </a:t>
            </a:r>
            <a:r>
              <a:rPr lang="en-US" sz="3600" b="1" dirty="0">
                <a:latin typeface="Constantia" panose="02030602050306030303" pitchFamily="18" charset="0"/>
              </a:rPr>
              <a:t>category will you classify the </a:t>
            </a:r>
            <a:r>
              <a:rPr lang="en-US" sz="3600" b="1" dirty="0" smtClean="0">
                <a:latin typeface="Constantia" panose="02030602050306030303" pitchFamily="18" charset="0"/>
              </a:rPr>
              <a:t>law </a:t>
            </a:r>
            <a:r>
              <a:rPr lang="en-US" sz="3600" b="1" dirty="0">
                <a:latin typeface="Constantia" panose="02030602050306030303" pitchFamily="18" charset="0"/>
              </a:rPr>
              <a:t>"Thou shalt not murder</a:t>
            </a:r>
            <a:r>
              <a:rPr lang="en-US" sz="3600" b="1" dirty="0" smtClean="0">
                <a:latin typeface="Constantia" panose="02030602050306030303" pitchFamily="18" charset="0"/>
              </a:rPr>
              <a:t>"? Give a Christian ethical justification for your answer </a:t>
            </a:r>
            <a:r>
              <a:rPr lang="en-US" sz="3600" dirty="0" smtClean="0">
                <a:latin typeface="Constantia" panose="02030602050306030303" pitchFamily="18" charset="0"/>
              </a:rPr>
              <a:t>(3 marks) </a:t>
            </a:r>
          </a:p>
          <a:p>
            <a:pPr marL="0" indent="0" algn="just">
              <a:buNone/>
            </a:pPr>
            <a:endParaRPr lang="en-US" sz="3600" dirty="0" smtClean="0">
              <a:latin typeface="Constantia" panose="02030602050306030303" pitchFamily="18" charset="0"/>
            </a:endParaRPr>
          </a:p>
          <a:p>
            <a:pPr marL="742950" indent="-742950" algn="just">
              <a:buFont typeface="+mj-lt"/>
              <a:buAutoNum type="arabicPeriod" startAt="2"/>
            </a:pPr>
            <a:r>
              <a:rPr lang="en-US" sz="3600" b="1" dirty="0" smtClean="0">
                <a:latin typeface="Constantia" panose="02030602050306030303" pitchFamily="18" charset="0"/>
              </a:rPr>
              <a:t>As a </a:t>
            </a:r>
            <a:r>
              <a:rPr lang="en-US" sz="3600" b="1" dirty="0" smtClean="0">
                <a:latin typeface="Constantia" panose="02030602050306030303" pitchFamily="18" charset="0"/>
              </a:rPr>
              <a:t>Christian </a:t>
            </a:r>
            <a:r>
              <a:rPr lang="en-US" sz="3600" b="1" dirty="0" smtClean="0">
                <a:latin typeface="Constantia" panose="02030602050306030303" pitchFamily="18" charset="0"/>
              </a:rPr>
              <a:t>who subscribes to the non-consequentialist ethical view, why would you advise your </a:t>
            </a:r>
            <a:r>
              <a:rPr lang="en-US" sz="3600" b="1" dirty="0" smtClean="0">
                <a:latin typeface="Constantia" panose="02030602050306030303" pitchFamily="18" charset="0"/>
              </a:rPr>
              <a:t>friend </a:t>
            </a:r>
            <a:r>
              <a:rPr lang="en-US" sz="3600" b="1" dirty="0" smtClean="0">
                <a:latin typeface="Constantia" panose="02030602050306030303" pitchFamily="18" charset="0"/>
              </a:rPr>
              <a:t>not to abort an unplanned pregnancy? </a:t>
            </a:r>
            <a:r>
              <a:rPr lang="en-US" sz="3600" dirty="0" smtClean="0">
                <a:latin typeface="Constantia" panose="02030602050306030303" pitchFamily="18" charset="0"/>
              </a:rPr>
              <a:t>(5 marks)</a:t>
            </a:r>
          </a:p>
          <a:p>
            <a:pPr marL="0" indent="0" algn="just">
              <a:buNone/>
            </a:pPr>
            <a:endParaRPr lang="en-US" sz="3600" dirty="0" smtClean="0">
              <a:latin typeface="Constantia" panose="02030602050306030303" pitchFamily="18" charset="0"/>
            </a:endParaRPr>
          </a:p>
          <a:p>
            <a:pPr marL="742950" indent="-742950" algn="just">
              <a:buFont typeface="+mj-lt"/>
              <a:buAutoNum type="arabicPeriod" startAt="3"/>
            </a:pPr>
            <a:r>
              <a:rPr lang="en-US" sz="3600" b="1" dirty="0" smtClean="0">
                <a:latin typeface="Constantia" panose="02030602050306030303" pitchFamily="18" charset="0"/>
              </a:rPr>
              <a:t>What is Scott Rae’s foundational consideration for making moral judgments? </a:t>
            </a:r>
            <a:r>
              <a:rPr lang="en-US" sz="3600" dirty="0" smtClean="0">
                <a:latin typeface="Constantia" panose="02030602050306030303" pitchFamily="18" charset="0"/>
              </a:rPr>
              <a:t>(2marks) </a:t>
            </a:r>
            <a:endParaRPr lang="en-GB" sz="3600" dirty="0">
              <a:latin typeface="Constantia" panose="02030602050306030303" pitchFamily="18" charset="0"/>
            </a:endParaRPr>
          </a:p>
        </p:txBody>
      </p:sp>
    </p:spTree>
    <p:extLst>
      <p:ext uri="{BB962C8B-B14F-4D97-AF65-F5344CB8AC3E}">
        <p14:creationId xmlns:p14="http://schemas.microsoft.com/office/powerpoint/2010/main" val="419406095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92EF6F6-5B92-48AB-B328-0280477F9746}"/>
              </a:ext>
            </a:extLst>
          </p:cNvPr>
          <p:cNvSpPr/>
          <p:nvPr/>
        </p:nvSpPr>
        <p:spPr>
          <a:xfrm>
            <a:off x="435428" y="1966451"/>
            <a:ext cx="11258732" cy="2123658"/>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6600" b="0" i="0" u="none" strike="noStrike" kern="1200" cap="none" spc="0" normalizeH="0" baseline="0" noProof="0" dirty="0" smtClean="0">
                <a:ln>
                  <a:noFill/>
                </a:ln>
                <a:solidFill>
                  <a:srgbClr val="002060"/>
                </a:solidFill>
                <a:effectLst/>
                <a:uLnTx/>
                <a:uFillTx/>
                <a:latin typeface="Impact"/>
                <a:ea typeface="+mn-ea"/>
                <a:cs typeface="+mn-cs"/>
              </a:rPr>
              <a:t>Class Test </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6600" b="0" i="0" u="none" strike="noStrike" kern="1200" cap="none" spc="0" normalizeH="0" baseline="0" noProof="0" dirty="0">
              <a:ln>
                <a:noFill/>
              </a:ln>
              <a:solidFill>
                <a:srgbClr val="002060"/>
              </a:solidFill>
              <a:effectLst/>
              <a:uLnTx/>
              <a:uFillTx/>
              <a:latin typeface="Impact"/>
              <a:ea typeface="+mn-ea"/>
              <a:cs typeface="+mn-cs"/>
            </a:endParaRPr>
          </a:p>
        </p:txBody>
      </p:sp>
      <p:sp>
        <p:nvSpPr>
          <p:cNvPr id="6" name="Rectangle 5"/>
          <p:cNvSpPr/>
          <p:nvPr/>
        </p:nvSpPr>
        <p:spPr>
          <a:xfrm>
            <a:off x="3016794" y="5645835"/>
            <a:ext cx="6096000" cy="584775"/>
          </a:xfrm>
          <a:prstGeom prst="rect">
            <a:avLst/>
          </a:prstGeom>
        </p:spPr>
        <p:txBody>
          <a:bodyP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00000"/>
                </a:solidFill>
                <a:effectLst/>
                <a:uLnTx/>
                <a:uFillTx/>
                <a:latin typeface="Constantia" panose="02030602050306030303" pitchFamily="18" charset="0"/>
                <a:ea typeface="+mn-ea"/>
                <a:cs typeface="+mn-cs"/>
              </a:rPr>
              <a:t>3</a:t>
            </a:r>
            <a:r>
              <a:rPr kumimoji="0" lang="en-US" sz="3200" b="1" i="0" u="none" strike="noStrike" kern="1200" cap="none" spc="0" normalizeH="0" baseline="0" noProof="0" dirty="0" smtClean="0">
                <a:ln>
                  <a:noFill/>
                </a:ln>
                <a:solidFill>
                  <a:srgbClr val="000000"/>
                </a:solidFill>
                <a:effectLst/>
                <a:uLnTx/>
                <a:uFillTx/>
                <a:latin typeface="Constantia" panose="02030602050306030303" pitchFamily="18" charset="0"/>
                <a:ea typeface="+mn-ea"/>
                <a:cs typeface="+mn-cs"/>
              </a:rPr>
              <a:t>0 minutes </a:t>
            </a:r>
            <a:endParaRPr kumimoji="0" lang="en-GB" sz="3200" b="1" i="0" u="none" strike="noStrike" kern="1200" cap="none" spc="0" normalizeH="0" baseline="0" noProof="0" dirty="0">
              <a:ln>
                <a:noFill/>
              </a:ln>
              <a:solidFill>
                <a:prstClr val="black"/>
              </a:solidFill>
              <a:effectLst/>
              <a:uLnTx/>
              <a:uFillTx/>
              <a:latin typeface="Constantia" panose="02030602050306030303" pitchFamily="18" charset="0"/>
              <a:ea typeface="+mn-ea"/>
              <a:cs typeface="+mn-cs"/>
            </a:endParaRPr>
          </a:p>
        </p:txBody>
      </p:sp>
    </p:spTree>
    <p:extLst>
      <p:ext uri="{BB962C8B-B14F-4D97-AF65-F5344CB8AC3E}">
        <p14:creationId xmlns:p14="http://schemas.microsoft.com/office/powerpoint/2010/main" val="2487996344"/>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838200" y="365125"/>
            <a:ext cx="10515600" cy="224155"/>
          </a:xfrm>
        </p:spPr>
        <p:txBody>
          <a:bodyPr>
            <a:normAutofit fontScale="90000"/>
          </a:bodyPr>
          <a:lstStyle/>
          <a:p>
            <a:r>
              <a:rPr lang="en-US" sz="3200" b="1" i="1" dirty="0" smtClean="0">
                <a:latin typeface="Constantia" panose="02030602050306030303" pitchFamily="18" charset="0"/>
              </a:rPr>
              <a:t>Answer all questions – write short answers (10 marks)</a:t>
            </a:r>
            <a:endParaRPr lang="en-GB" sz="3200" b="1" i="1" dirty="0">
              <a:latin typeface="Constantia" panose="02030602050306030303" pitchFamily="18" charset="0"/>
            </a:endParaRPr>
          </a:p>
        </p:txBody>
      </p:sp>
      <p:sp>
        <p:nvSpPr>
          <p:cNvPr id="7" name="Content Placeholder 6"/>
          <p:cNvSpPr>
            <a:spLocks noGrp="1"/>
          </p:cNvSpPr>
          <p:nvPr>
            <p:ph idx="1"/>
          </p:nvPr>
        </p:nvSpPr>
        <p:spPr>
          <a:xfrm>
            <a:off x="294640" y="762000"/>
            <a:ext cx="11684000" cy="5719763"/>
          </a:xfrm>
        </p:spPr>
        <p:txBody>
          <a:bodyPr>
            <a:noAutofit/>
          </a:bodyPr>
          <a:lstStyle/>
          <a:p>
            <a:pPr marL="514350" indent="-514350" algn="just">
              <a:buAutoNum type="arabicPeriod"/>
            </a:pPr>
            <a:r>
              <a:rPr lang="en-US" b="1" dirty="0" smtClean="0">
                <a:latin typeface="Constantia" panose="02030602050306030303" pitchFamily="18" charset="0"/>
              </a:rPr>
              <a:t>What is the difference between ethics and morality? </a:t>
            </a:r>
            <a:r>
              <a:rPr lang="en-US" dirty="0" smtClean="0">
                <a:latin typeface="Constantia" panose="02030602050306030303" pitchFamily="18" charset="0"/>
              </a:rPr>
              <a:t>(1 mark)</a:t>
            </a:r>
          </a:p>
          <a:p>
            <a:pPr marL="0" indent="0" algn="just">
              <a:buNone/>
            </a:pPr>
            <a:endParaRPr lang="en-US" sz="1050" dirty="0" smtClean="0">
              <a:latin typeface="Constantia" panose="02030602050306030303" pitchFamily="18" charset="0"/>
            </a:endParaRPr>
          </a:p>
          <a:p>
            <a:pPr marL="742950" indent="-742950" algn="just">
              <a:buFont typeface="+mj-lt"/>
              <a:buAutoNum type="arabicPeriod" startAt="2"/>
            </a:pPr>
            <a:r>
              <a:rPr lang="en-US" b="1" dirty="0" smtClean="0">
                <a:latin typeface="Constantia" panose="02030602050306030303" pitchFamily="18" charset="0"/>
              </a:rPr>
              <a:t>What five creationist principles mandates humans beings to function within the realms of morality? State only four (4) </a:t>
            </a:r>
            <a:r>
              <a:rPr lang="en-US" dirty="0" smtClean="0">
                <a:latin typeface="Constantia" panose="02030602050306030303" pitchFamily="18" charset="0"/>
              </a:rPr>
              <a:t>(2 marks)</a:t>
            </a:r>
          </a:p>
          <a:p>
            <a:pPr marL="0" indent="0" algn="just">
              <a:buNone/>
            </a:pPr>
            <a:endParaRPr lang="en-US" sz="1000" dirty="0" smtClean="0">
              <a:latin typeface="Constantia" panose="02030602050306030303" pitchFamily="18" charset="0"/>
            </a:endParaRPr>
          </a:p>
          <a:p>
            <a:pPr marL="742950" indent="-742950" algn="just">
              <a:buFont typeface="+mj-lt"/>
              <a:buAutoNum type="arabicPeriod" startAt="3"/>
            </a:pPr>
            <a:r>
              <a:rPr lang="en-US" b="1" dirty="0" smtClean="0">
                <a:latin typeface="Constantia" panose="02030602050306030303" pitchFamily="18" charset="0"/>
              </a:rPr>
              <a:t>State any four (4) of the six (6) characteristics of Christian ethics </a:t>
            </a:r>
            <a:r>
              <a:rPr lang="en-US" dirty="0" smtClean="0">
                <a:latin typeface="Constantia" panose="02030602050306030303" pitchFamily="18" charset="0"/>
              </a:rPr>
              <a:t>(2 marks)</a:t>
            </a:r>
          </a:p>
          <a:p>
            <a:pPr marL="0" indent="0" algn="just">
              <a:buNone/>
            </a:pPr>
            <a:endParaRPr lang="en-US" sz="1050" b="1" dirty="0" smtClean="0">
              <a:latin typeface="Constantia" panose="02030602050306030303" pitchFamily="18" charset="0"/>
            </a:endParaRPr>
          </a:p>
          <a:p>
            <a:pPr marL="742950" indent="-742950" algn="just">
              <a:buFont typeface="+mj-lt"/>
              <a:buAutoNum type="arabicPeriod" startAt="4"/>
            </a:pPr>
            <a:r>
              <a:rPr lang="en-US" b="1" dirty="0" smtClean="0">
                <a:latin typeface="Constantia" panose="02030602050306030303" pitchFamily="18" charset="0"/>
              </a:rPr>
              <a:t>Define ethical </a:t>
            </a:r>
            <a:r>
              <a:rPr lang="en-US" b="1" dirty="0" err="1" smtClean="0">
                <a:latin typeface="Constantia" panose="02030602050306030303" pitchFamily="18" charset="0"/>
              </a:rPr>
              <a:t>situationism</a:t>
            </a:r>
            <a:r>
              <a:rPr lang="en-US" b="1" dirty="0" smtClean="0">
                <a:latin typeface="Constantia" panose="02030602050306030303" pitchFamily="18" charset="0"/>
              </a:rPr>
              <a:t> as proposed by Joseph Fletcher </a:t>
            </a:r>
            <a:r>
              <a:rPr lang="en-US" dirty="0" smtClean="0">
                <a:latin typeface="Constantia" panose="02030602050306030303" pitchFamily="18" charset="0"/>
              </a:rPr>
              <a:t>(2 marks)</a:t>
            </a:r>
          </a:p>
          <a:p>
            <a:pPr marL="0" indent="0" algn="just">
              <a:buNone/>
            </a:pPr>
            <a:endParaRPr lang="en-US" sz="1100" dirty="0" smtClean="0">
              <a:latin typeface="Constantia" panose="02030602050306030303" pitchFamily="18" charset="0"/>
            </a:endParaRPr>
          </a:p>
          <a:p>
            <a:pPr marL="742950" indent="-742950" algn="just">
              <a:buFont typeface="+mj-lt"/>
              <a:buAutoNum type="arabicPeriod" startAt="5"/>
            </a:pPr>
            <a:r>
              <a:rPr lang="en-US" b="1" dirty="0" smtClean="0">
                <a:latin typeface="Constantia" panose="02030602050306030303" pitchFamily="18" charset="0"/>
              </a:rPr>
              <a:t>Under which type of ethics would you classify the ethical injunction, “thou shalt not steal”? State two characteristics of that type of ethics (3marks) </a:t>
            </a:r>
            <a:endParaRPr lang="en-GB" b="1" dirty="0">
              <a:latin typeface="Constantia" panose="02030602050306030303" pitchFamily="18" charset="0"/>
            </a:endParaRPr>
          </a:p>
        </p:txBody>
      </p:sp>
    </p:spTree>
    <p:extLst>
      <p:ext uri="{BB962C8B-B14F-4D97-AF65-F5344CB8AC3E}">
        <p14:creationId xmlns:p14="http://schemas.microsoft.com/office/powerpoint/2010/main" val="3457583496"/>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9D1D72DC-E77C-4DAA-8CCF-DFBE989CB0FB}"/>
              </a:ext>
            </a:extLst>
          </p:cNvPr>
          <p:cNvSpPr>
            <a:spLocks noGrp="1"/>
          </p:cNvSpPr>
          <p:nvPr>
            <p:ph type="body" sz="half" idx="2"/>
          </p:nvPr>
        </p:nvSpPr>
        <p:spPr>
          <a:xfrm>
            <a:off x="7042536" y="2637011"/>
            <a:ext cx="4821905" cy="4414183"/>
          </a:xfrm>
        </p:spPr>
        <p:txBody>
          <a:bodyPr>
            <a:normAutofit/>
          </a:bodyPr>
          <a:lstStyle/>
          <a:p>
            <a:pPr marL="0" indent="0" algn="ctr">
              <a:buNone/>
            </a:pPr>
            <a:r>
              <a:rPr lang="en-US" sz="4000" b="1" dirty="0" smtClean="0"/>
              <a:t>“The African is notoriously religious”</a:t>
            </a:r>
          </a:p>
          <a:p>
            <a:pPr marL="0" indent="0" algn="ctr">
              <a:buNone/>
            </a:pPr>
            <a:r>
              <a:rPr lang="en-US" sz="4000" b="1" i="1" dirty="0" smtClean="0"/>
              <a:t>- J. S. </a:t>
            </a:r>
            <a:r>
              <a:rPr lang="en-US" sz="4000" b="1" i="1" dirty="0" err="1" smtClean="0"/>
              <a:t>Mbiti</a:t>
            </a:r>
            <a:r>
              <a:rPr lang="en-US" sz="4000" b="1" i="1" dirty="0" smtClean="0"/>
              <a:t>, 1969</a:t>
            </a:r>
            <a:endParaRPr lang="en-GB" sz="4000" b="1" i="1" dirty="0"/>
          </a:p>
        </p:txBody>
      </p:sp>
      <p:sp>
        <p:nvSpPr>
          <p:cNvPr id="8" name="Rectangle 7">
            <a:extLst>
              <a:ext uri="{FF2B5EF4-FFF2-40B4-BE49-F238E27FC236}">
                <a16:creationId xmlns:a16="http://schemas.microsoft.com/office/drawing/2014/main" id="{192EF6F6-5B92-48AB-B328-0280477F9746}"/>
              </a:ext>
            </a:extLst>
          </p:cNvPr>
          <p:cNvSpPr/>
          <p:nvPr/>
        </p:nvSpPr>
        <p:spPr>
          <a:xfrm>
            <a:off x="435428" y="1966451"/>
            <a:ext cx="6495348" cy="3139321"/>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6600" b="0" i="0" u="none" strike="noStrike" kern="1200" cap="none" spc="0" normalizeH="0" baseline="0" noProof="0" dirty="0" smtClean="0">
                <a:ln>
                  <a:noFill/>
                </a:ln>
                <a:solidFill>
                  <a:srgbClr val="002060"/>
                </a:solidFill>
                <a:effectLst/>
                <a:uLnTx/>
                <a:uFillTx/>
                <a:latin typeface="Impact"/>
                <a:ea typeface="+mn-ea"/>
                <a:cs typeface="+mn-cs"/>
              </a:rPr>
              <a:t>Viewing Christian Ethics with African Lenses </a:t>
            </a:r>
            <a:endParaRPr kumimoji="0" lang="en-GB" sz="1800" b="0" i="0" u="none" strike="noStrike" kern="1200" cap="none" spc="0" normalizeH="0" baseline="0" noProof="0" dirty="0">
              <a:ln>
                <a:noFill/>
              </a:ln>
              <a:solidFill>
                <a:srgbClr val="00206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34675376"/>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212035" y="2319154"/>
            <a:ext cx="7184815" cy="2219691"/>
          </a:xfrm>
        </p:spPr>
        <p:txBody>
          <a:bodyPr anchor="ctr">
            <a:normAutofit/>
          </a:bodyPr>
          <a:lstStyle/>
          <a:p>
            <a:pPr algn="ctr"/>
            <a:r>
              <a:rPr lang="en-US" sz="4800" b="1" dirty="0"/>
              <a:t>Customary OR Traditional Reflective Morality</a:t>
            </a:r>
            <a:endParaRPr lang="en-GB" sz="4800" b="1" dirty="0"/>
          </a:p>
        </p:txBody>
      </p:sp>
      <p:pic>
        <p:nvPicPr>
          <p:cNvPr id="4" name="Picture Placeholder 3" descr="Open book on table, blurred shelves of books in background"/>
          <p:cNvPicPr>
            <a:picLocks noGrp="1" noChangeAspect="1"/>
          </p:cNvPicPr>
          <p:nvPr>
            <p:ph type="pic" sz="quarter" idx="13"/>
          </p:nvPr>
        </p:nvPicPr>
        <p:blipFill>
          <a:blip r:embed="rId3" cstate="print">
            <a:extLst>
              <a:ext uri="{28A0092B-C50C-407E-A947-70E740481C1C}">
                <a14:useLocalDpi xmlns:a14="http://schemas.microsoft.com/office/drawing/2010/main" val="0"/>
              </a:ext>
            </a:extLst>
          </a:blip>
          <a:srcRect l="8890" r="8890"/>
          <a:stretch>
            <a:fillRect/>
          </a:stretch>
        </p:blipFill>
        <p:spPr>
          <a:xfrm>
            <a:off x="7396850" y="1310656"/>
            <a:ext cx="4795150" cy="4208604"/>
          </a:xfrm>
        </p:spPr>
      </p:pic>
    </p:spTree>
    <p:extLst>
      <p:ext uri="{BB962C8B-B14F-4D97-AF65-F5344CB8AC3E}">
        <p14:creationId xmlns:p14="http://schemas.microsoft.com/office/powerpoint/2010/main" val="10255435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b="1" dirty="0"/>
              <a:t>Traditional/Reflective Morality</a:t>
            </a:r>
          </a:p>
        </p:txBody>
      </p:sp>
      <p:sp>
        <p:nvSpPr>
          <p:cNvPr id="14" name="Content Placeholder 13"/>
          <p:cNvSpPr>
            <a:spLocks noGrp="1"/>
          </p:cNvSpPr>
          <p:nvPr>
            <p:ph idx="1"/>
          </p:nvPr>
        </p:nvSpPr>
        <p:spPr/>
        <p:txBody>
          <a:bodyPr>
            <a:normAutofit/>
          </a:bodyPr>
          <a:lstStyle/>
          <a:p>
            <a:r>
              <a:rPr lang="en-US" sz="2400" dirty="0"/>
              <a:t>We are all born into certain indigenous moral settings. These indigenous moral settings are traditional and customary to our specific circumstances, whether environmental, religious, political or social. It is often called </a:t>
            </a:r>
            <a:r>
              <a:rPr lang="en-US" sz="2400" b="1" dirty="0"/>
              <a:t>first morality</a:t>
            </a:r>
            <a:r>
              <a:rPr lang="en-US" sz="2400" dirty="0"/>
              <a:t>. </a:t>
            </a:r>
          </a:p>
          <a:p>
            <a:r>
              <a:rPr lang="en-US" sz="2400" dirty="0"/>
              <a:t>We come in contact with the morality that exists in various cultures and society and is usually based on custom or tradition. It is presented to its members without critical analysis or evaluation. Throughout their childhood and adult years many customs and traditions are quite effective and helpful in creating moral societies but to be effective and continuously applicable to the members of a society. </a:t>
            </a:r>
          </a:p>
          <a:p>
            <a:r>
              <a:rPr lang="en-US" sz="2400" dirty="0"/>
              <a:t>They must be critically analyzed, tested and evaluated and this is where reflective morality comes in.</a:t>
            </a:r>
            <a:endParaRPr lang="en-GB" sz="2400" dirty="0"/>
          </a:p>
        </p:txBody>
      </p:sp>
    </p:spTree>
    <p:extLst>
      <p:ext uri="{BB962C8B-B14F-4D97-AF65-F5344CB8AC3E}">
        <p14:creationId xmlns:p14="http://schemas.microsoft.com/office/powerpoint/2010/main" val="22806735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b="1" dirty="0"/>
              <a:t>What is Reflective Morality?</a:t>
            </a:r>
          </a:p>
        </p:txBody>
      </p:sp>
      <p:sp>
        <p:nvSpPr>
          <p:cNvPr id="14" name="Content Placeholder 13"/>
          <p:cNvSpPr>
            <a:spLocks noGrp="1"/>
          </p:cNvSpPr>
          <p:nvPr>
            <p:ph idx="1"/>
          </p:nvPr>
        </p:nvSpPr>
        <p:spPr>
          <a:xfrm>
            <a:off x="1047749" y="1414669"/>
            <a:ext cx="10269607" cy="4572000"/>
          </a:xfrm>
        </p:spPr>
        <p:txBody>
          <a:bodyPr>
            <a:noAutofit/>
          </a:bodyPr>
          <a:lstStyle/>
          <a:p>
            <a:r>
              <a:rPr lang="en-US" sz="2400" dirty="0">
                <a:solidFill>
                  <a:schemeClr val="tx2"/>
                </a:solidFill>
              </a:rPr>
              <a:t>Philosophers in general demand of themselves and others that every human belief, proposition or idea be examined carefully and critically to ensure that it has its basis in truth. </a:t>
            </a:r>
          </a:p>
          <a:p>
            <a:r>
              <a:rPr lang="en-US" sz="2400" dirty="0">
                <a:solidFill>
                  <a:schemeClr val="tx2"/>
                </a:solidFill>
              </a:rPr>
              <a:t>Morality is no different from any other area of philosophic study in this respect. </a:t>
            </a:r>
          </a:p>
          <a:p>
            <a:r>
              <a:rPr lang="en-US" sz="2400" dirty="0">
                <a:solidFill>
                  <a:schemeClr val="tx2"/>
                </a:solidFill>
              </a:rPr>
              <a:t>Philosophers do not suggest that customs or traditions be eliminated or thrown out, but they do urge human beings to use reason to examine the basis and effectiveness of all moral teachings or rules, no matter how traditional or accepted they are. In other words, philosophy requires human beings to reflect on their moral customs and traditions to determine whether they should be retained or eliminated. </a:t>
            </a:r>
          </a:p>
          <a:p>
            <a:r>
              <a:rPr lang="en-US" sz="2400" dirty="0">
                <a:solidFill>
                  <a:schemeClr val="tx2"/>
                </a:solidFill>
              </a:rPr>
              <a:t>The Greek philosopher called Socrates (470? – 399) said, </a:t>
            </a:r>
            <a:r>
              <a:rPr lang="en-US" sz="2400" b="1" i="1" dirty="0">
                <a:solidFill>
                  <a:schemeClr val="tx2"/>
                </a:solidFill>
              </a:rPr>
              <a:t>The unexamined life is not worth living by.</a:t>
            </a:r>
          </a:p>
        </p:txBody>
      </p:sp>
    </p:spTree>
    <p:extLst>
      <p:ext uri="{BB962C8B-B14F-4D97-AF65-F5344CB8AC3E}">
        <p14:creationId xmlns:p14="http://schemas.microsoft.com/office/powerpoint/2010/main" val="1798533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b="1" dirty="0"/>
              <a:t>What is Reflective Morality?</a:t>
            </a:r>
          </a:p>
        </p:txBody>
      </p:sp>
      <p:sp>
        <p:nvSpPr>
          <p:cNvPr id="14" name="Content Placeholder 13"/>
          <p:cNvSpPr>
            <a:spLocks noGrp="1"/>
          </p:cNvSpPr>
          <p:nvPr>
            <p:ph idx="1"/>
          </p:nvPr>
        </p:nvSpPr>
        <p:spPr>
          <a:xfrm>
            <a:off x="1104899" y="1600200"/>
            <a:ext cx="10106439" cy="4572000"/>
          </a:xfrm>
        </p:spPr>
        <p:txBody>
          <a:bodyPr>
            <a:noAutofit/>
          </a:bodyPr>
          <a:lstStyle/>
          <a:p>
            <a:r>
              <a:rPr lang="en-US" sz="2400" dirty="0">
                <a:solidFill>
                  <a:schemeClr val="tx2"/>
                </a:solidFill>
              </a:rPr>
              <a:t>For morality, a corollary might be experienced. Therefore, just as people should not accept statements or propositions for which there is no proof or significant logical argument, so they should not accept moral customs or traditions without first testing them against proof, reason and their experience – </a:t>
            </a:r>
            <a:r>
              <a:rPr lang="en-US" sz="2400" b="1" dirty="0">
                <a:solidFill>
                  <a:schemeClr val="tx2"/>
                </a:solidFill>
              </a:rPr>
              <a:t>“the unexamined custom or tradition is not worth living by.”</a:t>
            </a:r>
            <a:endParaRPr lang="en-US" sz="2400" b="1" dirty="0"/>
          </a:p>
          <a:p>
            <a:r>
              <a:rPr lang="en-US" sz="2400" dirty="0"/>
              <a:t>It is important then that all customs, traditions, systems of ethics, rules, and ethical theories be carefully analyzed and critically evaluated before we continue to accept or live by them. </a:t>
            </a:r>
          </a:p>
          <a:p>
            <a:r>
              <a:rPr lang="en-US" sz="2400" dirty="0"/>
              <a:t>Again, we should not reject them out of hand, but neither should we endorse them wholeheartedly unless we have subjected them to careful logical scrutiny. </a:t>
            </a:r>
          </a:p>
          <a:p>
            <a:r>
              <a:rPr lang="en-US" sz="2400" dirty="0"/>
              <a:t>Be reflective in dealing with morality and moral issues.</a:t>
            </a:r>
            <a:endParaRPr lang="en-GB" sz="2400" dirty="0"/>
          </a:p>
          <a:p>
            <a:pPr marL="0" indent="0">
              <a:buNone/>
            </a:pPr>
            <a:endParaRPr lang="en-GB" sz="2400" dirty="0"/>
          </a:p>
        </p:txBody>
      </p:sp>
    </p:spTree>
    <p:extLst>
      <p:ext uri="{BB962C8B-B14F-4D97-AF65-F5344CB8AC3E}">
        <p14:creationId xmlns:p14="http://schemas.microsoft.com/office/powerpoint/2010/main" val="3750656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04900" y="1600200"/>
            <a:ext cx="4659796" cy="4572000"/>
          </a:xfrm>
        </p:spPr>
        <p:txBody>
          <a:bodyPr>
            <a:normAutofit/>
          </a:bodyPr>
          <a:lstStyle/>
          <a:p>
            <a:r>
              <a:rPr lang="en-US" sz="5400" b="1" dirty="0"/>
              <a:t>THE CONSCIENCE</a:t>
            </a:r>
            <a:endParaRPr lang="en-GB" sz="5400" b="1" dirty="0"/>
          </a:p>
        </p:txBody>
      </p:sp>
      <p:pic>
        <p:nvPicPr>
          <p:cNvPr id="5" name="Picture Placeholder 4" descr="Close-up of books on shelves with more books blurred in foreground and background"/>
          <p:cNvPicPr>
            <a:picLocks noGrp="1" noChangeAspect="1"/>
          </p:cNvPicPr>
          <p:nvPr>
            <p:ph type="pic" idx="1"/>
          </p:nvPr>
        </p:nvPicPr>
        <p:blipFill>
          <a:blip r:embed="rId2" cstate="print">
            <a:extLst>
              <a:ext uri="{28A0092B-C50C-407E-A947-70E740481C1C}">
                <a14:useLocalDpi xmlns:a14="http://schemas.microsoft.com/office/drawing/2010/main" val="0"/>
              </a:ext>
            </a:extLst>
          </a:blip>
          <a:srcRect l="3155" r="3155"/>
          <a:stretch>
            <a:fillRect/>
          </a:stretch>
        </p:blipFill>
        <p:spPr>
          <a:xfrm>
            <a:off x="5923722" y="1600199"/>
            <a:ext cx="5161860" cy="4572001"/>
          </a:xfrm>
        </p:spPr>
      </p:pic>
    </p:spTree>
    <p:extLst>
      <p:ext uri="{BB962C8B-B14F-4D97-AF65-F5344CB8AC3E}">
        <p14:creationId xmlns:p14="http://schemas.microsoft.com/office/powerpoint/2010/main" val="765500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887896" y="1600200"/>
            <a:ext cx="6294782" cy="4572000"/>
          </a:xfrm>
        </p:spPr>
        <p:txBody>
          <a:bodyPr>
            <a:noAutofit/>
          </a:bodyPr>
          <a:lstStyle/>
          <a:p>
            <a:pPr marL="342900" indent="-342900">
              <a:buFont typeface="Arial" panose="020B0604020202020204" pitchFamily="34" charset="0"/>
              <a:buChar char="•"/>
            </a:pPr>
            <a:r>
              <a:rPr lang="en-US" sz="2400" dirty="0">
                <a:solidFill>
                  <a:schemeClr val="tx2"/>
                </a:solidFill>
                <a:latin typeface="Garamond" panose="02020404030301010803" pitchFamily="18" charset="0"/>
              </a:rPr>
              <a:t>Of all the differences between human beings and the lower animals, the moral sense or conscience is by far the most important.</a:t>
            </a:r>
          </a:p>
          <a:p>
            <a:pPr marL="342900" indent="-342900">
              <a:buFont typeface="Arial" panose="020B0604020202020204" pitchFamily="34" charset="0"/>
              <a:buChar char="•"/>
            </a:pPr>
            <a:r>
              <a:rPr lang="en-US" sz="2400" dirty="0">
                <a:solidFill>
                  <a:schemeClr val="tx2"/>
                </a:solidFill>
                <a:latin typeface="Garamond" panose="02020404030301010803" pitchFamily="18" charset="0"/>
              </a:rPr>
              <a:t>It is summed up in that short but imperious word “ought” a word with so high significance. </a:t>
            </a:r>
          </a:p>
          <a:p>
            <a:pPr marL="342900" indent="-342900">
              <a:buFont typeface="Arial" panose="020B0604020202020204" pitchFamily="34" charset="0"/>
              <a:buChar char="•"/>
            </a:pPr>
            <a:r>
              <a:rPr lang="en-US" sz="2400" dirty="0">
                <a:solidFill>
                  <a:schemeClr val="tx2"/>
                </a:solidFill>
                <a:latin typeface="Garamond" panose="02020404030301010803" pitchFamily="18" charset="0"/>
              </a:rPr>
              <a:t>It is the most noble of all the attributes of man leading him without a moment’s hesitation to form the genius of his/her life that differentiates him from other creatures. </a:t>
            </a:r>
          </a:p>
          <a:p>
            <a:pPr marL="342900" indent="-342900">
              <a:buFont typeface="Arial" panose="020B0604020202020204" pitchFamily="34" charset="0"/>
              <a:buChar char="•"/>
            </a:pPr>
            <a:r>
              <a:rPr lang="en-US" sz="2400" dirty="0">
                <a:solidFill>
                  <a:schemeClr val="tx2"/>
                </a:solidFill>
                <a:latin typeface="Garamond" panose="02020404030301010803" pitchFamily="18" charset="0"/>
              </a:rPr>
              <a:t>The conscience impels simply by the deep feeling of right or duty, to sacrifice it in some great cause.</a:t>
            </a:r>
            <a:endParaRPr lang="en-GB" sz="2400" dirty="0">
              <a:solidFill>
                <a:schemeClr val="tx2"/>
              </a:solidFill>
              <a:latin typeface="Garamond" panose="02020404030301010803" pitchFamily="18" charset="0"/>
            </a:endParaRPr>
          </a:p>
          <a:p>
            <a:pPr marL="342900" indent="-342900">
              <a:buFont typeface="Arial" panose="020B0604020202020204" pitchFamily="34" charset="0"/>
              <a:buChar char="•"/>
            </a:pPr>
            <a:r>
              <a:rPr lang="en-US" sz="2400" dirty="0">
                <a:solidFill>
                  <a:schemeClr val="tx2"/>
                </a:solidFill>
                <a:latin typeface="Garamond" panose="02020404030301010803" pitchFamily="18" charset="0"/>
              </a:rPr>
              <a:t>Charles Darwin (cited in the prologue to Marc D. Hauser, Moral minds)	</a:t>
            </a:r>
            <a:endParaRPr lang="en-GB" sz="2400" b="1" dirty="0">
              <a:solidFill>
                <a:schemeClr val="tx2"/>
              </a:solidFill>
              <a:latin typeface="Garamond" panose="02020404030301010803" pitchFamily="18" charset="0"/>
            </a:endParaRPr>
          </a:p>
        </p:txBody>
      </p:sp>
      <p:pic>
        <p:nvPicPr>
          <p:cNvPr id="5" name="Picture Placeholder 4" descr="Close-up of books on shelves with more books blurred in foreground and background"/>
          <p:cNvPicPr>
            <a:picLocks noGrp="1" noChangeAspect="1"/>
          </p:cNvPicPr>
          <p:nvPr>
            <p:ph type="pic" idx="1"/>
          </p:nvPr>
        </p:nvPicPr>
        <p:blipFill>
          <a:blip r:embed="rId2" cstate="print">
            <a:extLst>
              <a:ext uri="{28A0092B-C50C-407E-A947-70E740481C1C}">
                <a14:useLocalDpi xmlns:a14="http://schemas.microsoft.com/office/drawing/2010/main" val="0"/>
              </a:ext>
            </a:extLst>
          </a:blip>
          <a:srcRect l="3155" r="3155"/>
          <a:stretch>
            <a:fillRect/>
          </a:stretch>
        </p:blipFill>
        <p:spPr>
          <a:xfrm>
            <a:off x="7326954" y="1600199"/>
            <a:ext cx="3758627" cy="4058479"/>
          </a:xfrm>
        </p:spPr>
      </p:pic>
      <p:sp>
        <p:nvSpPr>
          <p:cNvPr id="6" name="Title 12">
            <a:extLst>
              <a:ext uri="{FF2B5EF4-FFF2-40B4-BE49-F238E27FC236}">
                <a16:creationId xmlns:a16="http://schemas.microsoft.com/office/drawing/2014/main" id="{8CD75CFB-52FB-4D4F-89BD-E1B03A7C4288}"/>
              </a:ext>
            </a:extLst>
          </p:cNvPr>
          <p:cNvSpPr>
            <a:spLocks noGrp="1"/>
          </p:cNvSpPr>
          <p:nvPr>
            <p:ph type="title"/>
          </p:nvPr>
        </p:nvSpPr>
        <p:spPr>
          <a:xfrm>
            <a:off x="1104900" y="76200"/>
            <a:ext cx="9980682" cy="1096962"/>
          </a:xfrm>
        </p:spPr>
        <p:txBody>
          <a:bodyPr/>
          <a:lstStyle/>
          <a:p>
            <a:r>
              <a:rPr lang="en-US" b="1" dirty="0"/>
              <a:t>What is Conscience?</a:t>
            </a:r>
          </a:p>
        </p:txBody>
      </p:sp>
    </p:spTree>
    <p:extLst>
      <p:ext uri="{BB962C8B-B14F-4D97-AF65-F5344CB8AC3E}">
        <p14:creationId xmlns:p14="http://schemas.microsoft.com/office/powerpoint/2010/main" val="4230957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887896" y="1600199"/>
            <a:ext cx="7527234" cy="4588565"/>
          </a:xfrm>
        </p:spPr>
        <p:txBody>
          <a:bodyPr>
            <a:noAutofit/>
          </a:bodyPr>
          <a:lstStyle/>
          <a:p>
            <a:pPr marL="342900" indent="-342900">
              <a:buFont typeface="Arial" panose="020B0604020202020204" pitchFamily="34" charset="0"/>
              <a:buChar char="•"/>
            </a:pPr>
            <a:r>
              <a:rPr lang="en-GB" sz="3200" dirty="0">
                <a:solidFill>
                  <a:schemeClr val="tx2"/>
                </a:solidFill>
                <a:latin typeface="Garamond" panose="02020404030301010803" pitchFamily="18" charset="0"/>
              </a:rPr>
              <a:t>The  word “conscience” is a blend of two Latin words </a:t>
            </a:r>
            <a:r>
              <a:rPr lang="en-GB" sz="3200" b="1" dirty="0">
                <a:solidFill>
                  <a:schemeClr val="tx2"/>
                </a:solidFill>
                <a:latin typeface="Garamond" panose="02020404030301010803" pitchFamily="18" charset="0"/>
              </a:rPr>
              <a:t>con </a:t>
            </a:r>
            <a:r>
              <a:rPr lang="en-GB" sz="3200" dirty="0">
                <a:solidFill>
                  <a:schemeClr val="tx2"/>
                </a:solidFill>
                <a:latin typeface="Garamond" panose="02020404030301010803" pitchFamily="18" charset="0"/>
              </a:rPr>
              <a:t>(with) + </a:t>
            </a:r>
            <a:r>
              <a:rPr lang="en-GB" sz="3200" b="1" dirty="0" err="1">
                <a:solidFill>
                  <a:schemeClr val="tx2"/>
                </a:solidFill>
                <a:latin typeface="Garamond" panose="02020404030301010803" pitchFamily="18" charset="0"/>
              </a:rPr>
              <a:t>scientia</a:t>
            </a:r>
            <a:r>
              <a:rPr lang="en-GB" sz="3200" b="1" dirty="0">
                <a:solidFill>
                  <a:schemeClr val="tx2"/>
                </a:solidFill>
                <a:latin typeface="Garamond" panose="02020404030301010803" pitchFamily="18" charset="0"/>
              </a:rPr>
              <a:t> </a:t>
            </a:r>
            <a:r>
              <a:rPr lang="en-GB" sz="3200" dirty="0">
                <a:solidFill>
                  <a:schemeClr val="tx2"/>
                </a:solidFill>
                <a:latin typeface="Garamond" panose="02020404030301010803" pitchFamily="18" charset="0"/>
              </a:rPr>
              <a:t>(knowledge) or more appropriately </a:t>
            </a:r>
            <a:r>
              <a:rPr lang="en-GB" sz="3200" b="1" dirty="0">
                <a:solidFill>
                  <a:schemeClr val="tx2"/>
                </a:solidFill>
                <a:latin typeface="Garamond" panose="02020404030301010803" pitchFamily="18" charset="0"/>
              </a:rPr>
              <a:t>cum </a:t>
            </a:r>
            <a:r>
              <a:rPr lang="en-GB" sz="3200" dirty="0">
                <a:solidFill>
                  <a:schemeClr val="tx2"/>
                </a:solidFill>
                <a:latin typeface="Garamond" panose="02020404030301010803" pitchFamily="18" charset="0"/>
              </a:rPr>
              <a:t>(together) + </a:t>
            </a:r>
            <a:r>
              <a:rPr lang="en-GB" sz="3200" b="1" dirty="0" err="1">
                <a:solidFill>
                  <a:schemeClr val="tx2"/>
                </a:solidFill>
                <a:latin typeface="Garamond" panose="02020404030301010803" pitchFamily="18" charset="0"/>
              </a:rPr>
              <a:t>scire</a:t>
            </a:r>
            <a:r>
              <a:rPr lang="en-GB" sz="3200" b="1" dirty="0">
                <a:solidFill>
                  <a:schemeClr val="tx2"/>
                </a:solidFill>
                <a:latin typeface="Garamond" panose="02020404030301010803" pitchFamily="18" charset="0"/>
              </a:rPr>
              <a:t> </a:t>
            </a:r>
            <a:r>
              <a:rPr lang="en-GB" sz="3200" dirty="0">
                <a:solidFill>
                  <a:schemeClr val="tx2"/>
                </a:solidFill>
                <a:latin typeface="Garamond" panose="02020404030301010803" pitchFamily="18" charset="0"/>
              </a:rPr>
              <a:t>(to know).</a:t>
            </a:r>
          </a:p>
          <a:p>
            <a:pPr marL="342900" indent="-342900">
              <a:buFont typeface="Arial" panose="020B0604020202020204" pitchFamily="34" charset="0"/>
              <a:buChar char="•"/>
            </a:pPr>
            <a:r>
              <a:rPr lang="en-GB" sz="3200" dirty="0">
                <a:solidFill>
                  <a:schemeClr val="tx2"/>
                </a:solidFill>
                <a:latin typeface="Garamond" panose="02020404030301010803" pitchFamily="18" charset="0"/>
              </a:rPr>
              <a:t>Thus “conscience” means </a:t>
            </a:r>
            <a:r>
              <a:rPr lang="en-GB" sz="3200" i="1" dirty="0">
                <a:solidFill>
                  <a:schemeClr val="tx2"/>
                </a:solidFill>
                <a:latin typeface="Garamond" panose="02020404030301010803" pitchFamily="18" charset="0"/>
              </a:rPr>
              <a:t>knowing together</a:t>
            </a:r>
            <a:r>
              <a:rPr lang="en-GB" sz="3200" dirty="0">
                <a:solidFill>
                  <a:schemeClr val="tx2"/>
                </a:solidFill>
                <a:latin typeface="Garamond" panose="02020404030301010803" pitchFamily="18" charset="0"/>
              </a:rPr>
              <a:t>, literally.</a:t>
            </a:r>
          </a:p>
          <a:p>
            <a:pPr marL="342900" indent="-342900">
              <a:buFont typeface="Arial" panose="020B0604020202020204" pitchFamily="34" charset="0"/>
              <a:buChar char="•"/>
            </a:pPr>
            <a:r>
              <a:rPr lang="en-GB" sz="3200" dirty="0">
                <a:solidFill>
                  <a:schemeClr val="tx2"/>
                </a:solidFill>
                <a:latin typeface="Garamond" panose="02020404030301010803" pitchFamily="18" charset="0"/>
              </a:rPr>
              <a:t>Several definitions have been advanced in a quest to explain this central human creationist endowment.</a:t>
            </a:r>
          </a:p>
        </p:txBody>
      </p:sp>
      <p:pic>
        <p:nvPicPr>
          <p:cNvPr id="5" name="Picture Placeholder 4" descr="Close-up of books on shelves with more books blurred in foreground and background"/>
          <p:cNvPicPr>
            <a:picLocks noGrp="1" noChangeAspect="1"/>
          </p:cNvPicPr>
          <p:nvPr>
            <p:ph type="pic" idx="1"/>
          </p:nvPr>
        </p:nvPicPr>
        <p:blipFill>
          <a:blip r:embed="rId2" cstate="print">
            <a:extLst>
              <a:ext uri="{28A0092B-C50C-407E-A947-70E740481C1C}">
                <a14:useLocalDpi xmlns:a14="http://schemas.microsoft.com/office/drawing/2010/main" val="0"/>
              </a:ext>
            </a:extLst>
          </a:blip>
          <a:srcRect l="3155" r="3155"/>
          <a:stretch>
            <a:fillRect/>
          </a:stretch>
        </p:blipFill>
        <p:spPr>
          <a:xfrm>
            <a:off x="8415130" y="1600200"/>
            <a:ext cx="2670451" cy="2883492"/>
          </a:xfrm>
        </p:spPr>
      </p:pic>
      <p:sp>
        <p:nvSpPr>
          <p:cNvPr id="6" name="Title 12">
            <a:extLst>
              <a:ext uri="{FF2B5EF4-FFF2-40B4-BE49-F238E27FC236}">
                <a16:creationId xmlns:a16="http://schemas.microsoft.com/office/drawing/2014/main" id="{8CD75CFB-52FB-4D4F-89BD-E1B03A7C4288}"/>
              </a:ext>
            </a:extLst>
          </p:cNvPr>
          <p:cNvSpPr>
            <a:spLocks noGrp="1"/>
          </p:cNvSpPr>
          <p:nvPr>
            <p:ph type="title"/>
          </p:nvPr>
        </p:nvSpPr>
        <p:spPr>
          <a:xfrm>
            <a:off x="1104900" y="76200"/>
            <a:ext cx="9980682" cy="1096962"/>
          </a:xfrm>
        </p:spPr>
        <p:txBody>
          <a:bodyPr/>
          <a:lstStyle/>
          <a:p>
            <a:r>
              <a:rPr lang="en-US" b="1" dirty="0"/>
              <a:t>What is Conscience?</a:t>
            </a:r>
          </a:p>
        </p:txBody>
      </p:sp>
    </p:spTree>
    <p:extLst>
      <p:ext uri="{BB962C8B-B14F-4D97-AF65-F5344CB8AC3E}">
        <p14:creationId xmlns:p14="http://schemas.microsoft.com/office/powerpoint/2010/main" val="193409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887896" y="1600199"/>
            <a:ext cx="7023652" cy="4588565"/>
          </a:xfrm>
        </p:spPr>
        <p:txBody>
          <a:bodyPr>
            <a:noAutofit/>
          </a:bodyPr>
          <a:lstStyle/>
          <a:p>
            <a:pPr marL="342900" indent="-342900">
              <a:buFont typeface="Arial" panose="020B0604020202020204" pitchFamily="34" charset="0"/>
              <a:buChar char="•"/>
            </a:pPr>
            <a:r>
              <a:rPr lang="en-GB" sz="3200" dirty="0">
                <a:solidFill>
                  <a:schemeClr val="tx2"/>
                </a:solidFill>
                <a:latin typeface="Garamond" panose="02020404030301010803" pitchFamily="18" charset="0"/>
              </a:rPr>
              <a:t>Conscience is our lived </a:t>
            </a:r>
            <a:r>
              <a:rPr lang="en-GB" sz="3200" b="1" i="1" dirty="0">
                <a:solidFill>
                  <a:schemeClr val="tx2"/>
                </a:solidFill>
                <a:latin typeface="Garamond" panose="02020404030301010803" pitchFamily="18" charset="0"/>
              </a:rPr>
              <a:t>knowledge</a:t>
            </a:r>
            <a:r>
              <a:rPr lang="en-GB" sz="3200" i="1" dirty="0">
                <a:solidFill>
                  <a:schemeClr val="tx2"/>
                </a:solidFill>
                <a:latin typeface="Garamond" panose="02020404030301010803" pitchFamily="18" charset="0"/>
              </a:rPr>
              <a:t> </a:t>
            </a:r>
            <a:r>
              <a:rPr lang="en-GB" sz="3200" dirty="0">
                <a:solidFill>
                  <a:schemeClr val="tx2"/>
                </a:solidFill>
                <a:latin typeface="Garamond" panose="02020404030301010803" pitchFamily="18" charset="0"/>
              </a:rPr>
              <a:t>of good and evil. Our </a:t>
            </a:r>
            <a:r>
              <a:rPr lang="en-GB" sz="3200" b="1" i="1" dirty="0">
                <a:solidFill>
                  <a:schemeClr val="tx2"/>
                </a:solidFill>
                <a:latin typeface="Garamond" panose="02020404030301010803" pitchFamily="18" charset="0"/>
              </a:rPr>
              <a:t>judgement</a:t>
            </a:r>
            <a:r>
              <a:rPr lang="en-GB" sz="3200" i="1" dirty="0">
                <a:solidFill>
                  <a:schemeClr val="tx2"/>
                </a:solidFill>
                <a:latin typeface="Garamond" panose="02020404030301010803" pitchFamily="18" charset="0"/>
              </a:rPr>
              <a:t> </a:t>
            </a:r>
            <a:r>
              <a:rPr lang="en-GB" sz="3200" dirty="0">
                <a:solidFill>
                  <a:schemeClr val="tx2"/>
                </a:solidFill>
                <a:latin typeface="Garamond" panose="02020404030301010803" pitchFamily="18" charset="0"/>
              </a:rPr>
              <a:t>about how we should act and our </a:t>
            </a:r>
            <a:r>
              <a:rPr lang="en-GB" sz="3200" b="1" i="1" dirty="0">
                <a:solidFill>
                  <a:schemeClr val="tx2"/>
                </a:solidFill>
                <a:latin typeface="Garamond" panose="02020404030301010803" pitchFamily="18" charset="0"/>
              </a:rPr>
              <a:t>commitment</a:t>
            </a:r>
            <a:r>
              <a:rPr lang="en-GB" sz="3200" i="1" dirty="0">
                <a:solidFill>
                  <a:schemeClr val="tx2"/>
                </a:solidFill>
                <a:latin typeface="Garamond" panose="02020404030301010803" pitchFamily="18" charset="0"/>
              </a:rPr>
              <a:t> </a:t>
            </a:r>
            <a:r>
              <a:rPr lang="en-GB" sz="3200" dirty="0">
                <a:solidFill>
                  <a:schemeClr val="tx2"/>
                </a:solidFill>
                <a:latin typeface="Garamond" panose="02020404030301010803" pitchFamily="18" charset="0"/>
              </a:rPr>
              <a:t>to do so.</a:t>
            </a:r>
          </a:p>
          <a:p>
            <a:pPr marL="342900" indent="-342900">
              <a:buFont typeface="Arial" panose="020B0604020202020204" pitchFamily="34" charset="0"/>
              <a:buChar char="•"/>
            </a:pPr>
            <a:endParaRPr lang="en-GB" sz="3200" dirty="0">
              <a:solidFill>
                <a:schemeClr val="tx2"/>
              </a:solidFill>
              <a:latin typeface="Garamond" panose="02020404030301010803" pitchFamily="18" charset="0"/>
            </a:endParaRPr>
          </a:p>
          <a:p>
            <a:pPr marL="342900" indent="-342900">
              <a:buFont typeface="Arial" panose="020B0604020202020204" pitchFamily="34" charset="0"/>
              <a:buChar char="•"/>
            </a:pPr>
            <a:r>
              <a:rPr lang="en-GB" sz="3200" dirty="0">
                <a:solidFill>
                  <a:schemeClr val="tx2"/>
                </a:solidFill>
                <a:latin typeface="Garamond" panose="02020404030301010803" pitchFamily="18" charset="0"/>
              </a:rPr>
              <a:t>The conscience is </a:t>
            </a:r>
            <a:r>
              <a:rPr lang="en-GB" sz="3200" b="1" dirty="0">
                <a:solidFill>
                  <a:schemeClr val="tx2"/>
                </a:solidFill>
                <a:latin typeface="Garamond" panose="02020404030301010803" pitchFamily="18" charset="0"/>
              </a:rPr>
              <a:t>a moral faculty or feeling that prompts us to see that certain actions are morally right or wrong.</a:t>
            </a:r>
            <a:endParaRPr lang="en-GB" sz="3200" dirty="0">
              <a:solidFill>
                <a:schemeClr val="tx2"/>
              </a:solidFill>
              <a:latin typeface="Garamond" panose="02020404030301010803" pitchFamily="18" charset="0"/>
            </a:endParaRPr>
          </a:p>
        </p:txBody>
      </p:sp>
      <p:pic>
        <p:nvPicPr>
          <p:cNvPr id="5" name="Picture Placeholder 4" descr="Close-up of books on shelves with more books blurred in foreground and background"/>
          <p:cNvPicPr>
            <a:picLocks noGrp="1" noChangeAspect="1"/>
          </p:cNvPicPr>
          <p:nvPr>
            <p:ph type="pic" idx="1"/>
          </p:nvPr>
        </p:nvPicPr>
        <p:blipFill>
          <a:blip r:embed="rId2" cstate="print">
            <a:extLst>
              <a:ext uri="{28A0092B-C50C-407E-A947-70E740481C1C}">
                <a14:useLocalDpi xmlns:a14="http://schemas.microsoft.com/office/drawing/2010/main" val="0"/>
              </a:ext>
            </a:extLst>
          </a:blip>
          <a:srcRect l="3155" r="3155"/>
          <a:stretch>
            <a:fillRect/>
          </a:stretch>
        </p:blipFill>
        <p:spPr>
          <a:xfrm>
            <a:off x="8415130" y="1600200"/>
            <a:ext cx="2670451" cy="2883492"/>
          </a:xfrm>
        </p:spPr>
      </p:pic>
      <p:sp>
        <p:nvSpPr>
          <p:cNvPr id="6" name="Title 12">
            <a:extLst>
              <a:ext uri="{FF2B5EF4-FFF2-40B4-BE49-F238E27FC236}">
                <a16:creationId xmlns:a16="http://schemas.microsoft.com/office/drawing/2014/main" id="{8CD75CFB-52FB-4D4F-89BD-E1B03A7C4288}"/>
              </a:ext>
            </a:extLst>
          </p:cNvPr>
          <p:cNvSpPr>
            <a:spLocks noGrp="1"/>
          </p:cNvSpPr>
          <p:nvPr>
            <p:ph type="title"/>
          </p:nvPr>
        </p:nvSpPr>
        <p:spPr>
          <a:xfrm>
            <a:off x="1104900" y="76200"/>
            <a:ext cx="9980682" cy="1096962"/>
          </a:xfrm>
        </p:spPr>
        <p:txBody>
          <a:bodyPr/>
          <a:lstStyle/>
          <a:p>
            <a:r>
              <a:rPr lang="en-US" b="1" dirty="0"/>
              <a:t>What is Conscience?</a:t>
            </a:r>
          </a:p>
        </p:txBody>
      </p:sp>
    </p:spTree>
    <p:extLst>
      <p:ext uri="{BB962C8B-B14F-4D97-AF65-F5344CB8AC3E}">
        <p14:creationId xmlns:p14="http://schemas.microsoft.com/office/powerpoint/2010/main" val="2167593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887896" y="1600199"/>
            <a:ext cx="7182678" cy="4588565"/>
          </a:xfrm>
        </p:spPr>
        <p:txBody>
          <a:bodyPr>
            <a:noAutofit/>
          </a:bodyPr>
          <a:lstStyle/>
          <a:p>
            <a:pPr marL="342900" indent="-342900">
              <a:buFont typeface="Arial" panose="020B0604020202020204" pitchFamily="34" charset="0"/>
              <a:buChar char="•"/>
            </a:pPr>
            <a:r>
              <a:rPr lang="en-GB" sz="3200" dirty="0">
                <a:solidFill>
                  <a:schemeClr val="tx2"/>
                </a:solidFill>
                <a:latin typeface="Garamond" panose="02020404030301010803" pitchFamily="18" charset="0"/>
              </a:rPr>
              <a:t>Conscience is a person’s moral faculty, the inner core and sanctuary where he/she knows him/herself in confrontation with God and with fellow human beings –  (Bernard Haring) </a:t>
            </a:r>
          </a:p>
          <a:p>
            <a:pPr marL="342900" indent="-342900">
              <a:buFont typeface="Arial" panose="020B0604020202020204" pitchFamily="34" charset="0"/>
              <a:buChar char="•"/>
            </a:pPr>
            <a:r>
              <a:rPr lang="en-GB" sz="3200" dirty="0">
                <a:solidFill>
                  <a:schemeClr val="tx2"/>
                </a:solidFill>
                <a:latin typeface="Garamond" panose="02020404030301010803" pitchFamily="18" charset="0"/>
              </a:rPr>
              <a:t>An inward moral impression of one’s actions and principles…as the inward faculty of moral judgement … as the inward moral and spiritual frame.</a:t>
            </a:r>
          </a:p>
        </p:txBody>
      </p:sp>
      <p:pic>
        <p:nvPicPr>
          <p:cNvPr id="5" name="Picture Placeholder 4" descr="Close-up of books on shelves with more books blurred in foreground and background"/>
          <p:cNvPicPr>
            <a:picLocks noGrp="1" noChangeAspect="1"/>
          </p:cNvPicPr>
          <p:nvPr>
            <p:ph type="pic" idx="1"/>
          </p:nvPr>
        </p:nvPicPr>
        <p:blipFill>
          <a:blip r:embed="rId2" cstate="print">
            <a:extLst>
              <a:ext uri="{28A0092B-C50C-407E-A947-70E740481C1C}">
                <a14:useLocalDpi xmlns:a14="http://schemas.microsoft.com/office/drawing/2010/main" val="0"/>
              </a:ext>
            </a:extLst>
          </a:blip>
          <a:srcRect l="3155" r="3155"/>
          <a:stretch>
            <a:fillRect/>
          </a:stretch>
        </p:blipFill>
        <p:spPr>
          <a:xfrm>
            <a:off x="8415130" y="1600200"/>
            <a:ext cx="2670451" cy="2883492"/>
          </a:xfrm>
        </p:spPr>
      </p:pic>
      <p:sp>
        <p:nvSpPr>
          <p:cNvPr id="6" name="Title 12">
            <a:extLst>
              <a:ext uri="{FF2B5EF4-FFF2-40B4-BE49-F238E27FC236}">
                <a16:creationId xmlns:a16="http://schemas.microsoft.com/office/drawing/2014/main" id="{8CD75CFB-52FB-4D4F-89BD-E1B03A7C4288}"/>
              </a:ext>
            </a:extLst>
          </p:cNvPr>
          <p:cNvSpPr>
            <a:spLocks noGrp="1"/>
          </p:cNvSpPr>
          <p:nvPr>
            <p:ph type="title"/>
          </p:nvPr>
        </p:nvSpPr>
        <p:spPr>
          <a:xfrm>
            <a:off x="1104900" y="76200"/>
            <a:ext cx="9980682" cy="1096962"/>
          </a:xfrm>
        </p:spPr>
        <p:txBody>
          <a:bodyPr/>
          <a:lstStyle/>
          <a:p>
            <a:r>
              <a:rPr lang="en-US" b="1" dirty="0"/>
              <a:t>What is Conscience?</a:t>
            </a:r>
          </a:p>
        </p:txBody>
      </p:sp>
    </p:spTree>
    <p:extLst>
      <p:ext uri="{BB962C8B-B14F-4D97-AF65-F5344CB8AC3E}">
        <p14:creationId xmlns:p14="http://schemas.microsoft.com/office/powerpoint/2010/main" val="4283543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04900" y="1600199"/>
            <a:ext cx="6793396" cy="4588565"/>
          </a:xfrm>
        </p:spPr>
        <p:txBody>
          <a:bodyPr>
            <a:noAutofit/>
          </a:bodyPr>
          <a:lstStyle/>
          <a:p>
            <a:pPr marL="342900" indent="-342900" algn="ctr">
              <a:buFont typeface="Arial" panose="020B0604020202020204" pitchFamily="34" charset="0"/>
              <a:buChar char="•"/>
            </a:pPr>
            <a:r>
              <a:rPr lang="en-GB" sz="3200" dirty="0">
                <a:solidFill>
                  <a:schemeClr val="tx2"/>
                </a:solidFill>
                <a:latin typeface="Garamond" panose="02020404030301010803" pitchFamily="18" charset="0"/>
              </a:rPr>
              <a:t>Our most secrete core and sanctuary where we encounter God; our heart.</a:t>
            </a:r>
          </a:p>
          <a:p>
            <a:pPr marL="342900" indent="-342900" algn="ctr">
              <a:buFont typeface="Arial" panose="020B0604020202020204" pitchFamily="34" charset="0"/>
              <a:buChar char="•"/>
            </a:pPr>
            <a:endParaRPr lang="en-GB" sz="3200" dirty="0">
              <a:solidFill>
                <a:schemeClr val="tx2"/>
              </a:solidFill>
              <a:latin typeface="Garamond" panose="02020404030301010803" pitchFamily="18" charset="0"/>
            </a:endParaRPr>
          </a:p>
          <a:p>
            <a:pPr marL="342900" indent="-342900" algn="ctr">
              <a:buFont typeface="Arial" panose="020B0604020202020204" pitchFamily="34" charset="0"/>
              <a:buChar char="•"/>
            </a:pPr>
            <a:r>
              <a:rPr lang="en-GB" sz="3200" dirty="0">
                <a:solidFill>
                  <a:schemeClr val="tx2"/>
                </a:solidFill>
                <a:latin typeface="Garamond" panose="02020404030301010803" pitchFamily="18" charset="0"/>
              </a:rPr>
              <a:t>A law inscribed in our hearts by God and recognized as our own; its voice calls us to love and do what is good and avoid what is evil.</a:t>
            </a:r>
          </a:p>
        </p:txBody>
      </p:sp>
      <p:pic>
        <p:nvPicPr>
          <p:cNvPr id="5" name="Picture Placeholder 4" descr="Close-up of books on shelves with more books blurred in foreground and background"/>
          <p:cNvPicPr>
            <a:picLocks noGrp="1" noChangeAspect="1"/>
          </p:cNvPicPr>
          <p:nvPr>
            <p:ph type="pic" idx="1"/>
          </p:nvPr>
        </p:nvPicPr>
        <p:blipFill>
          <a:blip r:embed="rId2" cstate="print">
            <a:extLst>
              <a:ext uri="{28A0092B-C50C-407E-A947-70E740481C1C}">
                <a14:useLocalDpi xmlns:a14="http://schemas.microsoft.com/office/drawing/2010/main" val="0"/>
              </a:ext>
            </a:extLst>
          </a:blip>
          <a:srcRect l="3155" r="3155"/>
          <a:stretch>
            <a:fillRect/>
          </a:stretch>
        </p:blipFill>
        <p:spPr>
          <a:xfrm>
            <a:off x="8415130" y="1600200"/>
            <a:ext cx="2670451" cy="2883492"/>
          </a:xfrm>
        </p:spPr>
      </p:pic>
      <p:sp>
        <p:nvSpPr>
          <p:cNvPr id="6" name="Title 12">
            <a:extLst>
              <a:ext uri="{FF2B5EF4-FFF2-40B4-BE49-F238E27FC236}">
                <a16:creationId xmlns:a16="http://schemas.microsoft.com/office/drawing/2014/main" id="{8CD75CFB-52FB-4D4F-89BD-E1B03A7C4288}"/>
              </a:ext>
            </a:extLst>
          </p:cNvPr>
          <p:cNvSpPr>
            <a:spLocks noGrp="1"/>
          </p:cNvSpPr>
          <p:nvPr>
            <p:ph type="title"/>
          </p:nvPr>
        </p:nvSpPr>
        <p:spPr>
          <a:xfrm>
            <a:off x="1104900" y="76200"/>
            <a:ext cx="9980682" cy="1096962"/>
          </a:xfrm>
        </p:spPr>
        <p:txBody>
          <a:bodyPr/>
          <a:lstStyle/>
          <a:p>
            <a:r>
              <a:rPr lang="en-US" b="1" dirty="0"/>
              <a:t>What is Conscience?</a:t>
            </a:r>
          </a:p>
        </p:txBody>
      </p:sp>
    </p:spTree>
    <p:extLst>
      <p:ext uri="{BB962C8B-B14F-4D97-AF65-F5344CB8AC3E}">
        <p14:creationId xmlns:p14="http://schemas.microsoft.com/office/powerpoint/2010/main" val="18411903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887896" y="1600199"/>
            <a:ext cx="7023652" cy="4588565"/>
          </a:xfrm>
        </p:spPr>
        <p:txBody>
          <a:bodyPr>
            <a:noAutofit/>
          </a:bodyPr>
          <a:lstStyle/>
          <a:p>
            <a:pPr marL="342900" indent="-342900" algn="ctr">
              <a:buFont typeface="Arial" panose="020B0604020202020204" pitchFamily="34" charset="0"/>
              <a:buChar char="•"/>
            </a:pPr>
            <a:r>
              <a:rPr lang="en-GB" sz="3200" dirty="0">
                <a:solidFill>
                  <a:schemeClr val="tx2"/>
                </a:solidFill>
                <a:latin typeface="Garamond" panose="02020404030301010803" pitchFamily="18" charset="0"/>
              </a:rPr>
              <a:t>Our moral compass that directs us to good or evil.</a:t>
            </a:r>
          </a:p>
          <a:p>
            <a:pPr marL="342900" indent="-342900" algn="ctr">
              <a:buFont typeface="Arial" panose="020B0604020202020204" pitchFamily="34" charset="0"/>
              <a:buChar char="•"/>
            </a:pPr>
            <a:endParaRPr lang="en-GB" sz="3200" dirty="0">
              <a:solidFill>
                <a:schemeClr val="tx2"/>
              </a:solidFill>
              <a:latin typeface="Garamond" panose="02020404030301010803" pitchFamily="18" charset="0"/>
            </a:endParaRPr>
          </a:p>
          <a:p>
            <a:pPr marL="342900" indent="-342900" algn="ctr">
              <a:buFont typeface="Arial" panose="020B0604020202020204" pitchFamily="34" charset="0"/>
              <a:buChar char="•"/>
            </a:pPr>
            <a:r>
              <a:rPr lang="en-GB" sz="3200" dirty="0">
                <a:solidFill>
                  <a:schemeClr val="tx2"/>
                </a:solidFill>
                <a:latin typeface="Garamond" panose="02020404030301010803" pitchFamily="18" charset="0"/>
              </a:rPr>
              <a:t>Our moral sensory faculty: capacity to see, feel, hear, smell and touch the good. </a:t>
            </a:r>
          </a:p>
          <a:p>
            <a:pPr marL="342900" indent="-342900" algn="ctr">
              <a:buFont typeface="Arial" panose="020B0604020202020204" pitchFamily="34" charset="0"/>
              <a:buChar char="•"/>
            </a:pPr>
            <a:endParaRPr lang="en-GB" sz="3200" dirty="0">
              <a:solidFill>
                <a:schemeClr val="tx2"/>
              </a:solidFill>
              <a:latin typeface="Garamond" panose="02020404030301010803" pitchFamily="18" charset="0"/>
            </a:endParaRPr>
          </a:p>
          <a:p>
            <a:pPr marL="342900" indent="-342900" algn="ctr">
              <a:buFont typeface="Arial" panose="020B0604020202020204" pitchFamily="34" charset="0"/>
              <a:buChar char="•"/>
            </a:pPr>
            <a:r>
              <a:rPr lang="en-GB" sz="3200" dirty="0">
                <a:solidFill>
                  <a:schemeClr val="tx2"/>
                </a:solidFill>
                <a:latin typeface="Garamond" panose="02020404030301010803" pitchFamily="18" charset="0"/>
              </a:rPr>
              <a:t>Our moral appetite which helps us to judge moral questions (intellect, feeling, imagination and will).</a:t>
            </a:r>
          </a:p>
        </p:txBody>
      </p:sp>
      <p:pic>
        <p:nvPicPr>
          <p:cNvPr id="5" name="Picture Placeholder 4" descr="Close-up of books on shelves with more books blurred in foreground and background"/>
          <p:cNvPicPr>
            <a:picLocks noGrp="1" noChangeAspect="1"/>
          </p:cNvPicPr>
          <p:nvPr>
            <p:ph type="pic" idx="1"/>
          </p:nvPr>
        </p:nvPicPr>
        <p:blipFill>
          <a:blip r:embed="rId2" cstate="print">
            <a:extLst>
              <a:ext uri="{28A0092B-C50C-407E-A947-70E740481C1C}">
                <a14:useLocalDpi xmlns:a14="http://schemas.microsoft.com/office/drawing/2010/main" val="0"/>
              </a:ext>
            </a:extLst>
          </a:blip>
          <a:srcRect l="3155" r="3155"/>
          <a:stretch>
            <a:fillRect/>
          </a:stretch>
        </p:blipFill>
        <p:spPr>
          <a:xfrm>
            <a:off x="8415130" y="1600200"/>
            <a:ext cx="2670451" cy="2883492"/>
          </a:xfrm>
        </p:spPr>
      </p:pic>
      <p:sp>
        <p:nvSpPr>
          <p:cNvPr id="6" name="Title 12">
            <a:extLst>
              <a:ext uri="{FF2B5EF4-FFF2-40B4-BE49-F238E27FC236}">
                <a16:creationId xmlns:a16="http://schemas.microsoft.com/office/drawing/2014/main" id="{8CD75CFB-52FB-4D4F-89BD-E1B03A7C4288}"/>
              </a:ext>
            </a:extLst>
          </p:cNvPr>
          <p:cNvSpPr>
            <a:spLocks noGrp="1"/>
          </p:cNvSpPr>
          <p:nvPr>
            <p:ph type="title"/>
          </p:nvPr>
        </p:nvSpPr>
        <p:spPr>
          <a:xfrm>
            <a:off x="1104900" y="76200"/>
            <a:ext cx="9980682" cy="1096962"/>
          </a:xfrm>
        </p:spPr>
        <p:txBody>
          <a:bodyPr/>
          <a:lstStyle/>
          <a:p>
            <a:r>
              <a:rPr lang="en-US" b="1" dirty="0"/>
              <a:t>What is Conscience?</a:t>
            </a:r>
          </a:p>
        </p:txBody>
      </p:sp>
    </p:spTree>
    <p:extLst>
      <p:ext uri="{BB962C8B-B14F-4D97-AF65-F5344CB8AC3E}">
        <p14:creationId xmlns:p14="http://schemas.microsoft.com/office/powerpoint/2010/main" val="8272550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887896" y="1600199"/>
            <a:ext cx="7023652" cy="4588565"/>
          </a:xfrm>
        </p:spPr>
        <p:txBody>
          <a:bodyPr>
            <a:noAutofit/>
          </a:bodyPr>
          <a:lstStyle/>
          <a:p>
            <a:pPr marL="342900" indent="-342900">
              <a:buFont typeface="Arial" panose="020B0604020202020204" pitchFamily="34" charset="0"/>
              <a:buChar char="•"/>
            </a:pPr>
            <a:r>
              <a:rPr lang="en-GB" sz="2800" dirty="0">
                <a:solidFill>
                  <a:schemeClr val="tx2"/>
                </a:solidFill>
                <a:latin typeface="Garamond" panose="02020404030301010803" pitchFamily="18" charset="0"/>
              </a:rPr>
              <a:t>The conscience is an act of the intellect—the judgement of reason.</a:t>
            </a:r>
          </a:p>
          <a:p>
            <a:pPr marL="342900" indent="-342900">
              <a:buFont typeface="Arial" panose="020B0604020202020204" pitchFamily="34" charset="0"/>
              <a:buChar char="•"/>
            </a:pPr>
            <a:endParaRPr lang="en-GB" dirty="0">
              <a:solidFill>
                <a:schemeClr val="tx2"/>
              </a:solidFill>
              <a:latin typeface="Garamond" panose="02020404030301010803" pitchFamily="18" charset="0"/>
            </a:endParaRPr>
          </a:p>
          <a:p>
            <a:pPr marL="342900" indent="-342900">
              <a:buFont typeface="Arial" panose="020B0604020202020204" pitchFamily="34" charset="0"/>
              <a:buChar char="•"/>
            </a:pPr>
            <a:r>
              <a:rPr lang="en-GB" sz="2800" dirty="0">
                <a:solidFill>
                  <a:schemeClr val="tx2"/>
                </a:solidFill>
                <a:latin typeface="Garamond" panose="02020404030301010803" pitchFamily="18" charset="0"/>
              </a:rPr>
              <a:t>The conscience at a particular instance is the operation of reason. A process in which the general norms of the moral law are applied to concrete action which a person is about to perform or has performed. </a:t>
            </a:r>
          </a:p>
          <a:p>
            <a:pPr marL="342900" indent="-342900">
              <a:buFont typeface="Arial" panose="020B0604020202020204" pitchFamily="34" charset="0"/>
              <a:buChar char="•"/>
            </a:pPr>
            <a:endParaRPr lang="en-GB" dirty="0">
              <a:solidFill>
                <a:schemeClr val="tx2"/>
              </a:solidFill>
              <a:latin typeface="Garamond" panose="02020404030301010803" pitchFamily="18" charset="0"/>
            </a:endParaRPr>
          </a:p>
          <a:p>
            <a:pPr marL="342900" indent="-342900">
              <a:buFont typeface="Arial" panose="020B0604020202020204" pitchFamily="34" charset="0"/>
              <a:buChar char="•"/>
            </a:pPr>
            <a:r>
              <a:rPr lang="en-GB" sz="2800" dirty="0">
                <a:solidFill>
                  <a:schemeClr val="tx2"/>
                </a:solidFill>
                <a:latin typeface="Garamond" panose="02020404030301010803" pitchFamily="18" charset="0"/>
              </a:rPr>
              <a:t>The conscience tells the person that his/her moral obligation is here and now or judging his/her past acts.</a:t>
            </a:r>
          </a:p>
        </p:txBody>
      </p:sp>
      <p:pic>
        <p:nvPicPr>
          <p:cNvPr id="5" name="Picture Placeholder 4" descr="Close-up of books on shelves with more books blurred in foreground and background"/>
          <p:cNvPicPr>
            <a:picLocks noGrp="1" noChangeAspect="1"/>
          </p:cNvPicPr>
          <p:nvPr>
            <p:ph type="pic" idx="1"/>
          </p:nvPr>
        </p:nvPicPr>
        <p:blipFill>
          <a:blip r:embed="rId2" cstate="print">
            <a:extLst>
              <a:ext uri="{28A0092B-C50C-407E-A947-70E740481C1C}">
                <a14:useLocalDpi xmlns:a14="http://schemas.microsoft.com/office/drawing/2010/main" val="0"/>
              </a:ext>
            </a:extLst>
          </a:blip>
          <a:srcRect l="3155" r="3155"/>
          <a:stretch>
            <a:fillRect/>
          </a:stretch>
        </p:blipFill>
        <p:spPr>
          <a:xfrm>
            <a:off x="8415130" y="1600200"/>
            <a:ext cx="2670451" cy="2883492"/>
          </a:xfrm>
        </p:spPr>
      </p:pic>
      <p:sp>
        <p:nvSpPr>
          <p:cNvPr id="6" name="Title 12">
            <a:extLst>
              <a:ext uri="{FF2B5EF4-FFF2-40B4-BE49-F238E27FC236}">
                <a16:creationId xmlns:a16="http://schemas.microsoft.com/office/drawing/2014/main" id="{8CD75CFB-52FB-4D4F-89BD-E1B03A7C4288}"/>
              </a:ext>
            </a:extLst>
          </p:cNvPr>
          <p:cNvSpPr>
            <a:spLocks noGrp="1"/>
          </p:cNvSpPr>
          <p:nvPr>
            <p:ph type="title"/>
          </p:nvPr>
        </p:nvSpPr>
        <p:spPr>
          <a:xfrm>
            <a:off x="1104900" y="76200"/>
            <a:ext cx="9980682" cy="1096962"/>
          </a:xfrm>
        </p:spPr>
        <p:txBody>
          <a:bodyPr/>
          <a:lstStyle/>
          <a:p>
            <a:r>
              <a:rPr lang="en-US" b="1" dirty="0"/>
              <a:t>What does the Conscience do?</a:t>
            </a:r>
          </a:p>
        </p:txBody>
      </p:sp>
    </p:spTree>
    <p:extLst>
      <p:ext uri="{BB962C8B-B14F-4D97-AF65-F5344CB8AC3E}">
        <p14:creationId xmlns:p14="http://schemas.microsoft.com/office/powerpoint/2010/main" val="860335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887896" y="1600199"/>
            <a:ext cx="7328452" cy="4588565"/>
          </a:xfrm>
        </p:spPr>
        <p:txBody>
          <a:bodyPr>
            <a:noAutofit/>
          </a:bodyPr>
          <a:lstStyle/>
          <a:p>
            <a:pPr marL="342900" indent="-342900">
              <a:buFont typeface="Arial" panose="020B0604020202020204" pitchFamily="34" charset="0"/>
              <a:buChar char="•"/>
            </a:pPr>
            <a:r>
              <a:rPr lang="en-GB" sz="2800" dirty="0">
                <a:solidFill>
                  <a:schemeClr val="tx2"/>
                </a:solidFill>
                <a:latin typeface="Garamond" panose="02020404030301010803" pitchFamily="18" charset="0"/>
              </a:rPr>
              <a:t>There are two (2) essential parts of the conscience:</a:t>
            </a:r>
          </a:p>
          <a:p>
            <a:pPr marL="971550" lvl="1" indent="-514350">
              <a:buAutoNum type="arabicPeriod"/>
            </a:pPr>
            <a:r>
              <a:rPr lang="en-GB" sz="2400" dirty="0">
                <a:solidFill>
                  <a:schemeClr val="tx2"/>
                </a:solidFill>
                <a:latin typeface="Garamond" panose="02020404030301010803" pitchFamily="18" charset="0"/>
              </a:rPr>
              <a:t>Synderesis </a:t>
            </a:r>
          </a:p>
          <a:p>
            <a:pPr marL="971550" lvl="1" indent="-514350">
              <a:buAutoNum type="arabicPeriod"/>
            </a:pPr>
            <a:r>
              <a:rPr lang="en-GB" sz="2400" dirty="0" err="1">
                <a:solidFill>
                  <a:schemeClr val="tx2"/>
                </a:solidFill>
                <a:latin typeface="Garamond" panose="02020404030301010803" pitchFamily="18" charset="0"/>
              </a:rPr>
              <a:t>Conscientia</a:t>
            </a:r>
            <a:r>
              <a:rPr lang="en-GB" sz="2400" dirty="0">
                <a:solidFill>
                  <a:schemeClr val="tx2"/>
                </a:solidFill>
                <a:latin typeface="Garamond" panose="02020404030301010803" pitchFamily="18" charset="0"/>
              </a:rPr>
              <a:t> </a:t>
            </a:r>
          </a:p>
          <a:p>
            <a:r>
              <a:rPr lang="en-GB" sz="2600" b="1" dirty="0">
                <a:solidFill>
                  <a:schemeClr val="tx2"/>
                </a:solidFill>
                <a:latin typeface="Garamond" panose="02020404030301010803" pitchFamily="18" charset="0"/>
              </a:rPr>
              <a:t>Synderesis: </a:t>
            </a:r>
            <a:r>
              <a:rPr lang="en-GB" sz="2600" dirty="0">
                <a:solidFill>
                  <a:schemeClr val="tx2"/>
                </a:solidFill>
                <a:latin typeface="Garamond" panose="02020404030301010803" pitchFamily="18" charset="0"/>
              </a:rPr>
              <a:t>this part discovers very basic moral principle. It is the use of right reason by which we learn basic moral principles and understand that we have to do good and avoid evil. (this is the starting point of moral judgement).</a:t>
            </a:r>
          </a:p>
          <a:p>
            <a:r>
              <a:rPr lang="en-GB" sz="2600" b="1" dirty="0" err="1">
                <a:solidFill>
                  <a:schemeClr val="tx2"/>
                </a:solidFill>
                <a:latin typeface="Garamond" panose="02020404030301010803" pitchFamily="18" charset="0"/>
              </a:rPr>
              <a:t>Conscientia</a:t>
            </a:r>
            <a:r>
              <a:rPr lang="en-GB" sz="2600" b="1" dirty="0">
                <a:solidFill>
                  <a:schemeClr val="tx2"/>
                </a:solidFill>
                <a:latin typeface="Garamond" panose="02020404030301010803" pitchFamily="18" charset="0"/>
              </a:rPr>
              <a:t>: </a:t>
            </a:r>
            <a:r>
              <a:rPr lang="en-GB" sz="2600" dirty="0">
                <a:solidFill>
                  <a:schemeClr val="tx2"/>
                </a:solidFill>
                <a:latin typeface="Garamond" panose="02020404030301010803" pitchFamily="18" charset="0"/>
              </a:rPr>
              <a:t>this is the conscience proper. The practical reason which tells us what to do in a particular moral situation. (this is the end point of moral judgement). </a:t>
            </a:r>
          </a:p>
        </p:txBody>
      </p:sp>
      <p:pic>
        <p:nvPicPr>
          <p:cNvPr id="5" name="Picture Placeholder 4" descr="Close-up of books on shelves with more books blurred in foreground and background"/>
          <p:cNvPicPr>
            <a:picLocks noGrp="1" noChangeAspect="1"/>
          </p:cNvPicPr>
          <p:nvPr>
            <p:ph type="pic" idx="1"/>
          </p:nvPr>
        </p:nvPicPr>
        <p:blipFill>
          <a:blip r:embed="rId2" cstate="print">
            <a:extLst>
              <a:ext uri="{28A0092B-C50C-407E-A947-70E740481C1C}">
                <a14:useLocalDpi xmlns:a14="http://schemas.microsoft.com/office/drawing/2010/main" val="0"/>
              </a:ext>
            </a:extLst>
          </a:blip>
          <a:srcRect l="3155" r="3155"/>
          <a:stretch>
            <a:fillRect/>
          </a:stretch>
        </p:blipFill>
        <p:spPr>
          <a:xfrm>
            <a:off x="8415130" y="1600200"/>
            <a:ext cx="2670451" cy="2883492"/>
          </a:xfrm>
        </p:spPr>
      </p:pic>
      <p:sp>
        <p:nvSpPr>
          <p:cNvPr id="6" name="Title 12">
            <a:extLst>
              <a:ext uri="{FF2B5EF4-FFF2-40B4-BE49-F238E27FC236}">
                <a16:creationId xmlns:a16="http://schemas.microsoft.com/office/drawing/2014/main" id="{8CD75CFB-52FB-4D4F-89BD-E1B03A7C4288}"/>
              </a:ext>
            </a:extLst>
          </p:cNvPr>
          <p:cNvSpPr>
            <a:spLocks noGrp="1"/>
          </p:cNvSpPr>
          <p:nvPr>
            <p:ph type="title"/>
          </p:nvPr>
        </p:nvSpPr>
        <p:spPr>
          <a:xfrm>
            <a:off x="1104900" y="76200"/>
            <a:ext cx="9980682" cy="1096962"/>
          </a:xfrm>
        </p:spPr>
        <p:txBody>
          <a:bodyPr/>
          <a:lstStyle/>
          <a:p>
            <a:r>
              <a:rPr lang="en-US" b="1" dirty="0"/>
              <a:t>The Essential Parts of the Conscience</a:t>
            </a:r>
          </a:p>
        </p:txBody>
      </p:sp>
    </p:spTree>
    <p:extLst>
      <p:ext uri="{BB962C8B-B14F-4D97-AF65-F5344CB8AC3E}">
        <p14:creationId xmlns:p14="http://schemas.microsoft.com/office/powerpoint/2010/main" val="1634346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940905" y="1374912"/>
            <a:ext cx="7354956" cy="4588565"/>
          </a:xfrm>
        </p:spPr>
        <p:txBody>
          <a:bodyPr>
            <a:noAutofit/>
          </a:bodyPr>
          <a:lstStyle/>
          <a:p>
            <a:pPr marL="342900" indent="-342900">
              <a:buFont typeface="Arial" panose="020B0604020202020204" pitchFamily="34" charset="0"/>
              <a:buChar char="•"/>
            </a:pPr>
            <a:r>
              <a:rPr lang="en-GB" sz="2800" dirty="0">
                <a:solidFill>
                  <a:schemeClr val="tx2"/>
                </a:solidFill>
                <a:latin typeface="Garamond" panose="02020404030301010803" pitchFamily="18" charset="0"/>
              </a:rPr>
              <a:t>The conscience functions in two ways:</a:t>
            </a:r>
          </a:p>
          <a:p>
            <a:pPr marL="971550" lvl="1" indent="-514350">
              <a:buAutoNum type="arabicPeriod"/>
            </a:pPr>
            <a:r>
              <a:rPr lang="en-GB" sz="2400" dirty="0">
                <a:solidFill>
                  <a:schemeClr val="tx2"/>
                </a:solidFill>
                <a:latin typeface="Garamond" panose="02020404030301010803" pitchFamily="18" charset="0"/>
              </a:rPr>
              <a:t> To </a:t>
            </a:r>
            <a:r>
              <a:rPr lang="en-GB" sz="2400" b="1" dirty="0">
                <a:solidFill>
                  <a:schemeClr val="tx2"/>
                </a:solidFill>
                <a:latin typeface="Garamond" panose="02020404030301010803" pitchFamily="18" charset="0"/>
              </a:rPr>
              <a:t>Investigate</a:t>
            </a:r>
            <a:r>
              <a:rPr lang="en-GB" sz="2400" dirty="0">
                <a:solidFill>
                  <a:schemeClr val="tx2"/>
                </a:solidFill>
                <a:latin typeface="Garamond" panose="02020404030301010803" pitchFamily="18" charset="0"/>
              </a:rPr>
              <a:t> moral actions</a:t>
            </a:r>
          </a:p>
          <a:p>
            <a:pPr marL="971550" lvl="1" indent="-514350">
              <a:buAutoNum type="arabicPeriod"/>
            </a:pPr>
            <a:r>
              <a:rPr lang="en-GB" sz="2400" dirty="0">
                <a:solidFill>
                  <a:schemeClr val="tx2"/>
                </a:solidFill>
                <a:latin typeface="Garamond" panose="02020404030301010803" pitchFamily="18" charset="0"/>
              </a:rPr>
              <a:t>To </a:t>
            </a:r>
            <a:r>
              <a:rPr lang="en-GB" sz="2400" b="1" dirty="0">
                <a:solidFill>
                  <a:schemeClr val="tx2"/>
                </a:solidFill>
                <a:latin typeface="Garamond" panose="02020404030301010803" pitchFamily="18" charset="0"/>
              </a:rPr>
              <a:t>Judge</a:t>
            </a:r>
            <a:r>
              <a:rPr lang="en-GB" sz="2400" dirty="0">
                <a:solidFill>
                  <a:schemeClr val="tx2"/>
                </a:solidFill>
                <a:latin typeface="Garamond" panose="02020404030301010803" pitchFamily="18" charset="0"/>
              </a:rPr>
              <a:t> moral actions </a:t>
            </a:r>
          </a:p>
          <a:p>
            <a:pPr marL="457200" indent="-457200">
              <a:buFont typeface="Arial" panose="020B0604020202020204" pitchFamily="34" charset="0"/>
              <a:buChar char="•"/>
            </a:pPr>
            <a:r>
              <a:rPr lang="en-GB" sz="2800" dirty="0">
                <a:solidFill>
                  <a:schemeClr val="tx2"/>
                </a:solidFill>
                <a:latin typeface="Garamond" panose="02020404030301010803" pitchFamily="18" charset="0"/>
              </a:rPr>
              <a:t>By investigation, the conscience approves, reproaches, forbids and accuses.</a:t>
            </a:r>
          </a:p>
          <a:p>
            <a:pPr marL="457200" indent="-457200">
              <a:buFont typeface="Arial" panose="020B0604020202020204" pitchFamily="34" charset="0"/>
              <a:buChar char="•"/>
            </a:pPr>
            <a:r>
              <a:rPr lang="en-GB" sz="2800" dirty="0">
                <a:solidFill>
                  <a:schemeClr val="tx2"/>
                </a:solidFill>
                <a:latin typeface="Garamond" panose="02020404030301010803" pitchFamily="18" charset="0"/>
              </a:rPr>
              <a:t>By Judgement, the conscience works as the moral arbiter.</a:t>
            </a:r>
          </a:p>
          <a:p>
            <a:pPr marL="457200" indent="-457200">
              <a:buFont typeface="Arial" panose="020B0604020202020204" pitchFamily="34" charset="0"/>
              <a:buChar char="•"/>
            </a:pPr>
            <a:r>
              <a:rPr lang="en-GB" sz="2800" dirty="0">
                <a:solidFill>
                  <a:schemeClr val="tx2"/>
                </a:solidFill>
                <a:latin typeface="Garamond" panose="02020404030301010803" pitchFamily="18" charset="0"/>
              </a:rPr>
              <a:t>By passing judgement, the conscience functions to commend, to condemn, to command and to absolve. </a:t>
            </a:r>
          </a:p>
          <a:p>
            <a:pPr marL="457200" indent="-457200">
              <a:buFont typeface="Arial" panose="020B0604020202020204" pitchFamily="34" charset="0"/>
              <a:buChar char="•"/>
            </a:pPr>
            <a:r>
              <a:rPr lang="en-GB" sz="2800" dirty="0">
                <a:solidFill>
                  <a:schemeClr val="tx2"/>
                </a:solidFill>
                <a:latin typeface="Garamond" panose="02020404030301010803" pitchFamily="18" charset="0"/>
              </a:rPr>
              <a:t>The conscience thus helps to discern and command moral duty and obligation.</a:t>
            </a:r>
          </a:p>
        </p:txBody>
      </p:sp>
      <p:pic>
        <p:nvPicPr>
          <p:cNvPr id="5" name="Picture Placeholder 4" descr="Close-up of books on shelves with more books blurred in foreground and background"/>
          <p:cNvPicPr>
            <a:picLocks noGrp="1" noChangeAspect="1"/>
          </p:cNvPicPr>
          <p:nvPr>
            <p:ph type="pic" idx="1"/>
          </p:nvPr>
        </p:nvPicPr>
        <p:blipFill>
          <a:blip r:embed="rId2" cstate="print">
            <a:extLst>
              <a:ext uri="{28A0092B-C50C-407E-A947-70E740481C1C}">
                <a14:useLocalDpi xmlns:a14="http://schemas.microsoft.com/office/drawing/2010/main" val="0"/>
              </a:ext>
            </a:extLst>
          </a:blip>
          <a:srcRect l="3155" r="3155"/>
          <a:stretch>
            <a:fillRect/>
          </a:stretch>
        </p:blipFill>
        <p:spPr>
          <a:xfrm>
            <a:off x="8415130" y="1600200"/>
            <a:ext cx="2670451" cy="2883492"/>
          </a:xfrm>
        </p:spPr>
      </p:pic>
      <p:sp>
        <p:nvSpPr>
          <p:cNvPr id="6" name="Title 12">
            <a:extLst>
              <a:ext uri="{FF2B5EF4-FFF2-40B4-BE49-F238E27FC236}">
                <a16:creationId xmlns:a16="http://schemas.microsoft.com/office/drawing/2014/main" id="{8CD75CFB-52FB-4D4F-89BD-E1B03A7C4288}"/>
              </a:ext>
            </a:extLst>
          </p:cNvPr>
          <p:cNvSpPr>
            <a:spLocks noGrp="1"/>
          </p:cNvSpPr>
          <p:nvPr>
            <p:ph type="title"/>
          </p:nvPr>
        </p:nvSpPr>
        <p:spPr>
          <a:xfrm>
            <a:off x="1104900" y="76200"/>
            <a:ext cx="9980682" cy="1096962"/>
          </a:xfrm>
        </p:spPr>
        <p:txBody>
          <a:bodyPr/>
          <a:lstStyle/>
          <a:p>
            <a:r>
              <a:rPr lang="en-US" b="1" dirty="0"/>
              <a:t>Role of the Conscience</a:t>
            </a:r>
          </a:p>
        </p:txBody>
      </p:sp>
    </p:spTree>
    <p:extLst>
      <p:ext uri="{BB962C8B-B14F-4D97-AF65-F5344CB8AC3E}">
        <p14:creationId xmlns:p14="http://schemas.microsoft.com/office/powerpoint/2010/main" val="1912629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887896" y="1600199"/>
            <a:ext cx="7023652" cy="4588565"/>
          </a:xfrm>
        </p:spPr>
        <p:txBody>
          <a:bodyPr>
            <a:noAutofit/>
          </a:bodyPr>
          <a:lstStyle/>
          <a:p>
            <a:pPr marL="342900" indent="-342900">
              <a:buFont typeface="Arial" panose="020B0604020202020204" pitchFamily="34" charset="0"/>
              <a:buChar char="•"/>
            </a:pPr>
            <a:r>
              <a:rPr lang="en-US" sz="2800" dirty="0">
                <a:solidFill>
                  <a:schemeClr val="tx2"/>
                </a:solidFill>
                <a:latin typeface="Garamond" panose="02020404030301010803" pitchFamily="18" charset="0"/>
              </a:rPr>
              <a:t>As noted earlier, the conscience addresses us about moral issues, not questions of fashion or taste or scientific fact. We can’t say, for instance, to grow apple trees, or to like paintings by Gauguin. Those are not moral issues. </a:t>
            </a:r>
          </a:p>
          <a:p>
            <a:pPr marL="342900" indent="-342900">
              <a:buFont typeface="Arial" panose="020B0604020202020204" pitchFamily="34" charset="0"/>
              <a:buChar char="•"/>
            </a:pPr>
            <a:r>
              <a:rPr lang="en-US" sz="2800" dirty="0">
                <a:solidFill>
                  <a:schemeClr val="tx2"/>
                </a:solidFill>
                <a:latin typeface="Garamond" panose="02020404030301010803" pitchFamily="18" charset="0"/>
              </a:rPr>
              <a:t>The conscience does not speak to us about taste in music or art. The conscience doesn’t help us predict the direction of stock-market activity. Clearly, there are some things about which the conscience is not qualified to speak. </a:t>
            </a:r>
          </a:p>
          <a:p>
            <a:pPr marL="342900" indent="-342900">
              <a:buFont typeface="Arial" panose="020B0604020202020204" pitchFamily="34" charset="0"/>
              <a:buChar char="•"/>
            </a:pPr>
            <a:r>
              <a:rPr lang="en-US" sz="2800" b="1" dirty="0">
                <a:solidFill>
                  <a:schemeClr val="tx2"/>
                </a:solidFill>
                <a:latin typeface="Garamond" panose="02020404030301010803" pitchFamily="18" charset="0"/>
              </a:rPr>
              <a:t>The conscience addresses strictly moral choices and deeds.</a:t>
            </a:r>
            <a:endParaRPr lang="en-GB" sz="2800" b="1" dirty="0">
              <a:solidFill>
                <a:schemeClr val="tx2"/>
              </a:solidFill>
              <a:latin typeface="Garamond" panose="02020404030301010803" pitchFamily="18" charset="0"/>
            </a:endParaRPr>
          </a:p>
          <a:p>
            <a:pPr marL="342900" indent="-342900">
              <a:buFont typeface="Arial" panose="020B0604020202020204" pitchFamily="34" charset="0"/>
              <a:buChar char="•"/>
            </a:pPr>
            <a:endParaRPr lang="en-GB" sz="4400" dirty="0">
              <a:solidFill>
                <a:schemeClr val="tx2"/>
              </a:solidFill>
              <a:latin typeface="Garamond" panose="02020404030301010803" pitchFamily="18" charset="0"/>
            </a:endParaRPr>
          </a:p>
        </p:txBody>
      </p:sp>
      <p:pic>
        <p:nvPicPr>
          <p:cNvPr id="5" name="Picture Placeholder 4" descr="Close-up of books on shelves with more books blurred in foreground and background"/>
          <p:cNvPicPr>
            <a:picLocks noGrp="1" noChangeAspect="1"/>
          </p:cNvPicPr>
          <p:nvPr>
            <p:ph type="pic" idx="1"/>
          </p:nvPr>
        </p:nvPicPr>
        <p:blipFill>
          <a:blip r:embed="rId2" cstate="print">
            <a:extLst>
              <a:ext uri="{28A0092B-C50C-407E-A947-70E740481C1C}">
                <a14:useLocalDpi xmlns:a14="http://schemas.microsoft.com/office/drawing/2010/main" val="0"/>
              </a:ext>
            </a:extLst>
          </a:blip>
          <a:srcRect l="3155" r="3155"/>
          <a:stretch>
            <a:fillRect/>
          </a:stretch>
        </p:blipFill>
        <p:spPr>
          <a:xfrm>
            <a:off x="8415130" y="1600200"/>
            <a:ext cx="2670451" cy="2883492"/>
          </a:xfrm>
        </p:spPr>
      </p:pic>
      <p:sp>
        <p:nvSpPr>
          <p:cNvPr id="6" name="Title 12">
            <a:extLst>
              <a:ext uri="{FF2B5EF4-FFF2-40B4-BE49-F238E27FC236}">
                <a16:creationId xmlns:a16="http://schemas.microsoft.com/office/drawing/2014/main" id="{8CD75CFB-52FB-4D4F-89BD-E1B03A7C4288}"/>
              </a:ext>
            </a:extLst>
          </p:cNvPr>
          <p:cNvSpPr>
            <a:spLocks noGrp="1"/>
          </p:cNvSpPr>
          <p:nvPr>
            <p:ph type="title"/>
          </p:nvPr>
        </p:nvSpPr>
        <p:spPr>
          <a:xfrm>
            <a:off x="1104900" y="76200"/>
            <a:ext cx="9980682" cy="1096962"/>
          </a:xfrm>
        </p:spPr>
        <p:txBody>
          <a:bodyPr/>
          <a:lstStyle/>
          <a:p>
            <a:r>
              <a:rPr lang="en-US" b="1" dirty="0"/>
              <a:t>When Does the Conscience Address Us?</a:t>
            </a:r>
            <a:endParaRPr lang="en-GB" dirty="0"/>
          </a:p>
        </p:txBody>
      </p:sp>
    </p:spTree>
    <p:extLst>
      <p:ext uri="{BB962C8B-B14F-4D97-AF65-F5344CB8AC3E}">
        <p14:creationId xmlns:p14="http://schemas.microsoft.com/office/powerpoint/2010/main" val="2074718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89213" y="2610146"/>
            <a:ext cx="6422335" cy="2219691"/>
          </a:xfrm>
        </p:spPr>
        <p:txBody>
          <a:bodyPr>
            <a:normAutofit/>
          </a:bodyPr>
          <a:lstStyle/>
          <a:p>
            <a:r>
              <a:rPr lang="en-US" sz="5400" b="1" dirty="0"/>
              <a:t>Making Moral Decisions</a:t>
            </a:r>
            <a:endParaRPr lang="en-GB" sz="5400" dirty="0"/>
          </a:p>
        </p:txBody>
      </p:sp>
      <p:pic>
        <p:nvPicPr>
          <p:cNvPr id="1026" name="Picture 2" descr="Ethics and Psychology: Moral Judgment and Decision Making">
            <a:extLst>
              <a:ext uri="{FF2B5EF4-FFF2-40B4-BE49-F238E27FC236}">
                <a16:creationId xmlns:a16="http://schemas.microsoft.com/office/drawing/2014/main" id="{A78B2D85-7B7A-4A61-AF1C-0C315415F5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62191" y="1042574"/>
            <a:ext cx="4929809" cy="47486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05632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887896" y="1600199"/>
            <a:ext cx="7023652" cy="4588565"/>
          </a:xfrm>
        </p:spPr>
        <p:txBody>
          <a:bodyPr>
            <a:noAutofit/>
          </a:bodyPr>
          <a:lstStyle/>
          <a:p>
            <a:pPr marL="342900" indent="-342900">
              <a:buFont typeface="Arial" panose="020B0604020202020204" pitchFamily="34" charset="0"/>
              <a:buChar char="•"/>
            </a:pPr>
            <a:r>
              <a:rPr lang="en-GB" sz="4400" dirty="0">
                <a:solidFill>
                  <a:schemeClr val="tx2"/>
                </a:solidFill>
                <a:latin typeface="Garamond" panose="02020404030301010803" pitchFamily="18" charset="0"/>
              </a:rPr>
              <a:t>A moral decision is the justification given for a moral act. </a:t>
            </a:r>
          </a:p>
          <a:p>
            <a:pPr marL="342900" indent="-342900">
              <a:buFont typeface="Arial" panose="020B0604020202020204" pitchFamily="34" charset="0"/>
              <a:buChar char="•"/>
            </a:pPr>
            <a:r>
              <a:rPr lang="en-GB" sz="4000" dirty="0">
                <a:solidFill>
                  <a:schemeClr val="tx2"/>
                </a:solidFill>
                <a:latin typeface="Garamond" panose="02020404030301010803" pitchFamily="18" charset="0"/>
              </a:rPr>
              <a:t>Such a justification is usually based on the moral actor’s ethical position which is based on several factors to either commend and condemn an action. </a:t>
            </a:r>
          </a:p>
        </p:txBody>
      </p:sp>
      <p:pic>
        <p:nvPicPr>
          <p:cNvPr id="5" name="Picture Placeholder 4" descr="Close-up of books on shelves with more books blurred in foreground and background"/>
          <p:cNvPicPr>
            <a:picLocks noGrp="1" noChangeAspect="1"/>
          </p:cNvPicPr>
          <p:nvPr>
            <p:ph type="pic" idx="1"/>
          </p:nvPr>
        </p:nvPicPr>
        <p:blipFill>
          <a:blip r:embed="rId2" cstate="print">
            <a:extLst>
              <a:ext uri="{28A0092B-C50C-407E-A947-70E740481C1C}">
                <a14:useLocalDpi xmlns:a14="http://schemas.microsoft.com/office/drawing/2010/main" val="0"/>
              </a:ext>
            </a:extLst>
          </a:blip>
          <a:srcRect l="3155" r="3155"/>
          <a:stretch>
            <a:fillRect/>
          </a:stretch>
        </p:blipFill>
        <p:spPr>
          <a:xfrm>
            <a:off x="8415130" y="1600200"/>
            <a:ext cx="2670451" cy="2883492"/>
          </a:xfrm>
        </p:spPr>
      </p:pic>
      <p:sp>
        <p:nvSpPr>
          <p:cNvPr id="6" name="Title 12">
            <a:extLst>
              <a:ext uri="{FF2B5EF4-FFF2-40B4-BE49-F238E27FC236}">
                <a16:creationId xmlns:a16="http://schemas.microsoft.com/office/drawing/2014/main" id="{8CD75CFB-52FB-4D4F-89BD-E1B03A7C4288}"/>
              </a:ext>
            </a:extLst>
          </p:cNvPr>
          <p:cNvSpPr>
            <a:spLocks noGrp="1"/>
          </p:cNvSpPr>
          <p:nvPr>
            <p:ph type="title"/>
          </p:nvPr>
        </p:nvSpPr>
        <p:spPr>
          <a:xfrm>
            <a:off x="1104900" y="76200"/>
            <a:ext cx="9980682" cy="1096962"/>
          </a:xfrm>
        </p:spPr>
        <p:txBody>
          <a:bodyPr/>
          <a:lstStyle/>
          <a:p>
            <a:r>
              <a:rPr lang="en-US" b="1" dirty="0"/>
              <a:t>What is a Moral Decision?</a:t>
            </a:r>
            <a:endParaRPr lang="en-GB" dirty="0"/>
          </a:p>
        </p:txBody>
      </p:sp>
    </p:spTree>
    <p:extLst>
      <p:ext uri="{BB962C8B-B14F-4D97-AF65-F5344CB8AC3E}">
        <p14:creationId xmlns:p14="http://schemas.microsoft.com/office/powerpoint/2010/main" val="4234034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643082" y="1090035"/>
            <a:ext cx="7237292" cy="4588565"/>
          </a:xfrm>
        </p:spPr>
        <p:txBody>
          <a:bodyPr>
            <a:noAutofit/>
          </a:bodyPr>
          <a:lstStyle/>
          <a:p>
            <a:pPr marL="342900" indent="-342900">
              <a:lnSpc>
                <a:spcPct val="100000"/>
              </a:lnSpc>
              <a:spcAft>
                <a:spcPts val="1000"/>
              </a:spcAft>
              <a:buFont typeface="Arial" panose="020B0604020202020204" pitchFamily="34" charset="0"/>
              <a:buChar char="•"/>
            </a:pPr>
            <a:r>
              <a:rPr lang="en-US" sz="2800" dirty="0">
                <a:solidFill>
                  <a:schemeClr val="tx2"/>
                </a:solidFill>
                <a:latin typeface="Garamond" panose="02020404030301010803" pitchFamily="18" charset="0"/>
                <a:ea typeface="Calibri" panose="020F0502020204030204" pitchFamily="34" charset="0"/>
                <a:cs typeface="Times New Roman" panose="02020603050405020304" pitchFamily="18" charset="0"/>
              </a:rPr>
              <a:t>How do we make proper moral choices based upon Biblical principles? The Bible does provide Biblical guidelines on a vast array of issues. </a:t>
            </a:r>
          </a:p>
          <a:p>
            <a:pPr marL="342900" indent="-342900">
              <a:lnSpc>
                <a:spcPct val="100000"/>
              </a:lnSpc>
              <a:spcAft>
                <a:spcPts val="1000"/>
              </a:spcAft>
              <a:buFont typeface="Arial" panose="020B0604020202020204" pitchFamily="34" charset="0"/>
              <a:buChar char="•"/>
            </a:pPr>
            <a:r>
              <a:rPr lang="en-US" sz="2800" dirty="0">
                <a:solidFill>
                  <a:schemeClr val="tx2"/>
                </a:solidFill>
                <a:latin typeface="Garamond" panose="02020404030301010803" pitchFamily="18" charset="0"/>
                <a:ea typeface="Calibri" panose="020F0502020204030204" pitchFamily="34" charset="0"/>
                <a:cs typeface="Times New Roman" panose="02020603050405020304" pitchFamily="18" charset="0"/>
              </a:rPr>
              <a:t>Christians also have the liberty to make individual moral choices in areas of moral neutrality. Ultimately making moral choices involves </a:t>
            </a:r>
            <a:r>
              <a:rPr lang="en-US" sz="2800" b="1" dirty="0">
                <a:solidFill>
                  <a:schemeClr val="tx2"/>
                </a:solidFill>
                <a:latin typeface="Garamond" panose="02020404030301010803" pitchFamily="18" charset="0"/>
                <a:ea typeface="Calibri" panose="020F0502020204030204" pitchFamily="34" charset="0"/>
                <a:cs typeface="Times New Roman" panose="02020603050405020304" pitchFamily="18" charset="0"/>
              </a:rPr>
              <a:t>discerning the will of God </a:t>
            </a:r>
            <a:r>
              <a:rPr lang="en-US" sz="2800" dirty="0">
                <a:solidFill>
                  <a:schemeClr val="tx2"/>
                </a:solidFill>
                <a:latin typeface="Garamond" panose="02020404030301010803" pitchFamily="18" charset="0"/>
                <a:ea typeface="Calibri" panose="020F0502020204030204" pitchFamily="34" charset="0"/>
                <a:cs typeface="Times New Roman" panose="02020603050405020304" pitchFamily="18" charset="0"/>
              </a:rPr>
              <a:t>in one’s life.</a:t>
            </a:r>
            <a:endParaRPr lang="en-GB" sz="2800" dirty="0">
              <a:solidFill>
                <a:schemeClr val="tx2"/>
              </a:solidFill>
              <a:latin typeface="Garamond" panose="02020404030301010803" pitchFamily="18" charset="0"/>
              <a:ea typeface="Calibri" panose="020F0502020204030204" pitchFamily="34" charset="0"/>
              <a:cs typeface="Times New Roman" panose="02020603050405020304" pitchFamily="18" charset="0"/>
            </a:endParaRPr>
          </a:p>
          <a:p>
            <a:pPr marL="342900" indent="-342900">
              <a:lnSpc>
                <a:spcPct val="100000"/>
              </a:lnSpc>
              <a:spcAft>
                <a:spcPts val="1000"/>
              </a:spcAft>
              <a:buFont typeface="Arial" panose="020B0604020202020204" pitchFamily="34" charset="0"/>
              <a:buChar char="•"/>
            </a:pPr>
            <a:r>
              <a:rPr lang="en-US" sz="2800" dirty="0">
                <a:solidFill>
                  <a:schemeClr val="tx2"/>
                </a:solidFill>
                <a:latin typeface="Garamond" panose="02020404030301010803" pitchFamily="18" charset="0"/>
                <a:ea typeface="Calibri" panose="020F0502020204030204" pitchFamily="34" charset="0"/>
                <a:cs typeface="Times New Roman" panose="02020603050405020304" pitchFamily="18" charset="0"/>
              </a:rPr>
              <a:t>How do we know the will of God?  The following principles will be a mere summary of what has been discussed at length elsewhere. </a:t>
            </a:r>
            <a:endParaRPr lang="en-GB" sz="2800" dirty="0">
              <a:solidFill>
                <a:schemeClr val="tx2"/>
              </a:solidFill>
              <a:latin typeface="Garamond" panose="02020404030301010803" pitchFamily="18" charset="0"/>
              <a:ea typeface="Calibri" panose="020F0502020204030204" pitchFamily="34" charset="0"/>
              <a:cs typeface="Times New Roman" panose="02020603050405020304" pitchFamily="18" charset="0"/>
            </a:endParaRPr>
          </a:p>
        </p:txBody>
      </p:sp>
      <p:sp>
        <p:nvSpPr>
          <p:cNvPr id="6" name="Title 12">
            <a:extLst>
              <a:ext uri="{FF2B5EF4-FFF2-40B4-BE49-F238E27FC236}">
                <a16:creationId xmlns:a16="http://schemas.microsoft.com/office/drawing/2014/main" id="{8CD75CFB-52FB-4D4F-89BD-E1B03A7C4288}"/>
              </a:ext>
            </a:extLst>
          </p:cNvPr>
          <p:cNvSpPr>
            <a:spLocks noGrp="1"/>
          </p:cNvSpPr>
          <p:nvPr>
            <p:ph type="title"/>
          </p:nvPr>
        </p:nvSpPr>
        <p:spPr>
          <a:xfrm>
            <a:off x="643082" y="249381"/>
            <a:ext cx="9980682" cy="840653"/>
          </a:xfrm>
        </p:spPr>
        <p:txBody>
          <a:bodyPr/>
          <a:lstStyle/>
          <a:p>
            <a:r>
              <a:rPr lang="en-US" b="1" dirty="0"/>
              <a:t>Moral Decision-Making</a:t>
            </a:r>
            <a:endParaRPr lang="en-GB" dirty="0"/>
          </a:p>
        </p:txBody>
      </p:sp>
      <p:pic>
        <p:nvPicPr>
          <p:cNvPr id="8" name="Picture Placeholder 7">
            <a:extLst>
              <a:ext uri="{FF2B5EF4-FFF2-40B4-BE49-F238E27FC236}">
                <a16:creationId xmlns:a16="http://schemas.microsoft.com/office/drawing/2014/main" id="{273D6A83-BBAE-4BBA-8B3F-3A31849EDED5}"/>
              </a:ext>
            </a:extLst>
          </p:cNvPr>
          <p:cNvPicPr>
            <a:picLocks noGrp="1" noChangeAspect="1"/>
          </p:cNvPicPr>
          <p:nvPr>
            <p:ph type="pic" idx="1"/>
          </p:nvPr>
        </p:nvPicPr>
        <p:blipFill>
          <a:blip r:embed="rId2"/>
          <a:srcRect t="2604" b="2604"/>
          <a:stretch>
            <a:fillRect/>
          </a:stretch>
        </p:blipFill>
        <p:spPr>
          <a:xfrm>
            <a:off x="8044069" y="1609435"/>
            <a:ext cx="3472069" cy="3104323"/>
          </a:xfrm>
          <a:prstGeom prst="rect">
            <a:avLst/>
          </a:prstGeom>
        </p:spPr>
      </p:pic>
    </p:spTree>
    <p:extLst>
      <p:ext uri="{BB962C8B-B14F-4D97-AF65-F5344CB8AC3E}">
        <p14:creationId xmlns:p14="http://schemas.microsoft.com/office/powerpoint/2010/main" val="763202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927652" y="1401416"/>
            <a:ext cx="7023652" cy="4588565"/>
          </a:xfrm>
        </p:spPr>
        <p:txBody>
          <a:bodyPr>
            <a:noAutofit/>
          </a:bodyPr>
          <a:lstStyle/>
          <a:p>
            <a:pPr marL="342900" indent="-342900">
              <a:lnSpc>
                <a:spcPct val="100000"/>
              </a:lnSpc>
              <a:spcAft>
                <a:spcPts val="1000"/>
              </a:spcAft>
              <a:buFont typeface="Arial" panose="020B0604020202020204" pitchFamily="34" charset="0"/>
              <a:buChar char="•"/>
            </a:pPr>
            <a:r>
              <a:rPr lang="en-US" sz="3200" dirty="0">
                <a:solidFill>
                  <a:schemeClr val="tx2"/>
                </a:solidFill>
                <a:latin typeface="Garamond" panose="02020404030301010803" pitchFamily="18" charset="0"/>
                <a:ea typeface="Calibri" panose="020F0502020204030204" pitchFamily="34" charset="0"/>
                <a:cs typeface="Times New Roman" panose="02020603050405020304" pitchFamily="18" charset="0"/>
              </a:rPr>
              <a:t>Various Christian groups and denominations also disagree about particular points concerning how we discern the will of God. Therefore the following are a summary of those points that are held in common agreement by most Christian.</a:t>
            </a:r>
            <a:endParaRPr lang="en-GB" sz="3200" dirty="0">
              <a:solidFill>
                <a:schemeClr val="tx2"/>
              </a:solidFill>
              <a:latin typeface="Garamond" panose="02020404030301010803" pitchFamily="18" charset="0"/>
              <a:ea typeface="Calibri" panose="020F0502020204030204" pitchFamily="34" charset="0"/>
              <a:cs typeface="Times New Roman" panose="02020603050405020304" pitchFamily="18" charset="0"/>
            </a:endParaRPr>
          </a:p>
        </p:txBody>
      </p:sp>
      <p:sp>
        <p:nvSpPr>
          <p:cNvPr id="6" name="Title 12">
            <a:extLst>
              <a:ext uri="{FF2B5EF4-FFF2-40B4-BE49-F238E27FC236}">
                <a16:creationId xmlns:a16="http://schemas.microsoft.com/office/drawing/2014/main" id="{8CD75CFB-52FB-4D4F-89BD-E1B03A7C4288}"/>
              </a:ext>
            </a:extLst>
          </p:cNvPr>
          <p:cNvSpPr>
            <a:spLocks noGrp="1"/>
          </p:cNvSpPr>
          <p:nvPr>
            <p:ph type="title"/>
          </p:nvPr>
        </p:nvSpPr>
        <p:spPr>
          <a:xfrm>
            <a:off x="1104900" y="76200"/>
            <a:ext cx="9980682" cy="1096962"/>
          </a:xfrm>
        </p:spPr>
        <p:txBody>
          <a:bodyPr/>
          <a:lstStyle/>
          <a:p>
            <a:r>
              <a:rPr lang="en-US" b="1" dirty="0"/>
              <a:t>Moral Decision-Making</a:t>
            </a:r>
            <a:endParaRPr lang="en-GB" dirty="0"/>
          </a:p>
        </p:txBody>
      </p:sp>
      <p:pic>
        <p:nvPicPr>
          <p:cNvPr id="8" name="Picture Placeholder 7">
            <a:extLst>
              <a:ext uri="{FF2B5EF4-FFF2-40B4-BE49-F238E27FC236}">
                <a16:creationId xmlns:a16="http://schemas.microsoft.com/office/drawing/2014/main" id="{273D6A83-BBAE-4BBA-8B3F-3A31849EDED5}"/>
              </a:ext>
            </a:extLst>
          </p:cNvPr>
          <p:cNvPicPr>
            <a:picLocks noGrp="1" noChangeAspect="1"/>
          </p:cNvPicPr>
          <p:nvPr>
            <p:ph type="pic" idx="1"/>
          </p:nvPr>
        </p:nvPicPr>
        <p:blipFill>
          <a:blip r:embed="rId2"/>
          <a:srcRect t="2604" b="2604"/>
          <a:stretch>
            <a:fillRect/>
          </a:stretch>
        </p:blipFill>
        <p:spPr>
          <a:xfrm>
            <a:off x="8044069" y="1600199"/>
            <a:ext cx="3472069" cy="3104323"/>
          </a:xfrm>
          <a:prstGeom prst="rect">
            <a:avLst/>
          </a:prstGeom>
        </p:spPr>
      </p:pic>
    </p:spTree>
    <p:extLst>
      <p:ext uri="{BB962C8B-B14F-4D97-AF65-F5344CB8AC3E}">
        <p14:creationId xmlns:p14="http://schemas.microsoft.com/office/powerpoint/2010/main" val="3475797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627822" y="3318411"/>
            <a:ext cx="8590530" cy="2898913"/>
          </a:xfrm>
        </p:spPr>
        <p:txBody>
          <a:bodyPr>
            <a:noAutofit/>
          </a:bodyPr>
          <a:lstStyle/>
          <a:p>
            <a:pPr marL="342900" indent="-342900">
              <a:lnSpc>
                <a:spcPct val="100000"/>
              </a:lnSpc>
              <a:spcAft>
                <a:spcPts val="1000"/>
              </a:spcAft>
              <a:buFont typeface="Arial" panose="020B0604020202020204" pitchFamily="34" charset="0"/>
              <a:buChar char="•"/>
            </a:pPr>
            <a:r>
              <a:rPr lang="en-US" sz="2000" dirty="0">
                <a:solidFill>
                  <a:schemeClr val="tx2"/>
                </a:solidFill>
                <a:latin typeface="Times New Roman" panose="02020603050405020304" pitchFamily="18" charset="0"/>
                <a:ea typeface="Calibri" panose="020F0502020204030204" pitchFamily="34" charset="0"/>
                <a:cs typeface="Times New Roman" panose="02020603050405020304" pitchFamily="18" charset="0"/>
              </a:rPr>
              <a:t>For example, a person does not have to ask if he should get drunk because the Bible has already addressed that issue (Eph. 5:18), nor does a business man have to ask if he should cheat in his income taxes, for the Bible has spoken to that question (Rom. 13:7). An unmarried couple does not need to ask if they should live together before they marry, again, the Bible has addressed that issue (1 Cor. 6:18)</a:t>
            </a:r>
            <a:endParaRPr lang="en-GB" dirty="0">
              <a:solidFill>
                <a:schemeClr val="tx2"/>
              </a:solidFill>
              <a:latin typeface="Calibri" panose="020F0502020204030204" pitchFamily="34" charset="0"/>
              <a:ea typeface="Calibri" panose="020F0502020204030204" pitchFamily="34" charset="0"/>
              <a:cs typeface="Times New Roman" panose="02020603050405020304" pitchFamily="18" charset="0"/>
            </a:endParaRPr>
          </a:p>
          <a:p>
            <a:pPr marL="342900" indent="-342900">
              <a:lnSpc>
                <a:spcPct val="100000"/>
              </a:lnSpc>
              <a:spcAft>
                <a:spcPts val="1000"/>
              </a:spcAft>
              <a:buFont typeface="Arial" panose="020B0604020202020204" pitchFamily="34" charset="0"/>
              <a:buChar char="•"/>
            </a:pPr>
            <a:r>
              <a:rPr lang="en-US" sz="2000" dirty="0">
                <a:solidFill>
                  <a:schemeClr val="tx2"/>
                </a:solidFill>
                <a:latin typeface="Times New Roman" panose="02020603050405020304" pitchFamily="18" charset="0"/>
                <a:ea typeface="Calibri" panose="020F0502020204030204" pitchFamily="34" charset="0"/>
                <a:cs typeface="Times New Roman" panose="02020603050405020304" pitchFamily="18" charset="0"/>
              </a:rPr>
              <a:t>The Bible provides boundaries and barriers to our moral actions. We are to stay within those moral boundaries. Paul, writing to the church in Corinth told them, “Do not go beyond what is written.” (1Cor. 4:6)</a:t>
            </a:r>
            <a:endParaRPr lang="en-GB" dirty="0">
              <a:solidFill>
                <a:schemeClr val="tx2"/>
              </a:solidFill>
              <a:latin typeface="Calibri" panose="020F0502020204030204" pitchFamily="34" charset="0"/>
              <a:ea typeface="Calibri" panose="020F0502020204030204" pitchFamily="34" charset="0"/>
              <a:cs typeface="Times New Roman" panose="02020603050405020304" pitchFamily="18" charset="0"/>
            </a:endParaRPr>
          </a:p>
          <a:p>
            <a:pPr marL="342900" indent="-342900">
              <a:lnSpc>
                <a:spcPct val="100000"/>
              </a:lnSpc>
              <a:spcAft>
                <a:spcPts val="1000"/>
              </a:spcAft>
              <a:buFont typeface="Arial" panose="020B0604020202020204" pitchFamily="34" charset="0"/>
              <a:buChar char="•"/>
            </a:pPr>
            <a:endParaRPr lang="en-GB" sz="2000" dirty="0">
              <a:solidFill>
                <a:schemeClr val="tx2"/>
              </a:solidFill>
              <a:latin typeface="Garamond" panose="02020404030301010803" pitchFamily="18" charset="0"/>
              <a:ea typeface="Calibri" panose="020F0502020204030204" pitchFamily="34" charset="0"/>
              <a:cs typeface="Times New Roman" panose="02020603050405020304" pitchFamily="18" charset="0"/>
            </a:endParaRPr>
          </a:p>
        </p:txBody>
      </p:sp>
      <p:sp>
        <p:nvSpPr>
          <p:cNvPr id="6" name="Title 12">
            <a:extLst>
              <a:ext uri="{FF2B5EF4-FFF2-40B4-BE49-F238E27FC236}">
                <a16:creationId xmlns:a16="http://schemas.microsoft.com/office/drawing/2014/main" id="{8CD75CFB-52FB-4D4F-89BD-E1B03A7C4288}"/>
              </a:ext>
            </a:extLst>
          </p:cNvPr>
          <p:cNvSpPr>
            <a:spLocks noGrp="1"/>
          </p:cNvSpPr>
          <p:nvPr>
            <p:ph type="title"/>
          </p:nvPr>
        </p:nvSpPr>
        <p:spPr>
          <a:xfrm>
            <a:off x="1104900" y="76200"/>
            <a:ext cx="9980682" cy="1096962"/>
          </a:xfrm>
        </p:spPr>
        <p:txBody>
          <a:bodyPr/>
          <a:lstStyle/>
          <a:p>
            <a:r>
              <a:rPr lang="en-US" b="1" dirty="0"/>
              <a:t>Moral Decision-Making</a:t>
            </a:r>
            <a:endParaRPr lang="en-GB" dirty="0"/>
          </a:p>
        </p:txBody>
      </p:sp>
      <p:pic>
        <p:nvPicPr>
          <p:cNvPr id="8" name="Picture Placeholder 7">
            <a:extLst>
              <a:ext uri="{FF2B5EF4-FFF2-40B4-BE49-F238E27FC236}">
                <a16:creationId xmlns:a16="http://schemas.microsoft.com/office/drawing/2014/main" id="{273D6A83-BBAE-4BBA-8B3F-3A31849EDED5}"/>
              </a:ext>
            </a:extLst>
          </p:cNvPr>
          <p:cNvPicPr>
            <a:picLocks noGrp="1" noChangeAspect="1"/>
          </p:cNvPicPr>
          <p:nvPr>
            <p:ph type="pic" idx="1"/>
          </p:nvPr>
        </p:nvPicPr>
        <p:blipFill>
          <a:blip r:embed="rId2"/>
          <a:srcRect t="2604" b="2604"/>
          <a:stretch>
            <a:fillRect/>
          </a:stretch>
        </p:blipFill>
        <p:spPr>
          <a:xfrm>
            <a:off x="9390630" y="4297017"/>
            <a:ext cx="2801370" cy="2504661"/>
          </a:xfrm>
          <a:prstGeom prst="rect">
            <a:avLst/>
          </a:prstGeom>
        </p:spPr>
      </p:pic>
      <p:sp>
        <p:nvSpPr>
          <p:cNvPr id="2" name="Rectangle 1">
            <a:extLst>
              <a:ext uri="{FF2B5EF4-FFF2-40B4-BE49-F238E27FC236}">
                <a16:creationId xmlns:a16="http://schemas.microsoft.com/office/drawing/2014/main" id="{ABA9AC16-9E50-48F8-A653-0136B26756FD}"/>
              </a:ext>
            </a:extLst>
          </p:cNvPr>
          <p:cNvSpPr/>
          <p:nvPr/>
        </p:nvSpPr>
        <p:spPr>
          <a:xfrm>
            <a:off x="1104901" y="1283751"/>
            <a:ext cx="9980681" cy="1815882"/>
          </a:xfrm>
          <a:prstGeom prst="rect">
            <a:avLst/>
          </a:prstGeom>
        </p:spPr>
        <p:txBody>
          <a:bodyPr wrap="square">
            <a:spAutoFit/>
          </a:bodyPr>
          <a:lstStyle/>
          <a:p>
            <a:pPr marL="342900" indent="-342900">
              <a:spcAft>
                <a:spcPts val="1000"/>
              </a:spcAft>
              <a:buFont typeface="Arial" panose="020B0604020202020204" pitchFamily="34" charset="0"/>
              <a:buChar char="•"/>
            </a:pPr>
            <a:r>
              <a:rPr lang="en-US" sz="2800" dirty="0">
                <a:solidFill>
                  <a:schemeClr val="tx2"/>
                </a:solidFill>
                <a:latin typeface="Times New Roman" panose="02020603050405020304" pitchFamily="18" charset="0"/>
                <a:ea typeface="Calibri" panose="020F0502020204030204" pitchFamily="34" charset="0"/>
                <a:cs typeface="Times New Roman" panose="02020603050405020304" pitchFamily="18" charset="0"/>
              </a:rPr>
              <a:t>First, we can know God’s will through the </a:t>
            </a:r>
            <a:r>
              <a:rPr lang="en-US" sz="2800" b="1" dirty="0">
                <a:solidFill>
                  <a:schemeClr val="tx2"/>
                </a:solidFill>
                <a:latin typeface="Times New Roman" panose="02020603050405020304" pitchFamily="18" charset="0"/>
                <a:ea typeface="Calibri" panose="020F0502020204030204" pitchFamily="34" charset="0"/>
                <a:cs typeface="Times New Roman" panose="02020603050405020304" pitchFamily="18" charset="0"/>
              </a:rPr>
              <a:t>Bible</a:t>
            </a:r>
            <a:r>
              <a:rPr lang="en-US" sz="2800" dirty="0">
                <a:solidFill>
                  <a:schemeClr val="tx2"/>
                </a:solidFill>
                <a:latin typeface="Times New Roman" panose="02020603050405020304" pitchFamily="18" charset="0"/>
                <a:ea typeface="Calibri" panose="020F0502020204030204" pitchFamily="34" charset="0"/>
                <a:cs typeface="Times New Roman" panose="02020603050405020304" pitchFamily="18" charset="0"/>
              </a:rPr>
              <a:t>. Before considering any other way to discern God’s will, one should ask whether the Bible has already provided guidance in a particular area. The Bible is full of God’s specific commands and principles. </a:t>
            </a:r>
          </a:p>
        </p:txBody>
      </p:sp>
    </p:spTree>
    <p:extLst>
      <p:ext uri="{BB962C8B-B14F-4D97-AF65-F5344CB8AC3E}">
        <p14:creationId xmlns:p14="http://schemas.microsoft.com/office/powerpoint/2010/main" val="2428429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927651" y="1401416"/>
            <a:ext cx="7235688" cy="4588565"/>
          </a:xfrm>
        </p:spPr>
        <p:txBody>
          <a:bodyPr>
            <a:noAutofit/>
          </a:bodyPr>
          <a:lstStyle/>
          <a:p>
            <a:pPr marL="457200" indent="-457200">
              <a:lnSpc>
                <a:spcPct val="100000"/>
              </a:lnSpc>
              <a:spcAft>
                <a:spcPts val="1000"/>
              </a:spcAft>
              <a:buFont typeface="Arial" panose="020B0604020202020204" pitchFamily="34" charset="0"/>
              <a:buChar char="•"/>
            </a:pPr>
            <a:r>
              <a:rPr lang="en-US" sz="2800" dirty="0">
                <a:solidFill>
                  <a:schemeClr val="tx2"/>
                </a:solidFill>
                <a:latin typeface="Times New Roman" panose="02020603050405020304" pitchFamily="18" charset="0"/>
                <a:ea typeface="Calibri" panose="020F0502020204030204" pitchFamily="34" charset="0"/>
                <a:cs typeface="Times New Roman" panose="02020603050405020304" pitchFamily="18" charset="0"/>
              </a:rPr>
              <a:t>A second way we discern God’s will is through </a:t>
            </a:r>
            <a:r>
              <a:rPr lang="en-US" sz="2800" b="1" dirty="0">
                <a:solidFill>
                  <a:schemeClr val="tx2"/>
                </a:solidFill>
                <a:latin typeface="Times New Roman" panose="02020603050405020304" pitchFamily="18" charset="0"/>
                <a:ea typeface="Calibri" panose="020F0502020204030204" pitchFamily="34" charset="0"/>
                <a:cs typeface="Times New Roman" panose="02020603050405020304" pitchFamily="18" charset="0"/>
              </a:rPr>
              <a:t>prayer</a:t>
            </a:r>
            <a:r>
              <a:rPr lang="en-US" sz="2800" dirty="0">
                <a:solidFill>
                  <a:schemeClr val="tx2"/>
                </a:solidFill>
                <a:latin typeface="Times New Roman" panose="02020603050405020304" pitchFamily="18" charset="0"/>
                <a:ea typeface="Calibri" panose="020F0502020204030204" pitchFamily="34" charset="0"/>
                <a:cs typeface="Times New Roman" panose="02020603050405020304" pitchFamily="18" charset="0"/>
              </a:rPr>
              <a:t>. </a:t>
            </a:r>
          </a:p>
          <a:p>
            <a:pPr marL="457200" indent="-457200">
              <a:lnSpc>
                <a:spcPct val="100000"/>
              </a:lnSpc>
              <a:spcAft>
                <a:spcPts val="1000"/>
              </a:spcAft>
              <a:buFont typeface="Arial" panose="020B0604020202020204" pitchFamily="34" charset="0"/>
              <a:buChar char="•"/>
            </a:pPr>
            <a:r>
              <a:rPr lang="en-US" sz="2800" dirty="0">
                <a:solidFill>
                  <a:schemeClr val="tx2"/>
                </a:solidFill>
                <a:latin typeface="Times New Roman" panose="02020603050405020304" pitchFamily="18" charset="0"/>
                <a:ea typeface="Calibri" panose="020F0502020204030204" pitchFamily="34" charset="0"/>
                <a:cs typeface="Times New Roman" panose="02020603050405020304" pitchFamily="18" charset="0"/>
              </a:rPr>
              <a:t>We are commanded to bring our requests before God in Phil. 4:6. We are told, “Do not be anxious about anything, but in everything, by prayer and petition with thanksgiving, present your requests to God.” </a:t>
            </a:r>
          </a:p>
          <a:p>
            <a:pPr marL="457200" indent="-457200">
              <a:lnSpc>
                <a:spcPct val="100000"/>
              </a:lnSpc>
              <a:spcAft>
                <a:spcPts val="1000"/>
              </a:spcAft>
              <a:buFont typeface="Arial" panose="020B0604020202020204" pitchFamily="34" charset="0"/>
              <a:buChar char="•"/>
            </a:pPr>
            <a:r>
              <a:rPr lang="en-US" sz="2400" dirty="0">
                <a:solidFill>
                  <a:schemeClr val="tx2"/>
                </a:solidFill>
                <a:latin typeface="Times New Roman" panose="02020603050405020304" pitchFamily="18" charset="0"/>
                <a:ea typeface="Calibri" panose="020F0502020204030204" pitchFamily="34" charset="0"/>
                <a:cs typeface="Times New Roman" panose="02020603050405020304" pitchFamily="18" charset="0"/>
              </a:rPr>
              <a:t>If we are earnestly reading the Bible and seeking God’s will, He will reveal it to us often through the work of the Holy Spirit in our lives. We read in Rom 8:27 that the Spirit intercedes for the saints in accordance with the will of God. </a:t>
            </a:r>
            <a:endParaRPr lang="en-GB" sz="2000" dirty="0">
              <a:solidFill>
                <a:schemeClr val="tx2"/>
              </a:solidFill>
              <a:latin typeface="Calibri" panose="020F0502020204030204" pitchFamily="34" charset="0"/>
              <a:ea typeface="Calibri" panose="020F0502020204030204" pitchFamily="34" charset="0"/>
              <a:cs typeface="Times New Roman" panose="02020603050405020304" pitchFamily="18" charset="0"/>
            </a:endParaRPr>
          </a:p>
          <a:p>
            <a:pPr marL="342900" indent="-342900">
              <a:lnSpc>
                <a:spcPct val="100000"/>
              </a:lnSpc>
              <a:spcAft>
                <a:spcPts val="1000"/>
              </a:spcAft>
              <a:buFont typeface="Arial" panose="020B0604020202020204" pitchFamily="34" charset="0"/>
              <a:buChar char="•"/>
            </a:pPr>
            <a:endParaRPr lang="en-GB" sz="2800" dirty="0">
              <a:solidFill>
                <a:schemeClr val="tx2"/>
              </a:solidFill>
              <a:latin typeface="Garamond" panose="02020404030301010803" pitchFamily="18" charset="0"/>
              <a:ea typeface="Calibri" panose="020F0502020204030204" pitchFamily="34" charset="0"/>
              <a:cs typeface="Times New Roman" panose="02020603050405020304" pitchFamily="18" charset="0"/>
            </a:endParaRPr>
          </a:p>
        </p:txBody>
      </p:sp>
      <p:sp>
        <p:nvSpPr>
          <p:cNvPr id="6" name="Title 12">
            <a:extLst>
              <a:ext uri="{FF2B5EF4-FFF2-40B4-BE49-F238E27FC236}">
                <a16:creationId xmlns:a16="http://schemas.microsoft.com/office/drawing/2014/main" id="{8CD75CFB-52FB-4D4F-89BD-E1B03A7C4288}"/>
              </a:ext>
            </a:extLst>
          </p:cNvPr>
          <p:cNvSpPr>
            <a:spLocks noGrp="1"/>
          </p:cNvSpPr>
          <p:nvPr>
            <p:ph type="title"/>
          </p:nvPr>
        </p:nvSpPr>
        <p:spPr>
          <a:xfrm>
            <a:off x="1104900" y="76200"/>
            <a:ext cx="9980682" cy="1096962"/>
          </a:xfrm>
        </p:spPr>
        <p:txBody>
          <a:bodyPr/>
          <a:lstStyle/>
          <a:p>
            <a:r>
              <a:rPr lang="en-US" b="1" dirty="0"/>
              <a:t>Moral Decision-Making</a:t>
            </a:r>
            <a:endParaRPr lang="en-GB" dirty="0"/>
          </a:p>
        </p:txBody>
      </p:sp>
      <p:pic>
        <p:nvPicPr>
          <p:cNvPr id="8" name="Picture Placeholder 7">
            <a:extLst>
              <a:ext uri="{FF2B5EF4-FFF2-40B4-BE49-F238E27FC236}">
                <a16:creationId xmlns:a16="http://schemas.microsoft.com/office/drawing/2014/main" id="{273D6A83-BBAE-4BBA-8B3F-3A31849EDED5}"/>
              </a:ext>
            </a:extLst>
          </p:cNvPr>
          <p:cNvPicPr>
            <a:picLocks noGrp="1" noChangeAspect="1"/>
          </p:cNvPicPr>
          <p:nvPr>
            <p:ph type="pic" idx="1"/>
          </p:nvPr>
        </p:nvPicPr>
        <p:blipFill>
          <a:blip r:embed="rId2"/>
          <a:srcRect t="2604" b="2604"/>
          <a:stretch>
            <a:fillRect/>
          </a:stretch>
        </p:blipFill>
        <p:spPr>
          <a:xfrm>
            <a:off x="8163339" y="1600199"/>
            <a:ext cx="3352799" cy="3104323"/>
          </a:xfrm>
          <a:prstGeom prst="rect">
            <a:avLst/>
          </a:prstGeom>
        </p:spPr>
      </p:pic>
    </p:spTree>
    <p:extLst>
      <p:ext uri="{BB962C8B-B14F-4D97-AF65-F5344CB8AC3E}">
        <p14:creationId xmlns:p14="http://schemas.microsoft.com/office/powerpoint/2010/main" val="28817393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927652" y="1401416"/>
            <a:ext cx="7023652" cy="4588565"/>
          </a:xfrm>
        </p:spPr>
        <p:txBody>
          <a:bodyPr>
            <a:noAutofit/>
          </a:bodyPr>
          <a:lstStyle/>
          <a:p>
            <a:pPr marL="342900" indent="-342900">
              <a:lnSpc>
                <a:spcPct val="115000"/>
              </a:lnSpc>
              <a:spcAft>
                <a:spcPts val="1000"/>
              </a:spcAft>
              <a:buFont typeface="Arial" panose="020B0604020202020204" pitchFamily="34" charset="0"/>
              <a:buChar char="•"/>
            </a:pPr>
            <a:r>
              <a:rPr lang="en-US" sz="2400" dirty="0">
                <a:solidFill>
                  <a:schemeClr val="tx2"/>
                </a:solidFill>
                <a:latin typeface="Times New Roman" panose="02020603050405020304" pitchFamily="18" charset="0"/>
                <a:ea typeface="Calibri" panose="020F0502020204030204" pitchFamily="34" charset="0"/>
                <a:cs typeface="Times New Roman" panose="02020603050405020304" pitchFamily="18" charset="0"/>
              </a:rPr>
              <a:t>A third way we discern God’s will is through our </a:t>
            </a:r>
            <a:r>
              <a:rPr lang="en-US" sz="2400" b="1" dirty="0">
                <a:solidFill>
                  <a:schemeClr val="tx2"/>
                </a:solidFill>
                <a:latin typeface="Times New Roman" panose="02020603050405020304" pitchFamily="18" charset="0"/>
                <a:ea typeface="Calibri" panose="020F0502020204030204" pitchFamily="34" charset="0"/>
                <a:cs typeface="Times New Roman" panose="02020603050405020304" pitchFamily="18" charset="0"/>
              </a:rPr>
              <a:t>conscience</a:t>
            </a:r>
            <a:r>
              <a:rPr lang="en-US" sz="2400" dirty="0">
                <a:solidFill>
                  <a:schemeClr val="tx2"/>
                </a:solidFill>
                <a:latin typeface="Times New Roman" panose="02020603050405020304" pitchFamily="18" charset="0"/>
                <a:ea typeface="Calibri" panose="020F0502020204030204" pitchFamily="34" charset="0"/>
                <a:cs typeface="Times New Roman" panose="02020603050405020304" pitchFamily="18" charset="0"/>
              </a:rPr>
              <a:t>. If our conscience is troubling us about a particular action or behavior then we should refrain from that activity. </a:t>
            </a:r>
          </a:p>
          <a:p>
            <a:pPr marL="342900" indent="-342900">
              <a:lnSpc>
                <a:spcPct val="115000"/>
              </a:lnSpc>
              <a:spcAft>
                <a:spcPts val="1000"/>
              </a:spcAft>
              <a:buFont typeface="Arial" panose="020B0604020202020204" pitchFamily="34" charset="0"/>
              <a:buChar char="•"/>
            </a:pPr>
            <a:r>
              <a:rPr lang="en-US" sz="2400" dirty="0">
                <a:solidFill>
                  <a:schemeClr val="tx2"/>
                </a:solidFill>
                <a:latin typeface="Times New Roman" panose="02020603050405020304" pitchFamily="18" charset="0"/>
                <a:ea typeface="Calibri" panose="020F0502020204030204" pitchFamily="34" charset="0"/>
                <a:cs typeface="Times New Roman" panose="02020603050405020304" pitchFamily="18" charset="0"/>
              </a:rPr>
              <a:t>Paul said, “Each person should be fully convinced in his own mind” (Rom. 14:5). He added that “everything that does not come from faith is sin” (14:23)</a:t>
            </a:r>
            <a:endParaRPr lang="en-GB" sz="2000" dirty="0">
              <a:solidFill>
                <a:schemeClr val="tx2"/>
              </a:solidFill>
              <a:latin typeface="Calibri" panose="020F0502020204030204" pitchFamily="34" charset="0"/>
              <a:ea typeface="Calibri" panose="020F0502020204030204" pitchFamily="34" charset="0"/>
              <a:cs typeface="Times New Roman" panose="02020603050405020304" pitchFamily="18" charset="0"/>
            </a:endParaRPr>
          </a:p>
          <a:p>
            <a:pPr marL="342900" indent="-342900">
              <a:lnSpc>
                <a:spcPct val="115000"/>
              </a:lnSpc>
              <a:spcAft>
                <a:spcPts val="1000"/>
              </a:spcAft>
              <a:buFont typeface="Arial" panose="020B0604020202020204" pitchFamily="34" charset="0"/>
              <a:buChar char="•"/>
            </a:pPr>
            <a:r>
              <a:rPr lang="en-US" sz="2400" dirty="0">
                <a:solidFill>
                  <a:schemeClr val="tx2"/>
                </a:solidFill>
                <a:latin typeface="Times New Roman" panose="02020603050405020304" pitchFamily="18" charset="0"/>
                <a:ea typeface="Calibri" panose="020F0502020204030204" pitchFamily="34" charset="0"/>
                <a:cs typeface="Times New Roman" panose="02020603050405020304" pitchFamily="18" charset="0"/>
              </a:rPr>
              <a:t>The opposite is not necessarily true. In other words, conscience is a good stop sign but not a green light. </a:t>
            </a:r>
            <a:endParaRPr lang="en-GB" sz="2400" dirty="0">
              <a:solidFill>
                <a:schemeClr val="tx2"/>
              </a:solidFill>
              <a:latin typeface="Garamond" panose="02020404030301010803" pitchFamily="18" charset="0"/>
              <a:ea typeface="Calibri" panose="020F0502020204030204" pitchFamily="34" charset="0"/>
              <a:cs typeface="Times New Roman" panose="02020603050405020304" pitchFamily="18" charset="0"/>
            </a:endParaRPr>
          </a:p>
        </p:txBody>
      </p:sp>
      <p:sp>
        <p:nvSpPr>
          <p:cNvPr id="6" name="Title 12">
            <a:extLst>
              <a:ext uri="{FF2B5EF4-FFF2-40B4-BE49-F238E27FC236}">
                <a16:creationId xmlns:a16="http://schemas.microsoft.com/office/drawing/2014/main" id="{8CD75CFB-52FB-4D4F-89BD-E1B03A7C4288}"/>
              </a:ext>
            </a:extLst>
          </p:cNvPr>
          <p:cNvSpPr>
            <a:spLocks noGrp="1"/>
          </p:cNvSpPr>
          <p:nvPr>
            <p:ph type="title"/>
          </p:nvPr>
        </p:nvSpPr>
        <p:spPr>
          <a:xfrm>
            <a:off x="1104900" y="76200"/>
            <a:ext cx="9980682" cy="1096962"/>
          </a:xfrm>
        </p:spPr>
        <p:txBody>
          <a:bodyPr/>
          <a:lstStyle/>
          <a:p>
            <a:r>
              <a:rPr lang="en-US" b="1" dirty="0"/>
              <a:t>Moral Decision-Making</a:t>
            </a:r>
            <a:endParaRPr lang="en-GB" dirty="0"/>
          </a:p>
        </p:txBody>
      </p:sp>
      <p:pic>
        <p:nvPicPr>
          <p:cNvPr id="8" name="Picture Placeholder 7">
            <a:extLst>
              <a:ext uri="{FF2B5EF4-FFF2-40B4-BE49-F238E27FC236}">
                <a16:creationId xmlns:a16="http://schemas.microsoft.com/office/drawing/2014/main" id="{273D6A83-BBAE-4BBA-8B3F-3A31849EDED5}"/>
              </a:ext>
            </a:extLst>
          </p:cNvPr>
          <p:cNvPicPr>
            <a:picLocks noGrp="1" noChangeAspect="1"/>
          </p:cNvPicPr>
          <p:nvPr>
            <p:ph type="pic" idx="1"/>
          </p:nvPr>
        </p:nvPicPr>
        <p:blipFill>
          <a:blip r:embed="rId2"/>
          <a:srcRect t="2604" b="2604"/>
          <a:stretch>
            <a:fillRect/>
          </a:stretch>
        </p:blipFill>
        <p:spPr>
          <a:xfrm>
            <a:off x="8044069" y="1600199"/>
            <a:ext cx="3472069" cy="3104323"/>
          </a:xfrm>
          <a:prstGeom prst="rect">
            <a:avLst/>
          </a:prstGeom>
        </p:spPr>
      </p:pic>
    </p:spTree>
    <p:extLst>
      <p:ext uri="{BB962C8B-B14F-4D97-AF65-F5344CB8AC3E}">
        <p14:creationId xmlns:p14="http://schemas.microsoft.com/office/powerpoint/2010/main" val="2315597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927652" y="1401416"/>
            <a:ext cx="7023652" cy="4588565"/>
          </a:xfrm>
        </p:spPr>
        <p:txBody>
          <a:bodyPr>
            <a:noAutofit/>
          </a:bodyPr>
          <a:lstStyle/>
          <a:p>
            <a:pPr marL="342900" indent="-342900">
              <a:lnSpc>
                <a:spcPct val="115000"/>
              </a:lnSpc>
              <a:spcAft>
                <a:spcPts val="1000"/>
              </a:spcAft>
              <a:buFont typeface="Arial" panose="020B0604020202020204" pitchFamily="34" charset="0"/>
              <a:buChar char="•"/>
            </a:pPr>
            <a:r>
              <a:rPr lang="en-US" sz="2400" dirty="0">
                <a:solidFill>
                  <a:schemeClr val="tx2"/>
                </a:solidFill>
                <a:latin typeface="Times New Roman" panose="02020603050405020304" pitchFamily="18" charset="0"/>
                <a:ea typeface="Calibri" panose="020F0502020204030204" pitchFamily="34" charset="0"/>
                <a:cs typeface="Times New Roman" panose="02020603050405020304" pitchFamily="18" charset="0"/>
              </a:rPr>
              <a:t>A troubled conscience is sufficient justification to refrain and a guilty conscience is reason enough to stop a particular action or behavior. </a:t>
            </a:r>
          </a:p>
          <a:p>
            <a:pPr marL="342900" indent="-342900">
              <a:lnSpc>
                <a:spcPct val="115000"/>
              </a:lnSpc>
              <a:spcAft>
                <a:spcPts val="1000"/>
              </a:spcAft>
              <a:buFont typeface="Arial" panose="020B0604020202020204" pitchFamily="34" charset="0"/>
              <a:buChar char="•"/>
            </a:pPr>
            <a:r>
              <a:rPr lang="en-US" sz="2400" dirty="0">
                <a:solidFill>
                  <a:schemeClr val="tx2"/>
                </a:solidFill>
                <a:latin typeface="Times New Roman" panose="02020603050405020304" pitchFamily="18" charset="0"/>
                <a:ea typeface="Calibri" panose="020F0502020204030204" pitchFamily="34" charset="0"/>
                <a:cs typeface="Times New Roman" panose="02020603050405020304" pitchFamily="18" charset="0"/>
              </a:rPr>
              <a:t>A clear conscience, however, is no justification for proceeding. The Bible teaches that “the heart is deceitful above all things and beyond cure, who understands it” (Jer. 17:9) we can easily deceive ourselves into sin. </a:t>
            </a:r>
          </a:p>
        </p:txBody>
      </p:sp>
      <p:sp>
        <p:nvSpPr>
          <p:cNvPr id="6" name="Title 12">
            <a:extLst>
              <a:ext uri="{FF2B5EF4-FFF2-40B4-BE49-F238E27FC236}">
                <a16:creationId xmlns:a16="http://schemas.microsoft.com/office/drawing/2014/main" id="{8CD75CFB-52FB-4D4F-89BD-E1B03A7C4288}"/>
              </a:ext>
            </a:extLst>
          </p:cNvPr>
          <p:cNvSpPr>
            <a:spLocks noGrp="1"/>
          </p:cNvSpPr>
          <p:nvPr>
            <p:ph type="title"/>
          </p:nvPr>
        </p:nvSpPr>
        <p:spPr>
          <a:xfrm>
            <a:off x="1104900" y="76200"/>
            <a:ext cx="9980682" cy="1096962"/>
          </a:xfrm>
        </p:spPr>
        <p:txBody>
          <a:bodyPr/>
          <a:lstStyle/>
          <a:p>
            <a:r>
              <a:rPr lang="en-US" b="1" dirty="0"/>
              <a:t>Moral Decision-Making</a:t>
            </a:r>
            <a:endParaRPr lang="en-GB" dirty="0"/>
          </a:p>
        </p:txBody>
      </p:sp>
      <p:pic>
        <p:nvPicPr>
          <p:cNvPr id="8" name="Picture Placeholder 7">
            <a:extLst>
              <a:ext uri="{FF2B5EF4-FFF2-40B4-BE49-F238E27FC236}">
                <a16:creationId xmlns:a16="http://schemas.microsoft.com/office/drawing/2014/main" id="{273D6A83-BBAE-4BBA-8B3F-3A31849EDED5}"/>
              </a:ext>
            </a:extLst>
          </p:cNvPr>
          <p:cNvPicPr>
            <a:picLocks noGrp="1" noChangeAspect="1"/>
          </p:cNvPicPr>
          <p:nvPr>
            <p:ph type="pic" idx="1"/>
          </p:nvPr>
        </p:nvPicPr>
        <p:blipFill>
          <a:blip r:embed="rId2"/>
          <a:srcRect t="2604" b="2604"/>
          <a:stretch>
            <a:fillRect/>
          </a:stretch>
        </p:blipFill>
        <p:spPr>
          <a:xfrm>
            <a:off x="8044069" y="1600199"/>
            <a:ext cx="3472069" cy="3104323"/>
          </a:xfrm>
          <a:prstGeom prst="rect">
            <a:avLst/>
          </a:prstGeom>
        </p:spPr>
      </p:pic>
      <p:sp>
        <p:nvSpPr>
          <p:cNvPr id="2" name="Rectangle 1">
            <a:extLst>
              <a:ext uri="{FF2B5EF4-FFF2-40B4-BE49-F238E27FC236}">
                <a16:creationId xmlns:a16="http://schemas.microsoft.com/office/drawing/2014/main" id="{504BF223-9F4F-485A-9984-BBE3392634BA}"/>
              </a:ext>
            </a:extLst>
          </p:cNvPr>
          <p:cNvSpPr/>
          <p:nvPr/>
        </p:nvSpPr>
        <p:spPr>
          <a:xfrm>
            <a:off x="1762539" y="5131559"/>
            <a:ext cx="9117496" cy="1339662"/>
          </a:xfrm>
          <a:prstGeom prst="rect">
            <a:avLst/>
          </a:prstGeom>
        </p:spPr>
        <p:txBody>
          <a:bodyPr wrap="square">
            <a:spAutoFit/>
          </a:bodyPr>
          <a:lstStyle/>
          <a:p>
            <a:pPr marL="342900" lvl="0" indent="-342900">
              <a:lnSpc>
                <a:spcPct val="115000"/>
              </a:lnSpc>
              <a:spcBef>
                <a:spcPts val="1200"/>
              </a:spcBef>
              <a:spcAft>
                <a:spcPts val="1000"/>
              </a:spcAft>
              <a:buFont typeface="Arial" panose="020B0604020202020204" pitchFamily="34" charset="0"/>
              <a:buChar char="•"/>
            </a:pPr>
            <a:r>
              <a:rPr lang="en-US" sz="2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Christians should strive to have a good conscience before God and man (Acts 24:16). A troubled conscience is reason to avoid an action, but a clear conscience may not be sufficient justification to proceed.</a:t>
            </a:r>
            <a:endParaRPr lang="en-GB" sz="20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13979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Rae, Moral Choices: Ch2 - Christian Ethics | PDF | Jurisprudence | Natural  Law">
            <a:extLst>
              <a:ext uri="{FF2B5EF4-FFF2-40B4-BE49-F238E27FC236}">
                <a16:creationId xmlns:a16="http://schemas.microsoft.com/office/drawing/2014/main" id="{32A4C5F7-5D1A-428D-83BF-85ABBE7EDA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69357" y="1401416"/>
            <a:ext cx="3816626" cy="5456583"/>
          </a:xfrm>
          <a:prstGeom prst="rect">
            <a:avLst/>
          </a:prstGeom>
          <a:noFill/>
          <a:extLst>
            <a:ext uri="{909E8E84-426E-40DD-AFC4-6F175D3DCCD1}">
              <a14:hiddenFill xmlns:a14="http://schemas.microsoft.com/office/drawing/2010/main">
                <a:solidFill>
                  <a:srgbClr val="FFFFFF"/>
                </a:solidFill>
              </a14:hiddenFill>
            </a:ext>
          </a:extLst>
        </p:spPr>
      </p:pic>
      <p:sp>
        <p:nvSpPr>
          <p:cNvPr id="4" name="Text Placeholder 3"/>
          <p:cNvSpPr>
            <a:spLocks noGrp="1"/>
          </p:cNvSpPr>
          <p:nvPr>
            <p:ph type="body" sz="half" idx="2"/>
          </p:nvPr>
        </p:nvSpPr>
        <p:spPr>
          <a:xfrm>
            <a:off x="692728" y="1401416"/>
            <a:ext cx="7576630" cy="4588565"/>
          </a:xfrm>
        </p:spPr>
        <p:txBody>
          <a:bodyPr>
            <a:noAutofit/>
          </a:bodyPr>
          <a:lstStyle/>
          <a:p>
            <a:pPr marL="342900" indent="-342900">
              <a:lnSpc>
                <a:spcPct val="100000"/>
              </a:lnSpc>
              <a:spcAft>
                <a:spcPts val="1000"/>
              </a:spcAft>
              <a:buFont typeface="Arial" panose="020B0604020202020204" pitchFamily="34" charset="0"/>
              <a:buChar char="•"/>
            </a:pPr>
            <a:r>
              <a:rPr lang="en-US" sz="3200" dirty="0">
                <a:solidFill>
                  <a:schemeClr val="tx2"/>
                </a:solidFill>
                <a:latin typeface="DM Sans"/>
              </a:rPr>
              <a:t>Scott Rae, in his book, </a:t>
            </a:r>
            <a:r>
              <a:rPr lang="en-US" sz="3200" i="1" dirty="0">
                <a:solidFill>
                  <a:schemeClr val="tx2"/>
                </a:solidFill>
                <a:latin typeface="DM Sans"/>
              </a:rPr>
              <a:t>Moral Choices </a:t>
            </a:r>
            <a:r>
              <a:rPr lang="en-US" sz="3200" dirty="0">
                <a:solidFill>
                  <a:schemeClr val="tx2"/>
                </a:solidFill>
                <a:latin typeface="DM Sans"/>
              </a:rPr>
              <a:t>(2018), proposed a moral reasoning model that could be used as a guide in making moral decisions. </a:t>
            </a:r>
          </a:p>
          <a:p>
            <a:pPr marL="342900" indent="-342900">
              <a:lnSpc>
                <a:spcPct val="100000"/>
              </a:lnSpc>
              <a:spcAft>
                <a:spcPts val="1000"/>
              </a:spcAft>
              <a:buFont typeface="Arial" panose="020B0604020202020204" pitchFamily="34" charset="0"/>
              <a:buChar char="•"/>
            </a:pPr>
            <a:r>
              <a:rPr lang="en-US" sz="3200" dirty="0">
                <a:solidFill>
                  <a:schemeClr val="tx2"/>
                </a:solidFill>
                <a:latin typeface="DM Sans"/>
              </a:rPr>
              <a:t>Rae’s moral reasoning model does not guide one to an absolutely correct or “right” answer or decision to a moral dilemma; rather, his model may guide an individual to ask the right questions to ethical deliberation (Rae, 2018).</a:t>
            </a:r>
            <a:endParaRPr lang="en-GB" sz="3200" dirty="0">
              <a:solidFill>
                <a:schemeClr val="tx2"/>
              </a:solidFill>
              <a:latin typeface="Garamond" panose="02020404030301010803" pitchFamily="18" charset="0"/>
              <a:ea typeface="Calibri" panose="020F0502020204030204" pitchFamily="34" charset="0"/>
              <a:cs typeface="Times New Roman" panose="02020603050405020304" pitchFamily="18" charset="0"/>
            </a:endParaRPr>
          </a:p>
        </p:txBody>
      </p:sp>
      <p:sp>
        <p:nvSpPr>
          <p:cNvPr id="6" name="Title 12">
            <a:extLst>
              <a:ext uri="{FF2B5EF4-FFF2-40B4-BE49-F238E27FC236}">
                <a16:creationId xmlns:a16="http://schemas.microsoft.com/office/drawing/2014/main" id="{8CD75CFB-52FB-4D4F-89BD-E1B03A7C4288}"/>
              </a:ext>
            </a:extLst>
          </p:cNvPr>
          <p:cNvSpPr>
            <a:spLocks noGrp="1"/>
          </p:cNvSpPr>
          <p:nvPr>
            <p:ph type="title"/>
          </p:nvPr>
        </p:nvSpPr>
        <p:spPr>
          <a:xfrm>
            <a:off x="1104900" y="76200"/>
            <a:ext cx="9980682" cy="1096962"/>
          </a:xfrm>
        </p:spPr>
        <p:txBody>
          <a:bodyPr>
            <a:normAutofit/>
          </a:bodyPr>
          <a:lstStyle/>
          <a:p>
            <a:r>
              <a:rPr lang="en-US" sz="3600" b="1" dirty="0"/>
              <a:t>Scott Rae’s 7-Step Moral Reasoning Model</a:t>
            </a:r>
            <a:endParaRPr lang="en-GB" sz="3600" b="1" dirty="0"/>
          </a:p>
        </p:txBody>
      </p:sp>
    </p:spTree>
    <p:extLst>
      <p:ext uri="{BB962C8B-B14F-4D97-AF65-F5344CB8AC3E}">
        <p14:creationId xmlns:p14="http://schemas.microsoft.com/office/powerpoint/2010/main" val="3715715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Rae, Moral Choices: Ch2 - Christian Ethics | PDF | Jurisprudence | Natural  Law">
            <a:extLst>
              <a:ext uri="{FF2B5EF4-FFF2-40B4-BE49-F238E27FC236}">
                <a16:creationId xmlns:a16="http://schemas.microsoft.com/office/drawing/2014/main" id="{32A4C5F7-5D1A-428D-83BF-85ABBE7EDA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53670" y="1401416"/>
            <a:ext cx="3432312" cy="5456583"/>
          </a:xfrm>
          <a:prstGeom prst="rect">
            <a:avLst/>
          </a:prstGeom>
          <a:noFill/>
          <a:extLst>
            <a:ext uri="{909E8E84-426E-40DD-AFC4-6F175D3DCCD1}">
              <a14:hiddenFill xmlns:a14="http://schemas.microsoft.com/office/drawing/2010/main">
                <a:solidFill>
                  <a:srgbClr val="FFFFFF"/>
                </a:solidFill>
              </a14:hiddenFill>
            </a:ext>
          </a:extLst>
        </p:spPr>
      </p:pic>
      <p:sp>
        <p:nvSpPr>
          <p:cNvPr id="4" name="Text Placeholder 3"/>
          <p:cNvSpPr>
            <a:spLocks noGrp="1"/>
          </p:cNvSpPr>
          <p:nvPr>
            <p:ph type="body" sz="half" idx="2"/>
          </p:nvPr>
        </p:nvSpPr>
        <p:spPr>
          <a:xfrm>
            <a:off x="369456" y="1401416"/>
            <a:ext cx="8045674" cy="4588565"/>
          </a:xfrm>
        </p:spPr>
        <p:txBody>
          <a:bodyPr>
            <a:noAutofit/>
          </a:bodyPr>
          <a:lstStyle/>
          <a:p>
            <a:r>
              <a:rPr lang="en-US" sz="3200" b="1" dirty="0">
                <a:solidFill>
                  <a:srgbClr val="000000"/>
                </a:solidFill>
                <a:latin typeface="ff1"/>
              </a:rPr>
              <a:t>1. Gather the Facts </a:t>
            </a:r>
          </a:p>
          <a:p>
            <a:pPr marL="914400" lvl="1" indent="-457200">
              <a:buFont typeface="Arial" panose="020B0604020202020204" pitchFamily="34" charset="0"/>
              <a:buChar char="•"/>
            </a:pPr>
            <a:r>
              <a:rPr lang="en-US" sz="2800" dirty="0">
                <a:solidFill>
                  <a:srgbClr val="000000"/>
                </a:solidFill>
                <a:latin typeface="ff2"/>
              </a:rPr>
              <a:t>It is essential that in moral decision- making, one has to know the general facts of the moral situation, before coming up with a moral analysis, more so, a decision or an evaluation. </a:t>
            </a:r>
          </a:p>
          <a:p>
            <a:pPr marL="914400" lvl="1" indent="-457200">
              <a:buFont typeface="Arial" panose="020B0604020202020204" pitchFamily="34" charset="0"/>
              <a:buChar char="•"/>
            </a:pPr>
            <a:r>
              <a:rPr lang="en-US" sz="2800" dirty="0">
                <a:solidFill>
                  <a:srgbClr val="000000"/>
                </a:solidFill>
                <a:latin typeface="ff2"/>
              </a:rPr>
              <a:t>The simplest way of clarifying an ethical dilemma is to make sure the facts</a:t>
            </a:r>
            <a:r>
              <a:rPr lang="en-US" sz="2800" dirty="0">
                <a:solidFill>
                  <a:srgbClr val="000000"/>
                </a:solidFill>
                <a:latin typeface="ff4"/>
              </a:rPr>
              <a:t> </a:t>
            </a:r>
            <a:r>
              <a:rPr lang="en-US" sz="2800" dirty="0">
                <a:solidFill>
                  <a:srgbClr val="000000"/>
                </a:solidFill>
                <a:latin typeface="ff2"/>
              </a:rPr>
              <a:t>are clear. </a:t>
            </a:r>
          </a:p>
          <a:p>
            <a:pPr lvl="1"/>
            <a:endParaRPr lang="en-US" sz="1000" dirty="0">
              <a:solidFill>
                <a:srgbClr val="000000"/>
              </a:solidFill>
              <a:latin typeface="ff2"/>
            </a:endParaRPr>
          </a:p>
          <a:p>
            <a:pPr marL="914400" lvl="1" indent="-457200">
              <a:buFont typeface="Arial" panose="020B0604020202020204" pitchFamily="34" charset="0"/>
              <a:buChar char="•"/>
            </a:pPr>
            <a:r>
              <a:rPr lang="en-US" sz="2400" dirty="0">
                <a:solidFill>
                  <a:srgbClr val="000000"/>
                </a:solidFill>
                <a:latin typeface="ff2"/>
              </a:rPr>
              <a:t>Ask: Do you have all the facts that are necessary to make a good decision? What do we know? What do we need to know? In this light it might become clear that the dilemma is not ethical but about communication or strategy (Rae, 2018)</a:t>
            </a:r>
          </a:p>
          <a:p>
            <a:pPr>
              <a:lnSpc>
                <a:spcPct val="100000"/>
              </a:lnSpc>
              <a:spcAft>
                <a:spcPts val="1000"/>
              </a:spcAft>
            </a:pPr>
            <a:endParaRPr lang="en-GB" sz="3200" dirty="0">
              <a:solidFill>
                <a:schemeClr val="tx2"/>
              </a:solidFill>
              <a:latin typeface="Garamond" panose="02020404030301010803" pitchFamily="18" charset="0"/>
              <a:ea typeface="Calibri" panose="020F0502020204030204" pitchFamily="34" charset="0"/>
              <a:cs typeface="Times New Roman" panose="02020603050405020304" pitchFamily="18" charset="0"/>
            </a:endParaRPr>
          </a:p>
        </p:txBody>
      </p:sp>
      <p:sp>
        <p:nvSpPr>
          <p:cNvPr id="6" name="Title 12">
            <a:extLst>
              <a:ext uri="{FF2B5EF4-FFF2-40B4-BE49-F238E27FC236}">
                <a16:creationId xmlns:a16="http://schemas.microsoft.com/office/drawing/2014/main" id="{8CD75CFB-52FB-4D4F-89BD-E1B03A7C4288}"/>
              </a:ext>
            </a:extLst>
          </p:cNvPr>
          <p:cNvSpPr>
            <a:spLocks noGrp="1"/>
          </p:cNvSpPr>
          <p:nvPr>
            <p:ph type="title"/>
          </p:nvPr>
        </p:nvSpPr>
        <p:spPr>
          <a:xfrm>
            <a:off x="389144" y="196272"/>
            <a:ext cx="9980682" cy="1096962"/>
          </a:xfrm>
        </p:spPr>
        <p:txBody>
          <a:bodyPr>
            <a:normAutofit/>
          </a:bodyPr>
          <a:lstStyle/>
          <a:p>
            <a:r>
              <a:rPr lang="en-US" sz="3600" b="1" dirty="0"/>
              <a:t>Scott Rae’s 7-Step Moral Reasoning Model</a:t>
            </a:r>
            <a:endParaRPr lang="en-GB" sz="3600" dirty="0"/>
          </a:p>
        </p:txBody>
      </p:sp>
    </p:spTree>
    <p:extLst>
      <p:ext uri="{BB962C8B-B14F-4D97-AF65-F5344CB8AC3E}">
        <p14:creationId xmlns:p14="http://schemas.microsoft.com/office/powerpoint/2010/main" val="3800457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Rae, Moral Choices: Ch2 - Christian Ethics | PDF | Jurisprudence | Natural  Law">
            <a:extLst>
              <a:ext uri="{FF2B5EF4-FFF2-40B4-BE49-F238E27FC236}">
                <a16:creationId xmlns:a16="http://schemas.microsoft.com/office/drawing/2014/main" id="{32A4C5F7-5D1A-428D-83BF-85ABBE7EDA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18713" y="1401416"/>
            <a:ext cx="3167269" cy="5456583"/>
          </a:xfrm>
          <a:prstGeom prst="rect">
            <a:avLst/>
          </a:prstGeom>
          <a:noFill/>
          <a:extLst>
            <a:ext uri="{909E8E84-426E-40DD-AFC4-6F175D3DCCD1}">
              <a14:hiddenFill xmlns:a14="http://schemas.microsoft.com/office/drawing/2010/main">
                <a:solidFill>
                  <a:srgbClr val="FFFFFF"/>
                </a:solidFill>
              </a14:hiddenFill>
            </a:ext>
          </a:extLst>
        </p:spPr>
      </p:pic>
      <p:sp>
        <p:nvSpPr>
          <p:cNvPr id="4" name="Text Placeholder 3"/>
          <p:cNvSpPr>
            <a:spLocks noGrp="1"/>
          </p:cNvSpPr>
          <p:nvPr>
            <p:ph type="body" sz="half" idx="2"/>
          </p:nvPr>
        </p:nvSpPr>
        <p:spPr>
          <a:xfrm>
            <a:off x="424873" y="1384849"/>
            <a:ext cx="8493840" cy="4588565"/>
          </a:xfrm>
        </p:spPr>
        <p:txBody>
          <a:bodyPr>
            <a:noAutofit/>
          </a:bodyPr>
          <a:lstStyle/>
          <a:p>
            <a:r>
              <a:rPr lang="en-US" sz="2800" b="1" dirty="0">
                <a:solidFill>
                  <a:srgbClr val="000000"/>
                </a:solidFill>
                <a:latin typeface="ff1"/>
              </a:rPr>
              <a:t>2. Determine the ethical issues </a:t>
            </a:r>
          </a:p>
          <a:p>
            <a:pPr marL="800100" lvl="1" indent="-342900">
              <a:buFont typeface="Arial" panose="020B0604020202020204" pitchFamily="34" charset="0"/>
              <a:buChar char="•"/>
            </a:pPr>
            <a:r>
              <a:rPr lang="en-US" sz="2400" dirty="0">
                <a:solidFill>
                  <a:srgbClr val="000000"/>
                </a:solidFill>
                <a:latin typeface="ff2"/>
              </a:rPr>
              <a:t>After having identified the facts and overall context of the moral situation, the ethical issue/s involved in the situation, must be clearly stated in order to specify what issue one has to make a decision to. </a:t>
            </a:r>
          </a:p>
          <a:p>
            <a:pPr marL="800100" lvl="1" indent="-342900">
              <a:buFont typeface="Arial" panose="020B0604020202020204" pitchFamily="34" charset="0"/>
              <a:buChar char="•"/>
            </a:pPr>
            <a:r>
              <a:rPr lang="en-US" sz="2400" dirty="0">
                <a:solidFill>
                  <a:srgbClr val="000000"/>
                </a:solidFill>
                <a:latin typeface="ff2"/>
              </a:rPr>
              <a:t>This section must likewise clearly state the major moral dilemma involved in the case.</a:t>
            </a:r>
          </a:p>
          <a:p>
            <a:pPr marL="800100" lvl="1" indent="-342900">
              <a:buFont typeface="Arial" panose="020B0604020202020204" pitchFamily="34" charset="0"/>
              <a:buChar char="•"/>
            </a:pPr>
            <a:r>
              <a:rPr lang="en-US" sz="2400" dirty="0">
                <a:solidFill>
                  <a:srgbClr val="000000"/>
                </a:solidFill>
                <a:latin typeface="ff2"/>
              </a:rPr>
              <a:t>Ethical interests are stated in terms of legitimate competing interests or goods. The competing interests are what create the dilemma. Moral values and virtues must support the competing interests in order for an ethical dilemma to exist. </a:t>
            </a:r>
          </a:p>
          <a:p>
            <a:pPr marL="800100" lvl="1" indent="-342900">
              <a:buFont typeface="Arial" panose="020B0604020202020204" pitchFamily="34" charset="0"/>
              <a:buChar char="•"/>
            </a:pPr>
            <a:r>
              <a:rPr lang="en-US" sz="2000" dirty="0">
                <a:solidFill>
                  <a:srgbClr val="000000"/>
                </a:solidFill>
                <a:latin typeface="ff2"/>
              </a:rPr>
              <a:t>If you cannot identify the underlying values/virtues then you do not have an ethical dilemma. Often people hold these positions strongly and with passion because of the value / virtue beneath them (Rae 2018).</a:t>
            </a:r>
          </a:p>
        </p:txBody>
      </p:sp>
      <p:sp>
        <p:nvSpPr>
          <p:cNvPr id="6" name="Title 12">
            <a:extLst>
              <a:ext uri="{FF2B5EF4-FFF2-40B4-BE49-F238E27FC236}">
                <a16:creationId xmlns:a16="http://schemas.microsoft.com/office/drawing/2014/main" id="{8CD75CFB-52FB-4D4F-89BD-E1B03A7C4288}"/>
              </a:ext>
            </a:extLst>
          </p:cNvPr>
          <p:cNvSpPr>
            <a:spLocks noGrp="1"/>
          </p:cNvSpPr>
          <p:nvPr>
            <p:ph type="title"/>
          </p:nvPr>
        </p:nvSpPr>
        <p:spPr>
          <a:xfrm>
            <a:off x="624609" y="103909"/>
            <a:ext cx="9980682" cy="1096962"/>
          </a:xfrm>
        </p:spPr>
        <p:txBody>
          <a:bodyPr>
            <a:normAutofit/>
          </a:bodyPr>
          <a:lstStyle/>
          <a:p>
            <a:r>
              <a:rPr lang="en-US" sz="3600" b="1" dirty="0"/>
              <a:t>Scott Rae’s 7-Step Moral Reasoning Model</a:t>
            </a:r>
            <a:endParaRPr lang="en-GB" sz="3600" dirty="0"/>
          </a:p>
        </p:txBody>
      </p:sp>
    </p:spTree>
    <p:extLst>
      <p:ext uri="{BB962C8B-B14F-4D97-AF65-F5344CB8AC3E}">
        <p14:creationId xmlns:p14="http://schemas.microsoft.com/office/powerpoint/2010/main" val="26014514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Rae, Moral Choices: Ch2 - Christian Ethics | PDF | Jurisprudence | Natural  Law">
            <a:extLst>
              <a:ext uri="{FF2B5EF4-FFF2-40B4-BE49-F238E27FC236}">
                <a16:creationId xmlns:a16="http://schemas.microsoft.com/office/drawing/2014/main" id="{32A4C5F7-5D1A-428D-83BF-85ABBE7EDA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95721" y="1251018"/>
            <a:ext cx="2990262" cy="4275140"/>
          </a:xfrm>
          <a:prstGeom prst="rect">
            <a:avLst/>
          </a:prstGeom>
          <a:noFill/>
          <a:extLst>
            <a:ext uri="{909E8E84-426E-40DD-AFC4-6F175D3DCCD1}">
              <a14:hiddenFill xmlns:a14="http://schemas.microsoft.com/office/drawing/2010/main">
                <a:solidFill>
                  <a:srgbClr val="FFFFFF"/>
                </a:solidFill>
              </a14:hiddenFill>
            </a:ext>
          </a:extLst>
        </p:spPr>
      </p:pic>
      <p:sp>
        <p:nvSpPr>
          <p:cNvPr id="4" name="Text Placeholder 3"/>
          <p:cNvSpPr>
            <a:spLocks noGrp="1"/>
          </p:cNvSpPr>
          <p:nvPr>
            <p:ph type="body" sz="half" idx="2"/>
          </p:nvPr>
        </p:nvSpPr>
        <p:spPr>
          <a:xfrm>
            <a:off x="341746" y="1401416"/>
            <a:ext cx="8576968" cy="4588565"/>
          </a:xfrm>
        </p:spPr>
        <p:txBody>
          <a:bodyPr>
            <a:noAutofit/>
          </a:bodyPr>
          <a:lstStyle/>
          <a:p>
            <a:r>
              <a:rPr lang="en-US" sz="2400" b="1" dirty="0">
                <a:solidFill>
                  <a:srgbClr val="000000"/>
                </a:solidFill>
                <a:latin typeface="ff1"/>
              </a:rPr>
              <a:t>3.</a:t>
            </a:r>
            <a:r>
              <a:rPr lang="en-US" sz="2400" b="1" dirty="0">
                <a:latin typeface="ff1"/>
              </a:rPr>
              <a:t> </a:t>
            </a:r>
            <a:r>
              <a:rPr lang="en-US" sz="2400" b="1" dirty="0">
                <a:solidFill>
                  <a:srgbClr val="000000"/>
                </a:solidFill>
                <a:latin typeface="ff1"/>
              </a:rPr>
              <a:t>Determine what virtues / principles have a bearing on the case </a:t>
            </a:r>
            <a:endParaRPr lang="en-US" sz="2400" b="1" dirty="0">
              <a:solidFill>
                <a:srgbClr val="000000"/>
              </a:solidFill>
              <a:latin typeface="ff2"/>
            </a:endParaRPr>
          </a:p>
          <a:p>
            <a:pPr marL="914400" lvl="1" indent="-457200">
              <a:buFont typeface="Arial" panose="020B0604020202020204" pitchFamily="34" charset="0"/>
              <a:buChar char="•"/>
            </a:pPr>
            <a:r>
              <a:rPr lang="en-US" sz="2000" dirty="0">
                <a:solidFill>
                  <a:srgbClr val="000000"/>
                </a:solidFill>
                <a:latin typeface="ff2"/>
              </a:rPr>
              <a:t>Applicable ethical values and principles relevant to the case must be identified and briefly explained in order to justify how such principles could be used in coming up with a decision concerning the moral dilemma later on. </a:t>
            </a:r>
          </a:p>
          <a:p>
            <a:pPr marL="914400" lvl="1" indent="-457200">
              <a:buFont typeface="Arial" panose="020B0604020202020204" pitchFamily="34" charset="0"/>
              <a:buChar char="•"/>
            </a:pPr>
            <a:r>
              <a:rPr lang="en-US" sz="2000" dirty="0">
                <a:solidFill>
                  <a:srgbClr val="000000"/>
                </a:solidFill>
                <a:latin typeface="ff2"/>
              </a:rPr>
              <a:t>In addition, the sources of these principles must be acknowledged likewise.</a:t>
            </a:r>
          </a:p>
          <a:p>
            <a:pPr marL="914400" lvl="1" indent="-457200">
              <a:buFont typeface="Arial" panose="020B0604020202020204" pitchFamily="34" charset="0"/>
              <a:buChar char="•"/>
            </a:pPr>
            <a:r>
              <a:rPr lang="en-US" sz="2000" dirty="0">
                <a:solidFill>
                  <a:srgbClr val="000000"/>
                </a:solidFill>
                <a:latin typeface="ff2"/>
              </a:rPr>
              <a:t>These values, principles could come from: (1) established philosophical ethical principles; (2) socio-cultural norms; (3) socio-political norms and laws; (4) religious traditions; and others.</a:t>
            </a:r>
          </a:p>
          <a:p>
            <a:pPr>
              <a:lnSpc>
                <a:spcPct val="100000"/>
              </a:lnSpc>
              <a:spcAft>
                <a:spcPts val="1000"/>
              </a:spcAft>
            </a:pPr>
            <a:endParaRPr lang="en-GB" sz="2800" dirty="0">
              <a:solidFill>
                <a:schemeClr val="tx2"/>
              </a:solidFill>
              <a:latin typeface="Garamond" panose="02020404030301010803" pitchFamily="18" charset="0"/>
              <a:ea typeface="Calibri" panose="020F0502020204030204" pitchFamily="34" charset="0"/>
              <a:cs typeface="Times New Roman" panose="02020603050405020304" pitchFamily="18" charset="0"/>
            </a:endParaRPr>
          </a:p>
        </p:txBody>
      </p:sp>
      <p:sp>
        <p:nvSpPr>
          <p:cNvPr id="6" name="Title 12">
            <a:extLst>
              <a:ext uri="{FF2B5EF4-FFF2-40B4-BE49-F238E27FC236}">
                <a16:creationId xmlns:a16="http://schemas.microsoft.com/office/drawing/2014/main" id="{8CD75CFB-52FB-4D4F-89BD-E1B03A7C4288}"/>
              </a:ext>
            </a:extLst>
          </p:cNvPr>
          <p:cNvSpPr>
            <a:spLocks noGrp="1"/>
          </p:cNvSpPr>
          <p:nvPr>
            <p:ph type="title"/>
          </p:nvPr>
        </p:nvSpPr>
        <p:spPr>
          <a:xfrm>
            <a:off x="421409" y="304454"/>
            <a:ext cx="9980682" cy="1096962"/>
          </a:xfrm>
        </p:spPr>
        <p:txBody>
          <a:bodyPr>
            <a:normAutofit/>
          </a:bodyPr>
          <a:lstStyle/>
          <a:p>
            <a:r>
              <a:rPr lang="en-US" sz="3600" b="1" dirty="0"/>
              <a:t>Scott Rae’s 7-Step Moral Reasoning Model</a:t>
            </a:r>
            <a:endParaRPr lang="en-GB" sz="3600" dirty="0"/>
          </a:p>
        </p:txBody>
      </p:sp>
      <p:sp>
        <p:nvSpPr>
          <p:cNvPr id="4165" name="Rectangle 4164">
            <a:extLst>
              <a:ext uri="{FF2B5EF4-FFF2-40B4-BE49-F238E27FC236}">
                <a16:creationId xmlns:a16="http://schemas.microsoft.com/office/drawing/2014/main" id="{5138E76B-9889-411E-92A8-ECF745D29DBA}"/>
              </a:ext>
            </a:extLst>
          </p:cNvPr>
          <p:cNvSpPr/>
          <p:nvPr/>
        </p:nvSpPr>
        <p:spPr>
          <a:xfrm>
            <a:off x="140555" y="5115775"/>
            <a:ext cx="8689410" cy="1415772"/>
          </a:xfrm>
          <a:prstGeom prst="rect">
            <a:avLst/>
          </a:prstGeom>
        </p:spPr>
        <p:txBody>
          <a:bodyPr wrap="square">
            <a:spAutoFit/>
          </a:bodyPr>
          <a:lstStyle/>
          <a:p>
            <a:pPr marL="914400" lvl="1" indent="-457200">
              <a:lnSpc>
                <a:spcPct val="90000"/>
              </a:lnSpc>
              <a:spcBef>
                <a:spcPts val="600"/>
              </a:spcBef>
              <a:buFont typeface="Arial" panose="020B0604020202020204" pitchFamily="34" charset="0"/>
              <a:buChar char="•"/>
            </a:pPr>
            <a:r>
              <a:rPr lang="en-US" dirty="0">
                <a:solidFill>
                  <a:srgbClr val="000000"/>
                </a:solidFill>
                <a:latin typeface="ff2"/>
              </a:rPr>
              <a:t>In an ethical dilemma certain values and principles are central to the competing positions. Identify these. Determine if some should be given more weight than others.</a:t>
            </a:r>
          </a:p>
          <a:p>
            <a:pPr marL="914400" lvl="1" indent="-457200">
              <a:lnSpc>
                <a:spcPct val="90000"/>
              </a:lnSpc>
              <a:spcBef>
                <a:spcPts val="600"/>
              </a:spcBef>
              <a:buFont typeface="Arial" panose="020B0604020202020204" pitchFamily="34" charset="0"/>
              <a:buChar char="•"/>
            </a:pPr>
            <a:r>
              <a:rPr lang="en-US" dirty="0">
                <a:solidFill>
                  <a:srgbClr val="000000"/>
                </a:solidFill>
                <a:latin typeface="ff2"/>
              </a:rPr>
              <a:t> Ask what the source for the principle is - constitution, culture, natural law, religious tradition... These supplement biblical principles (Rae 2018).</a:t>
            </a:r>
          </a:p>
        </p:txBody>
      </p:sp>
    </p:spTree>
    <p:extLst>
      <p:ext uri="{BB962C8B-B14F-4D97-AF65-F5344CB8AC3E}">
        <p14:creationId xmlns:p14="http://schemas.microsoft.com/office/powerpoint/2010/main" val="2099921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Rae, Moral Choices: Ch2 - Christian Ethics | PDF | Jurisprudence | Natural  Law">
            <a:extLst>
              <a:ext uri="{FF2B5EF4-FFF2-40B4-BE49-F238E27FC236}">
                <a16:creationId xmlns:a16="http://schemas.microsoft.com/office/drawing/2014/main" id="{32A4C5F7-5D1A-428D-83BF-85ABBE7EDA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69357" y="1401416"/>
            <a:ext cx="3816626" cy="5456583"/>
          </a:xfrm>
          <a:prstGeom prst="rect">
            <a:avLst/>
          </a:prstGeom>
          <a:noFill/>
          <a:extLst>
            <a:ext uri="{909E8E84-426E-40DD-AFC4-6F175D3DCCD1}">
              <a14:hiddenFill xmlns:a14="http://schemas.microsoft.com/office/drawing/2010/main">
                <a:solidFill>
                  <a:srgbClr val="FFFFFF"/>
                </a:solidFill>
              </a14:hiddenFill>
            </a:ext>
          </a:extLst>
        </p:spPr>
      </p:pic>
      <p:sp>
        <p:nvSpPr>
          <p:cNvPr id="4" name="Text Placeholder 3"/>
          <p:cNvSpPr>
            <a:spLocks noGrp="1"/>
          </p:cNvSpPr>
          <p:nvPr>
            <p:ph type="body" sz="half" idx="2"/>
          </p:nvPr>
        </p:nvSpPr>
        <p:spPr>
          <a:xfrm>
            <a:off x="387928" y="1401416"/>
            <a:ext cx="7881430" cy="4588565"/>
          </a:xfrm>
        </p:spPr>
        <p:txBody>
          <a:bodyPr>
            <a:noAutofit/>
          </a:bodyPr>
          <a:lstStyle/>
          <a:p>
            <a:r>
              <a:rPr lang="en-US" sz="2800" b="1" dirty="0">
                <a:solidFill>
                  <a:srgbClr val="000000"/>
                </a:solidFill>
                <a:latin typeface="ff1"/>
              </a:rPr>
              <a:t>4. List the alternatives </a:t>
            </a:r>
          </a:p>
          <a:p>
            <a:pPr marL="914400" lvl="1" indent="-457200">
              <a:buFont typeface="Arial" panose="020B0604020202020204" pitchFamily="34" charset="0"/>
              <a:buChar char="•"/>
            </a:pPr>
            <a:r>
              <a:rPr lang="en-US" sz="2000" dirty="0">
                <a:solidFill>
                  <a:srgbClr val="000000"/>
                </a:solidFill>
                <a:latin typeface="ff2"/>
              </a:rPr>
              <a:t>After having identified relevant values, virtues, and principles involving the moral situation, possible alternative courses of actions must then be proposed and briefly explained. </a:t>
            </a:r>
          </a:p>
          <a:p>
            <a:pPr marL="914400" lvl="1" indent="-457200">
              <a:buFont typeface="Arial" panose="020B0604020202020204" pitchFamily="34" charset="0"/>
              <a:buChar char="•"/>
            </a:pPr>
            <a:r>
              <a:rPr lang="en-US" sz="2000" dirty="0">
                <a:solidFill>
                  <a:srgbClr val="000000"/>
                </a:solidFill>
                <a:latin typeface="ff2"/>
              </a:rPr>
              <a:t>These suggested courses of actions must then be evaluated based on its applicability, sensibility, practicality before selecting one as the course of action or decision to be made regarding the moral situation.</a:t>
            </a:r>
          </a:p>
          <a:p>
            <a:pPr marL="914400" lvl="1" indent="-457200">
              <a:buFont typeface="Arial" panose="020B0604020202020204" pitchFamily="34" charset="0"/>
              <a:buChar char="•"/>
            </a:pPr>
            <a:r>
              <a:rPr lang="en-US" sz="2000" dirty="0">
                <a:solidFill>
                  <a:srgbClr val="000000"/>
                </a:solidFill>
                <a:latin typeface="ff2"/>
              </a:rPr>
              <a:t>Creatively determine possible courses of action for your dilemma. Some will almost immediately be discarded but generally the more you list the greater potential for coming up with a really good one. It will also help you come up with a broader selection of ideas (Rae 2018).</a:t>
            </a:r>
          </a:p>
          <a:p>
            <a:pPr>
              <a:lnSpc>
                <a:spcPct val="100000"/>
              </a:lnSpc>
              <a:spcAft>
                <a:spcPts val="1000"/>
              </a:spcAft>
            </a:pPr>
            <a:endParaRPr lang="en-GB" sz="2800" dirty="0">
              <a:solidFill>
                <a:schemeClr val="tx2"/>
              </a:solidFill>
              <a:latin typeface="Garamond" panose="02020404030301010803" pitchFamily="18" charset="0"/>
              <a:ea typeface="Calibri" panose="020F0502020204030204" pitchFamily="34" charset="0"/>
              <a:cs typeface="Times New Roman" panose="02020603050405020304" pitchFamily="18" charset="0"/>
            </a:endParaRPr>
          </a:p>
        </p:txBody>
      </p:sp>
      <p:sp>
        <p:nvSpPr>
          <p:cNvPr id="6" name="Title 12">
            <a:extLst>
              <a:ext uri="{FF2B5EF4-FFF2-40B4-BE49-F238E27FC236}">
                <a16:creationId xmlns:a16="http://schemas.microsoft.com/office/drawing/2014/main" id="{8CD75CFB-52FB-4D4F-89BD-E1B03A7C4288}"/>
              </a:ext>
            </a:extLst>
          </p:cNvPr>
          <p:cNvSpPr>
            <a:spLocks noGrp="1"/>
          </p:cNvSpPr>
          <p:nvPr>
            <p:ph type="title"/>
          </p:nvPr>
        </p:nvSpPr>
        <p:spPr>
          <a:xfrm>
            <a:off x="282863" y="150091"/>
            <a:ext cx="9980682" cy="1096962"/>
          </a:xfrm>
        </p:spPr>
        <p:txBody>
          <a:bodyPr>
            <a:normAutofit/>
          </a:bodyPr>
          <a:lstStyle/>
          <a:p>
            <a:r>
              <a:rPr lang="en-US" sz="3600" b="1" dirty="0"/>
              <a:t>Scott Rae’s 7-Step Moral Reasoning Model</a:t>
            </a:r>
            <a:endParaRPr lang="en-GB" sz="3600" dirty="0"/>
          </a:p>
        </p:txBody>
      </p:sp>
    </p:spTree>
    <p:extLst>
      <p:ext uri="{BB962C8B-B14F-4D97-AF65-F5344CB8AC3E}">
        <p14:creationId xmlns:p14="http://schemas.microsoft.com/office/powerpoint/2010/main" val="3423344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Rae, Moral Choices: Ch2 - Christian Ethics | PDF | Jurisprudence | Natural  Law">
            <a:extLst>
              <a:ext uri="{FF2B5EF4-FFF2-40B4-BE49-F238E27FC236}">
                <a16:creationId xmlns:a16="http://schemas.microsoft.com/office/drawing/2014/main" id="{32A4C5F7-5D1A-428D-83BF-85ABBE7EDA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69357" y="1401416"/>
            <a:ext cx="3816626" cy="5456583"/>
          </a:xfrm>
          <a:prstGeom prst="rect">
            <a:avLst/>
          </a:prstGeom>
          <a:noFill/>
          <a:extLst>
            <a:ext uri="{909E8E84-426E-40DD-AFC4-6F175D3DCCD1}">
              <a14:hiddenFill xmlns:a14="http://schemas.microsoft.com/office/drawing/2010/main">
                <a:solidFill>
                  <a:srgbClr val="FFFFFF"/>
                </a:solidFill>
              </a14:hiddenFill>
            </a:ext>
          </a:extLst>
        </p:spPr>
      </p:pic>
      <p:sp>
        <p:nvSpPr>
          <p:cNvPr id="4" name="Text Placeholder 3"/>
          <p:cNvSpPr>
            <a:spLocks noGrp="1"/>
          </p:cNvSpPr>
          <p:nvPr>
            <p:ph type="body" sz="half" idx="2"/>
          </p:nvPr>
        </p:nvSpPr>
        <p:spPr>
          <a:xfrm>
            <a:off x="927652" y="1401416"/>
            <a:ext cx="7341705" cy="4588565"/>
          </a:xfrm>
        </p:spPr>
        <p:txBody>
          <a:bodyPr>
            <a:noAutofit/>
          </a:bodyPr>
          <a:lstStyle/>
          <a:p>
            <a:r>
              <a:rPr lang="en-US" sz="2800" b="1" dirty="0">
                <a:solidFill>
                  <a:srgbClr val="000000"/>
                </a:solidFill>
                <a:latin typeface="ff1"/>
              </a:rPr>
              <a:t>5. Compare the alternatives with the virtues / principles </a:t>
            </a:r>
          </a:p>
          <a:p>
            <a:pPr marL="914400" lvl="1" indent="-457200">
              <a:buFont typeface="Arial" panose="020B0604020202020204" pitchFamily="34" charset="0"/>
              <a:buChar char="•"/>
            </a:pPr>
            <a:r>
              <a:rPr lang="en-US" sz="2000" dirty="0">
                <a:solidFill>
                  <a:srgbClr val="000000"/>
                </a:solidFill>
                <a:latin typeface="ff2"/>
              </a:rPr>
              <a:t>The initial list of suggested courses of actions must then be evaluated from the vantage point of the identified ethical values and principles.</a:t>
            </a:r>
          </a:p>
          <a:p>
            <a:pPr marL="914400" lvl="1" indent="-457200">
              <a:buFont typeface="Arial" panose="020B0604020202020204" pitchFamily="34" charset="0"/>
              <a:buChar char="•"/>
            </a:pPr>
            <a:r>
              <a:rPr lang="en-US" sz="2000" dirty="0">
                <a:solidFill>
                  <a:srgbClr val="000000"/>
                </a:solidFill>
                <a:latin typeface="ff2"/>
              </a:rPr>
              <a:t>This step eliminates alternatives as they are weighed by the moral principles which have a bearing on the case. Potentially the issue will be resolved here as all alternatives except one are eliminated. Here you must satisfy all the relevant virtues and values - so at least some of the alternatives will be eliminated (even if you still have to go on to step 6). </a:t>
            </a:r>
          </a:p>
          <a:p>
            <a:pPr marL="914400" lvl="1" indent="-457200">
              <a:buFont typeface="Arial" panose="020B0604020202020204" pitchFamily="34" charset="0"/>
              <a:buChar char="•"/>
            </a:pPr>
            <a:r>
              <a:rPr lang="en-US" sz="2000" dirty="0">
                <a:solidFill>
                  <a:srgbClr val="000000"/>
                </a:solidFill>
                <a:latin typeface="ff2"/>
              </a:rPr>
              <a:t>Often here you have to weight principles and virtues - make sure you have a good reason for each weighting (Rae 2018).</a:t>
            </a:r>
          </a:p>
          <a:p>
            <a:pPr>
              <a:lnSpc>
                <a:spcPct val="100000"/>
              </a:lnSpc>
              <a:spcAft>
                <a:spcPts val="1000"/>
              </a:spcAft>
            </a:pPr>
            <a:endParaRPr lang="en-GB" sz="2800" dirty="0">
              <a:solidFill>
                <a:schemeClr val="tx2"/>
              </a:solidFill>
              <a:latin typeface="Garamond" panose="02020404030301010803" pitchFamily="18" charset="0"/>
              <a:ea typeface="Calibri" panose="020F0502020204030204" pitchFamily="34" charset="0"/>
              <a:cs typeface="Times New Roman" panose="02020603050405020304" pitchFamily="18" charset="0"/>
            </a:endParaRPr>
          </a:p>
        </p:txBody>
      </p:sp>
      <p:sp>
        <p:nvSpPr>
          <p:cNvPr id="6" name="Title 12">
            <a:extLst>
              <a:ext uri="{FF2B5EF4-FFF2-40B4-BE49-F238E27FC236}">
                <a16:creationId xmlns:a16="http://schemas.microsoft.com/office/drawing/2014/main" id="{8CD75CFB-52FB-4D4F-89BD-E1B03A7C4288}"/>
              </a:ext>
            </a:extLst>
          </p:cNvPr>
          <p:cNvSpPr>
            <a:spLocks noGrp="1"/>
          </p:cNvSpPr>
          <p:nvPr>
            <p:ph type="title"/>
          </p:nvPr>
        </p:nvSpPr>
        <p:spPr>
          <a:xfrm>
            <a:off x="1104900" y="76200"/>
            <a:ext cx="9980682" cy="1096962"/>
          </a:xfrm>
        </p:spPr>
        <p:txBody>
          <a:bodyPr>
            <a:normAutofit/>
          </a:bodyPr>
          <a:lstStyle/>
          <a:p>
            <a:r>
              <a:rPr lang="en-US" sz="3600" b="1" dirty="0"/>
              <a:t>Scott Rae’s 7-Step Moral Reasoning Model</a:t>
            </a:r>
            <a:endParaRPr lang="en-GB" sz="3600" dirty="0"/>
          </a:p>
        </p:txBody>
      </p:sp>
    </p:spTree>
    <p:extLst>
      <p:ext uri="{BB962C8B-B14F-4D97-AF65-F5344CB8AC3E}">
        <p14:creationId xmlns:p14="http://schemas.microsoft.com/office/powerpoint/2010/main" val="40858226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Rae, Moral Choices: Ch2 - Christian Ethics | PDF | Jurisprudence | Natural  Law">
            <a:extLst>
              <a:ext uri="{FF2B5EF4-FFF2-40B4-BE49-F238E27FC236}">
                <a16:creationId xmlns:a16="http://schemas.microsoft.com/office/drawing/2014/main" id="{32A4C5F7-5D1A-428D-83BF-85ABBE7EDA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69357" y="1401416"/>
            <a:ext cx="3816626" cy="5456583"/>
          </a:xfrm>
          <a:prstGeom prst="rect">
            <a:avLst/>
          </a:prstGeom>
          <a:noFill/>
          <a:extLst>
            <a:ext uri="{909E8E84-426E-40DD-AFC4-6F175D3DCCD1}">
              <a14:hiddenFill xmlns:a14="http://schemas.microsoft.com/office/drawing/2010/main">
                <a:solidFill>
                  <a:srgbClr val="FFFFFF"/>
                </a:solidFill>
              </a14:hiddenFill>
            </a:ext>
          </a:extLst>
        </p:spPr>
      </p:pic>
      <p:sp>
        <p:nvSpPr>
          <p:cNvPr id="4" name="Text Placeholder 3"/>
          <p:cNvSpPr>
            <a:spLocks noGrp="1"/>
          </p:cNvSpPr>
          <p:nvPr>
            <p:ph type="body" sz="half" idx="2"/>
          </p:nvPr>
        </p:nvSpPr>
        <p:spPr>
          <a:xfrm>
            <a:off x="927652" y="1401416"/>
            <a:ext cx="7341705" cy="4588565"/>
          </a:xfrm>
        </p:spPr>
        <p:txBody>
          <a:bodyPr>
            <a:noAutofit/>
          </a:bodyPr>
          <a:lstStyle/>
          <a:p>
            <a:r>
              <a:rPr lang="en-US" sz="3200" b="1" dirty="0">
                <a:solidFill>
                  <a:srgbClr val="000000"/>
                </a:solidFill>
                <a:latin typeface="ff1"/>
              </a:rPr>
              <a:t>6. Consider the consequences </a:t>
            </a:r>
          </a:p>
          <a:p>
            <a:pPr marL="914400" lvl="1" indent="-457200">
              <a:buFont typeface="Arial" panose="020B0604020202020204" pitchFamily="34" charset="0"/>
              <a:buChar char="•"/>
            </a:pPr>
            <a:r>
              <a:rPr lang="en-US" sz="2800" dirty="0">
                <a:solidFill>
                  <a:srgbClr val="000000"/>
                </a:solidFill>
                <a:latin typeface="ff2"/>
              </a:rPr>
              <a:t>If principles have not yielded a clear decision consider the consequences of your alternatives. </a:t>
            </a:r>
          </a:p>
          <a:p>
            <a:pPr marL="914400" lvl="1" indent="-457200">
              <a:buFont typeface="Arial" panose="020B0604020202020204" pitchFamily="34" charset="0"/>
              <a:buChar char="•"/>
            </a:pPr>
            <a:r>
              <a:rPr lang="en-US" sz="2800" dirty="0">
                <a:solidFill>
                  <a:srgbClr val="000000"/>
                </a:solidFill>
                <a:latin typeface="ff2"/>
              </a:rPr>
              <a:t>Take the alternatives and work out the positive and negative consequences of each.</a:t>
            </a:r>
          </a:p>
          <a:p>
            <a:pPr marL="914400" lvl="1" indent="-457200">
              <a:buFont typeface="Arial" panose="020B0604020202020204" pitchFamily="34" charset="0"/>
              <a:buChar char="•"/>
            </a:pPr>
            <a:r>
              <a:rPr lang="en-US" sz="2800" dirty="0">
                <a:solidFill>
                  <a:srgbClr val="000000"/>
                </a:solidFill>
                <a:latin typeface="ff2"/>
              </a:rPr>
              <a:t>Estimate how beneficial each positive and negative consequences are – some might have greater weight than others (Rae 2018).</a:t>
            </a:r>
          </a:p>
          <a:p>
            <a:pPr>
              <a:lnSpc>
                <a:spcPct val="100000"/>
              </a:lnSpc>
              <a:spcAft>
                <a:spcPts val="1000"/>
              </a:spcAft>
            </a:pPr>
            <a:endParaRPr lang="en-GB" sz="3200" dirty="0">
              <a:solidFill>
                <a:schemeClr val="tx2"/>
              </a:solidFill>
              <a:latin typeface="Garamond" panose="02020404030301010803" pitchFamily="18" charset="0"/>
              <a:ea typeface="Calibri" panose="020F0502020204030204" pitchFamily="34" charset="0"/>
              <a:cs typeface="Times New Roman" panose="02020603050405020304" pitchFamily="18" charset="0"/>
            </a:endParaRPr>
          </a:p>
        </p:txBody>
      </p:sp>
      <p:sp>
        <p:nvSpPr>
          <p:cNvPr id="6" name="Title 12">
            <a:extLst>
              <a:ext uri="{FF2B5EF4-FFF2-40B4-BE49-F238E27FC236}">
                <a16:creationId xmlns:a16="http://schemas.microsoft.com/office/drawing/2014/main" id="{8CD75CFB-52FB-4D4F-89BD-E1B03A7C4288}"/>
              </a:ext>
            </a:extLst>
          </p:cNvPr>
          <p:cNvSpPr>
            <a:spLocks noGrp="1"/>
          </p:cNvSpPr>
          <p:nvPr>
            <p:ph type="title"/>
          </p:nvPr>
        </p:nvSpPr>
        <p:spPr>
          <a:xfrm>
            <a:off x="1104900" y="76200"/>
            <a:ext cx="9980682" cy="1096962"/>
          </a:xfrm>
        </p:spPr>
        <p:txBody>
          <a:bodyPr>
            <a:normAutofit/>
          </a:bodyPr>
          <a:lstStyle/>
          <a:p>
            <a:r>
              <a:rPr lang="en-US" sz="3600" b="1" dirty="0"/>
              <a:t>Scott Rae’s 7-Step Moral Reasoning Model</a:t>
            </a:r>
            <a:endParaRPr lang="en-GB" sz="3600" dirty="0"/>
          </a:p>
        </p:txBody>
      </p:sp>
    </p:spTree>
    <p:extLst>
      <p:ext uri="{BB962C8B-B14F-4D97-AF65-F5344CB8AC3E}">
        <p14:creationId xmlns:p14="http://schemas.microsoft.com/office/powerpoint/2010/main" val="10825346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Rae, Moral Choices: Ch2 - Christian Ethics | PDF | Jurisprudence | Natural  Law">
            <a:extLst>
              <a:ext uri="{FF2B5EF4-FFF2-40B4-BE49-F238E27FC236}">
                <a16:creationId xmlns:a16="http://schemas.microsoft.com/office/drawing/2014/main" id="{32A4C5F7-5D1A-428D-83BF-85ABBE7EDA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21147" y="1401416"/>
            <a:ext cx="3564835" cy="5456583"/>
          </a:xfrm>
          <a:prstGeom prst="rect">
            <a:avLst/>
          </a:prstGeom>
          <a:noFill/>
          <a:extLst>
            <a:ext uri="{909E8E84-426E-40DD-AFC4-6F175D3DCCD1}">
              <a14:hiddenFill xmlns:a14="http://schemas.microsoft.com/office/drawing/2010/main">
                <a:solidFill>
                  <a:srgbClr val="FFFFFF"/>
                </a:solidFill>
              </a14:hiddenFill>
            </a:ext>
          </a:extLst>
        </p:spPr>
      </p:pic>
      <p:sp>
        <p:nvSpPr>
          <p:cNvPr id="4" name="Text Placeholder 3"/>
          <p:cNvSpPr>
            <a:spLocks noGrp="1"/>
          </p:cNvSpPr>
          <p:nvPr>
            <p:ph type="body" sz="half" idx="2"/>
          </p:nvPr>
        </p:nvSpPr>
        <p:spPr>
          <a:xfrm>
            <a:off x="1104900" y="1401416"/>
            <a:ext cx="7416247" cy="4588565"/>
          </a:xfrm>
        </p:spPr>
        <p:txBody>
          <a:bodyPr>
            <a:noAutofit/>
          </a:bodyPr>
          <a:lstStyle/>
          <a:p>
            <a:r>
              <a:rPr lang="en-US" sz="2800" b="1" dirty="0">
                <a:solidFill>
                  <a:srgbClr val="000000"/>
                </a:solidFill>
                <a:latin typeface="ff1"/>
              </a:rPr>
              <a:t>7. Make a decision (including one’s justification for the decision)</a:t>
            </a:r>
          </a:p>
          <a:p>
            <a:pPr marL="914400" lvl="1" indent="-457200">
              <a:lnSpc>
                <a:spcPct val="100000"/>
              </a:lnSpc>
              <a:spcAft>
                <a:spcPts val="1000"/>
              </a:spcAft>
              <a:buFont typeface="Arial" panose="020B0604020202020204" pitchFamily="34" charset="0"/>
              <a:buChar char="•"/>
            </a:pPr>
            <a:r>
              <a:rPr lang="en-US" sz="2400" dirty="0">
                <a:solidFill>
                  <a:srgbClr val="4C5966"/>
                </a:solidFill>
                <a:latin typeface="DM Sans"/>
              </a:rPr>
              <a:t>After having analyzed the moral dilemma situation (from steps 1 through 6), one must now make a decision based on what has been previously discussed and must clearly justify the decision that has been made.</a:t>
            </a:r>
          </a:p>
          <a:p>
            <a:pPr marL="914400" lvl="1" indent="-457200">
              <a:lnSpc>
                <a:spcPct val="100000"/>
              </a:lnSpc>
              <a:spcAft>
                <a:spcPts val="1000"/>
              </a:spcAft>
              <a:buFont typeface="Arial" panose="020B0604020202020204" pitchFamily="34" charset="0"/>
              <a:buChar char="•"/>
            </a:pPr>
            <a:r>
              <a:rPr lang="en-US" sz="2400" dirty="0">
                <a:solidFill>
                  <a:srgbClr val="4C5966"/>
                </a:solidFill>
                <a:latin typeface="DM Sans"/>
              </a:rPr>
              <a:t>Ethical decisions rarely have pain-free solutions - it might be you have to choose the solution with the least number of problems / painful consequences (Rae 2018)</a:t>
            </a:r>
            <a:endParaRPr lang="en-GB" sz="2400" dirty="0">
              <a:solidFill>
                <a:schemeClr val="tx2"/>
              </a:solidFill>
              <a:latin typeface="Garamond" panose="02020404030301010803" pitchFamily="18" charset="0"/>
              <a:ea typeface="Calibri" panose="020F0502020204030204" pitchFamily="34" charset="0"/>
              <a:cs typeface="Times New Roman" panose="02020603050405020304" pitchFamily="18" charset="0"/>
            </a:endParaRPr>
          </a:p>
        </p:txBody>
      </p:sp>
      <p:sp>
        <p:nvSpPr>
          <p:cNvPr id="6" name="Title 12">
            <a:extLst>
              <a:ext uri="{FF2B5EF4-FFF2-40B4-BE49-F238E27FC236}">
                <a16:creationId xmlns:a16="http://schemas.microsoft.com/office/drawing/2014/main" id="{8CD75CFB-52FB-4D4F-89BD-E1B03A7C4288}"/>
              </a:ext>
            </a:extLst>
          </p:cNvPr>
          <p:cNvSpPr>
            <a:spLocks noGrp="1"/>
          </p:cNvSpPr>
          <p:nvPr>
            <p:ph type="title"/>
          </p:nvPr>
        </p:nvSpPr>
        <p:spPr>
          <a:xfrm>
            <a:off x="1104900" y="76200"/>
            <a:ext cx="9980682" cy="1096962"/>
          </a:xfrm>
        </p:spPr>
        <p:txBody>
          <a:bodyPr>
            <a:normAutofit/>
          </a:bodyPr>
          <a:lstStyle/>
          <a:p>
            <a:r>
              <a:rPr lang="en-US" sz="3600" b="1" dirty="0"/>
              <a:t>Scott Rae’s 7-Step Moral Reasoning Model</a:t>
            </a:r>
            <a:endParaRPr lang="en-GB" sz="3600" dirty="0"/>
          </a:p>
        </p:txBody>
      </p:sp>
    </p:spTree>
    <p:extLst>
      <p:ext uri="{BB962C8B-B14F-4D97-AF65-F5344CB8AC3E}">
        <p14:creationId xmlns:p14="http://schemas.microsoft.com/office/powerpoint/2010/main" val="4266976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20995" y="1668037"/>
            <a:ext cx="6422335" cy="2219691"/>
          </a:xfrm>
        </p:spPr>
        <p:txBody>
          <a:bodyPr>
            <a:normAutofit/>
          </a:bodyPr>
          <a:lstStyle/>
          <a:p>
            <a:r>
              <a:rPr lang="en-US" sz="6600" b="1" dirty="0"/>
              <a:t>Moral Reasoning</a:t>
            </a:r>
            <a:endParaRPr lang="en-GB" sz="6600" dirty="0"/>
          </a:p>
        </p:txBody>
      </p:sp>
      <p:pic>
        <p:nvPicPr>
          <p:cNvPr id="1026" name="Picture 2" descr="Ethics and Psychology: Moral Judgment and Decision Making">
            <a:extLst>
              <a:ext uri="{FF2B5EF4-FFF2-40B4-BE49-F238E27FC236}">
                <a16:creationId xmlns:a16="http://schemas.microsoft.com/office/drawing/2014/main" id="{A78B2D85-7B7A-4A61-AF1C-0C315415F5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62191" y="1042574"/>
            <a:ext cx="4929809" cy="47486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4215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Moral Reasoning">
            <a:extLst>
              <a:ext uri="{FF2B5EF4-FFF2-40B4-BE49-F238E27FC236}">
                <a16:creationId xmlns:a16="http://schemas.microsoft.com/office/drawing/2014/main" id="{E17B9F51-26FA-4038-88D4-60E4E846A3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40487" y="1325011"/>
            <a:ext cx="4597676" cy="514205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normAutofit/>
          </a:bodyPr>
          <a:lstStyle/>
          <a:p>
            <a:r>
              <a:rPr lang="en-US" sz="4400" b="1" dirty="0"/>
              <a:t>Moral Reasoning </a:t>
            </a:r>
          </a:p>
        </p:txBody>
      </p:sp>
      <p:sp>
        <p:nvSpPr>
          <p:cNvPr id="3" name="Rectangle 2">
            <a:extLst>
              <a:ext uri="{FF2B5EF4-FFF2-40B4-BE49-F238E27FC236}">
                <a16:creationId xmlns:a16="http://schemas.microsoft.com/office/drawing/2014/main" id="{9CDFE97B-EFC3-46F5-B9FC-EA26A131948A}"/>
              </a:ext>
            </a:extLst>
          </p:cNvPr>
          <p:cNvSpPr/>
          <p:nvPr/>
        </p:nvSpPr>
        <p:spPr>
          <a:xfrm>
            <a:off x="1104898" y="1431380"/>
            <a:ext cx="6183797" cy="5016758"/>
          </a:xfrm>
          <a:prstGeom prst="rect">
            <a:avLst/>
          </a:prstGeom>
        </p:spPr>
        <p:txBody>
          <a:bodyPr wrap="square">
            <a:spAutoFit/>
          </a:bodyPr>
          <a:lstStyle/>
          <a:p>
            <a:pPr marL="571500" indent="-571500">
              <a:buFont typeface="Arial" panose="020B0604020202020204" pitchFamily="34" charset="0"/>
              <a:buChar char="•"/>
            </a:pPr>
            <a:r>
              <a:rPr lang="en-US" sz="3200" dirty="0">
                <a:solidFill>
                  <a:srgbClr val="4D5156"/>
                </a:solidFill>
                <a:latin typeface="+mj-lt"/>
              </a:rPr>
              <a:t>Moral reasoning is the study of how people think about right and wrong and how they acquire and apply moral rules.</a:t>
            </a:r>
          </a:p>
          <a:p>
            <a:r>
              <a:rPr lang="en-US" sz="3200" dirty="0">
                <a:solidFill>
                  <a:srgbClr val="4D5156"/>
                </a:solidFill>
                <a:latin typeface="+mj-lt"/>
              </a:rPr>
              <a:t> </a:t>
            </a:r>
          </a:p>
          <a:p>
            <a:pPr marL="571500" indent="-571500">
              <a:buFont typeface="Arial" panose="020B0604020202020204" pitchFamily="34" charset="0"/>
              <a:buChar char="•"/>
            </a:pPr>
            <a:r>
              <a:rPr lang="en-US" sz="3200" dirty="0">
                <a:solidFill>
                  <a:srgbClr val="4D5156"/>
                </a:solidFill>
                <a:latin typeface="+mj-lt"/>
              </a:rPr>
              <a:t>It is a subdiscipline of moral psychology that overlaps with moral philosophy, and is the foundation of descriptive ethics.</a:t>
            </a:r>
            <a:endParaRPr lang="en-GB" sz="3200" dirty="0">
              <a:latin typeface="+mj-lt"/>
            </a:endParaRPr>
          </a:p>
        </p:txBody>
      </p:sp>
    </p:spTree>
    <p:extLst>
      <p:ext uri="{BB962C8B-B14F-4D97-AF65-F5344CB8AC3E}">
        <p14:creationId xmlns:p14="http://schemas.microsoft.com/office/powerpoint/2010/main" val="1416831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Moral Reasoning">
            <a:extLst>
              <a:ext uri="{FF2B5EF4-FFF2-40B4-BE49-F238E27FC236}">
                <a16:creationId xmlns:a16="http://schemas.microsoft.com/office/drawing/2014/main" id="{E17B9F51-26FA-4038-88D4-60E4E846A3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99443" y="1325012"/>
            <a:ext cx="3338720" cy="3734032"/>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normAutofit/>
          </a:bodyPr>
          <a:lstStyle/>
          <a:p>
            <a:r>
              <a:rPr lang="en-US" sz="4400" b="1" dirty="0"/>
              <a:t>Moral Reasoning </a:t>
            </a:r>
          </a:p>
        </p:txBody>
      </p:sp>
      <p:sp>
        <p:nvSpPr>
          <p:cNvPr id="3" name="Rectangle 2">
            <a:extLst>
              <a:ext uri="{FF2B5EF4-FFF2-40B4-BE49-F238E27FC236}">
                <a16:creationId xmlns:a16="http://schemas.microsoft.com/office/drawing/2014/main" id="{9CDFE97B-EFC3-46F5-B9FC-EA26A131948A}"/>
              </a:ext>
            </a:extLst>
          </p:cNvPr>
          <p:cNvSpPr/>
          <p:nvPr/>
        </p:nvSpPr>
        <p:spPr>
          <a:xfrm>
            <a:off x="1104898" y="1431380"/>
            <a:ext cx="7588528" cy="4878130"/>
          </a:xfrm>
          <a:prstGeom prst="rect">
            <a:avLst/>
          </a:prstGeom>
        </p:spPr>
        <p:txBody>
          <a:bodyPr wrap="square">
            <a:spAutoFit/>
          </a:bodyPr>
          <a:lstStyle/>
          <a:p>
            <a:pPr>
              <a:lnSpc>
                <a:spcPct val="115000"/>
              </a:lnSpc>
              <a:spcAft>
                <a:spcPts val="1000"/>
              </a:spcAft>
            </a:pPr>
            <a:r>
              <a:rPr lang="en-US" sz="2400" dirty="0">
                <a:latin typeface="+mj-lt"/>
                <a:ea typeface="Calibri" panose="020F0502020204030204" pitchFamily="34" charset="0"/>
                <a:cs typeface="Times New Roman" panose="02020603050405020304" pitchFamily="18" charset="0"/>
              </a:rPr>
              <a:t>Moral reasoning refers to the reasoning process by which human behaviors, institutions or policies are judged to be in accordance with or in violation of moral standards. Moral reasoning always involves two essential components </a:t>
            </a:r>
            <a:endParaRPr lang="en-GB" sz="2000" dirty="0">
              <a:latin typeface="+mj-lt"/>
              <a:ea typeface="Calibri" panose="020F0502020204030204" pitchFamily="34" charset="0"/>
              <a:cs typeface="Times New Roman" panose="02020603050405020304" pitchFamily="18" charset="0"/>
            </a:endParaRPr>
          </a:p>
          <a:p>
            <a:pPr marL="342900" lvl="0" indent="-342900">
              <a:lnSpc>
                <a:spcPct val="115000"/>
              </a:lnSpc>
              <a:spcAft>
                <a:spcPts val="0"/>
              </a:spcAft>
              <a:buFont typeface="+mj-lt"/>
              <a:buAutoNum type="arabicPeriod"/>
            </a:pPr>
            <a:r>
              <a:rPr lang="en-US" sz="2400" dirty="0">
                <a:latin typeface="+mj-lt"/>
                <a:ea typeface="Calibri" panose="020F0502020204030204" pitchFamily="34" charset="0"/>
                <a:cs typeface="Times New Roman" panose="02020603050405020304" pitchFamily="18" charset="0"/>
              </a:rPr>
              <a:t>An understanding of what reasonable moral standards require prohibit, value or condemn and </a:t>
            </a:r>
            <a:endParaRPr lang="en-GB" sz="2000" dirty="0">
              <a:latin typeface="+mj-lt"/>
              <a:ea typeface="Calibri" panose="020F0502020204030204" pitchFamily="34" charset="0"/>
              <a:cs typeface="Times New Roman" panose="02020603050405020304" pitchFamily="18" charset="0"/>
            </a:endParaRPr>
          </a:p>
          <a:p>
            <a:pPr marL="342900" lvl="0" indent="-342900">
              <a:lnSpc>
                <a:spcPct val="115000"/>
              </a:lnSpc>
              <a:spcAft>
                <a:spcPts val="1000"/>
              </a:spcAft>
              <a:buFont typeface="+mj-lt"/>
              <a:buAutoNum type="arabicPeriod"/>
            </a:pPr>
            <a:r>
              <a:rPr lang="en-US" sz="2400" dirty="0">
                <a:latin typeface="+mj-lt"/>
                <a:ea typeface="Calibri" panose="020F0502020204030204" pitchFamily="34" charset="0"/>
                <a:cs typeface="Times New Roman" panose="02020603050405020304" pitchFamily="18" charset="0"/>
              </a:rPr>
              <a:t>Evidence or information that shows that a particular person, policy, institution or behavior has the kinds of features that these moral standards require, prohibit, value or condemn</a:t>
            </a:r>
            <a:endParaRPr lang="en-GB" sz="2000" dirty="0">
              <a:latin typeface="+mj-l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703935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 a Slide Title - 3</a:t>
            </a:r>
          </a:p>
        </p:txBody>
      </p:sp>
      <p:sp>
        <p:nvSpPr>
          <p:cNvPr id="7" name="Rectangle 6">
            <a:extLst>
              <a:ext uri="{FF2B5EF4-FFF2-40B4-BE49-F238E27FC236}">
                <a16:creationId xmlns:a16="http://schemas.microsoft.com/office/drawing/2014/main" id="{566E25CD-C656-4DE1-8CC9-788940F0ADB6}"/>
              </a:ext>
            </a:extLst>
          </p:cNvPr>
          <p:cNvSpPr/>
          <p:nvPr/>
        </p:nvSpPr>
        <p:spPr>
          <a:xfrm>
            <a:off x="503582" y="1856747"/>
            <a:ext cx="6876273" cy="4031873"/>
          </a:xfrm>
          <a:prstGeom prst="rect">
            <a:avLst/>
          </a:prstGeom>
        </p:spPr>
        <p:txBody>
          <a:bodyPr wrap="square">
            <a:spAutoFit/>
          </a:bodyPr>
          <a:lstStyle/>
          <a:p>
            <a:r>
              <a:rPr lang="en-US" sz="2800" b="1" dirty="0">
                <a:latin typeface="+mj-lt"/>
              </a:rPr>
              <a:t>Moral	factual information	Moral judgment</a:t>
            </a:r>
          </a:p>
          <a:p>
            <a:endParaRPr lang="en-US" sz="2800" dirty="0">
              <a:latin typeface="+mj-lt"/>
            </a:endParaRPr>
          </a:p>
          <a:p>
            <a:r>
              <a:rPr lang="en-US" sz="4000" dirty="0">
                <a:latin typeface="+mj-lt"/>
              </a:rPr>
              <a:t>Standards concerning policy, institution or the rightness or wrongness of behavior under consideration of the policy, institution or behavior</a:t>
            </a:r>
          </a:p>
        </p:txBody>
      </p:sp>
      <p:pic>
        <p:nvPicPr>
          <p:cNvPr id="6146" name="Picture 2" descr="Moral Dilemmas | Gusto Research">
            <a:extLst>
              <a:ext uri="{FF2B5EF4-FFF2-40B4-BE49-F238E27FC236}">
                <a16:creationId xmlns:a16="http://schemas.microsoft.com/office/drawing/2014/main" id="{9FF85B8B-2EF5-43B4-B391-5D448E46C3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59757" y="2517913"/>
            <a:ext cx="4532243" cy="43400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6507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Moral Reasoning">
            <a:extLst>
              <a:ext uri="{FF2B5EF4-FFF2-40B4-BE49-F238E27FC236}">
                <a16:creationId xmlns:a16="http://schemas.microsoft.com/office/drawing/2014/main" id="{E17B9F51-26FA-4038-88D4-60E4E846A3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99443" y="1325012"/>
            <a:ext cx="3338720" cy="3734032"/>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normAutofit/>
          </a:bodyPr>
          <a:lstStyle/>
          <a:p>
            <a:r>
              <a:rPr lang="en-US" sz="4400" b="1" dirty="0"/>
              <a:t>Analyzing Moral Reasoning </a:t>
            </a:r>
          </a:p>
        </p:txBody>
      </p:sp>
      <p:sp>
        <p:nvSpPr>
          <p:cNvPr id="4" name="Rectangle 3">
            <a:extLst>
              <a:ext uri="{FF2B5EF4-FFF2-40B4-BE49-F238E27FC236}">
                <a16:creationId xmlns:a16="http://schemas.microsoft.com/office/drawing/2014/main" id="{B8E440E8-0DF5-4FDC-AA29-46C036ABC722}"/>
              </a:ext>
            </a:extLst>
          </p:cNvPr>
          <p:cNvSpPr/>
          <p:nvPr/>
        </p:nvSpPr>
        <p:spPr>
          <a:xfrm>
            <a:off x="1232451" y="1566495"/>
            <a:ext cx="7209184" cy="4832092"/>
          </a:xfrm>
          <a:prstGeom prst="rect">
            <a:avLst/>
          </a:prstGeom>
        </p:spPr>
        <p:txBody>
          <a:bodyPr wrap="square">
            <a:spAutoFit/>
          </a:bodyPr>
          <a:lstStyle/>
          <a:p>
            <a:r>
              <a:rPr lang="en-US" sz="2800" dirty="0">
                <a:latin typeface="+mj-lt"/>
              </a:rPr>
              <a:t>There are various criteria that ethicists use to evaluate the adequacy of moral reasoning. </a:t>
            </a:r>
          </a:p>
          <a:p>
            <a:pPr marL="457200" indent="-457200">
              <a:buFont typeface="Arial" panose="020B0604020202020204" pitchFamily="34" charset="0"/>
              <a:buChar char="•"/>
            </a:pPr>
            <a:r>
              <a:rPr lang="en-US" sz="2800" dirty="0">
                <a:latin typeface="+mj-lt"/>
              </a:rPr>
              <a:t>First and primarily, moral reasoning must be </a:t>
            </a:r>
            <a:r>
              <a:rPr lang="en-US" sz="2800" b="1" dirty="0">
                <a:latin typeface="+mj-lt"/>
              </a:rPr>
              <a:t>logical</a:t>
            </a:r>
            <a:r>
              <a:rPr lang="en-US" sz="2800" dirty="0">
                <a:latin typeface="+mj-lt"/>
              </a:rPr>
              <a:t>. The analysis of moral reasoning requires that the logic of the argument used to establish a moral judgment be rigorously examined, all the unspoken move and factual assumptions be made explicit and both assumptions and premises be displayed and subjected to criticism. </a:t>
            </a:r>
          </a:p>
        </p:txBody>
      </p:sp>
    </p:spTree>
    <p:extLst>
      <p:ext uri="{BB962C8B-B14F-4D97-AF65-F5344CB8AC3E}">
        <p14:creationId xmlns:p14="http://schemas.microsoft.com/office/powerpoint/2010/main" val="3695713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Moral Reasoning">
            <a:extLst>
              <a:ext uri="{FF2B5EF4-FFF2-40B4-BE49-F238E27FC236}">
                <a16:creationId xmlns:a16="http://schemas.microsoft.com/office/drawing/2014/main" id="{E17B9F51-26FA-4038-88D4-60E4E846A3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99443" y="1325012"/>
            <a:ext cx="3338720" cy="3734032"/>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normAutofit/>
          </a:bodyPr>
          <a:lstStyle/>
          <a:p>
            <a:r>
              <a:rPr lang="en-US" sz="4400" b="1" dirty="0"/>
              <a:t>Analyzing Moral Reasoning </a:t>
            </a:r>
          </a:p>
        </p:txBody>
      </p:sp>
      <p:sp>
        <p:nvSpPr>
          <p:cNvPr id="4" name="Rectangle 3">
            <a:extLst>
              <a:ext uri="{FF2B5EF4-FFF2-40B4-BE49-F238E27FC236}">
                <a16:creationId xmlns:a16="http://schemas.microsoft.com/office/drawing/2014/main" id="{B8E440E8-0DF5-4FDC-AA29-46C036ABC722}"/>
              </a:ext>
            </a:extLst>
          </p:cNvPr>
          <p:cNvSpPr/>
          <p:nvPr/>
        </p:nvSpPr>
        <p:spPr>
          <a:xfrm>
            <a:off x="1232450" y="1566495"/>
            <a:ext cx="7447723" cy="4993996"/>
          </a:xfrm>
          <a:prstGeom prst="rect">
            <a:avLst/>
          </a:prstGeom>
        </p:spPr>
        <p:txBody>
          <a:bodyPr wrap="square">
            <a:spAutoFit/>
          </a:bodyPr>
          <a:lstStyle/>
          <a:p>
            <a:pPr>
              <a:lnSpc>
                <a:spcPct val="115000"/>
              </a:lnSpc>
              <a:spcAft>
                <a:spcPts val="1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Second, the factual evidence cited in support of a person’s argument must be </a:t>
            </a:r>
            <a:r>
              <a:rPr lang="en-US" sz="2800" b="1" dirty="0">
                <a:latin typeface="Times New Roman" panose="02020603050405020304" pitchFamily="18" charset="0"/>
                <a:ea typeface="Calibri" panose="020F0502020204030204" pitchFamily="34" charset="0"/>
                <a:cs typeface="Times New Roman" panose="02020603050405020304" pitchFamily="18" charset="0"/>
              </a:rPr>
              <a:t>accurate</a:t>
            </a:r>
            <a:r>
              <a:rPr lang="en-US" sz="2800" dirty="0">
                <a:latin typeface="Times New Roman" panose="02020603050405020304" pitchFamily="18" charset="0"/>
                <a:ea typeface="Calibri" panose="020F0502020204030204" pitchFamily="34" charset="0"/>
                <a:cs typeface="Times New Roman" panose="02020603050405020304" pitchFamily="18" charset="0"/>
              </a:rPr>
              <a:t>, </a:t>
            </a:r>
            <a:r>
              <a:rPr lang="en-US" sz="2800" b="1" dirty="0">
                <a:latin typeface="Times New Roman" panose="02020603050405020304" pitchFamily="18" charset="0"/>
                <a:ea typeface="Calibri" panose="020F0502020204030204" pitchFamily="34" charset="0"/>
                <a:cs typeface="Times New Roman" panose="02020603050405020304" pitchFamily="18" charset="0"/>
              </a:rPr>
              <a:t>relevant</a:t>
            </a:r>
            <a:r>
              <a:rPr lang="en-US" sz="2800" dirty="0">
                <a:latin typeface="Times New Roman" panose="02020603050405020304" pitchFamily="18" charset="0"/>
                <a:ea typeface="Calibri" panose="020F0502020204030204" pitchFamily="34" charset="0"/>
                <a:cs typeface="Times New Roman" panose="02020603050405020304" pitchFamily="18" charset="0"/>
              </a:rPr>
              <a:t> and </a:t>
            </a:r>
            <a:r>
              <a:rPr lang="en-US" sz="2800" b="1" dirty="0">
                <a:latin typeface="Times New Roman" panose="02020603050405020304" pitchFamily="18" charset="0"/>
                <a:ea typeface="Calibri" panose="020F0502020204030204" pitchFamily="34" charset="0"/>
                <a:cs typeface="Times New Roman" panose="02020603050405020304" pitchFamily="18" charset="0"/>
              </a:rPr>
              <a:t>complete</a:t>
            </a:r>
            <a:r>
              <a:rPr lang="en-US" sz="2800" dirty="0">
                <a:latin typeface="Times New Roman" panose="02020603050405020304" pitchFamily="18" charset="0"/>
                <a:ea typeface="Calibri" panose="020F0502020204030204" pitchFamily="34" charset="0"/>
                <a:cs typeface="Times New Roman" panose="02020603050405020304" pitchFamily="18" charset="0"/>
              </a:rPr>
              <a:t>. If the moral reasoning is to be adequate, statistics and relationships must be accurate. </a:t>
            </a:r>
          </a:p>
          <a:p>
            <a:pPr marL="457200" indent="-457200">
              <a:lnSpc>
                <a:spcPct val="115000"/>
              </a:lnSpc>
              <a:spcAft>
                <a:spcPts val="1000"/>
              </a:spcAft>
              <a:buFont typeface="Arial" panose="020B0604020202020204" pitchFamily="34" charset="0"/>
              <a:buChar char="•"/>
            </a:pPr>
            <a:r>
              <a:rPr lang="en-US" sz="2800" dirty="0">
                <a:latin typeface="Times New Roman" panose="02020603050405020304" pitchFamily="18" charset="0"/>
                <a:ea typeface="Calibri" panose="020F0502020204030204" pitchFamily="34" charset="0"/>
                <a:cs typeface="Times New Roman" panose="02020603050405020304" pitchFamily="18" charset="0"/>
              </a:rPr>
              <a:t>They must rest on reliable statistical methods and well supported scientific theory. </a:t>
            </a:r>
          </a:p>
          <a:p>
            <a:pPr marL="457200" indent="-457200">
              <a:lnSpc>
                <a:spcPct val="115000"/>
              </a:lnSpc>
              <a:spcAft>
                <a:spcPts val="1000"/>
              </a:spcAft>
              <a:buFont typeface="Arial" panose="020B0604020202020204" pitchFamily="34" charset="0"/>
              <a:buChar char="•"/>
            </a:pPr>
            <a:r>
              <a:rPr lang="en-US" sz="2400" dirty="0">
                <a:latin typeface="Times New Roman" panose="02020603050405020304" pitchFamily="18" charset="0"/>
                <a:ea typeface="Calibri" panose="020F0502020204030204" pitchFamily="34" charset="0"/>
                <a:cs typeface="Times New Roman" panose="02020603050405020304" pitchFamily="18" charset="0"/>
              </a:rPr>
              <a:t>In addition, evidence must be relevant. It must show that the behavior, policy or institution being judged has precisely those characteristics that are prescribed by the moral standards involved.</a:t>
            </a:r>
            <a:endParaRPr lang="en-GB" sz="20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02790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Moral Reasoning">
            <a:extLst>
              <a:ext uri="{FF2B5EF4-FFF2-40B4-BE49-F238E27FC236}">
                <a16:creationId xmlns:a16="http://schemas.microsoft.com/office/drawing/2014/main" id="{E17B9F51-26FA-4038-88D4-60E4E846A3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99443" y="1325012"/>
            <a:ext cx="3338720" cy="3734032"/>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normAutofit/>
          </a:bodyPr>
          <a:lstStyle/>
          <a:p>
            <a:r>
              <a:rPr lang="en-US" sz="4400" b="1" dirty="0"/>
              <a:t>Analyzing Moral Reasoning </a:t>
            </a:r>
          </a:p>
        </p:txBody>
      </p:sp>
      <p:sp>
        <p:nvSpPr>
          <p:cNvPr id="4" name="Rectangle 3">
            <a:extLst>
              <a:ext uri="{FF2B5EF4-FFF2-40B4-BE49-F238E27FC236}">
                <a16:creationId xmlns:a16="http://schemas.microsoft.com/office/drawing/2014/main" id="{B8E440E8-0DF5-4FDC-AA29-46C036ABC722}"/>
              </a:ext>
            </a:extLst>
          </p:cNvPr>
          <p:cNvSpPr/>
          <p:nvPr/>
        </p:nvSpPr>
        <p:spPr>
          <a:xfrm>
            <a:off x="1232450" y="1566495"/>
            <a:ext cx="7447723" cy="4777077"/>
          </a:xfrm>
          <a:prstGeom prst="rect">
            <a:avLst/>
          </a:prstGeom>
        </p:spPr>
        <p:txBody>
          <a:bodyPr wrap="square">
            <a:spAutoFit/>
          </a:bodyPr>
          <a:lstStyle/>
          <a:p>
            <a:pPr>
              <a:lnSpc>
                <a:spcPct val="115000"/>
              </a:lnSpc>
              <a:spcAft>
                <a:spcPts val="1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Third, the moral standards involved in a person’s moral reasoning must be </a:t>
            </a:r>
            <a:r>
              <a:rPr lang="en-US" sz="2800" b="1" dirty="0">
                <a:latin typeface="Times New Roman" panose="02020603050405020304" pitchFamily="18" charset="0"/>
                <a:ea typeface="Calibri" panose="020F0502020204030204" pitchFamily="34" charset="0"/>
                <a:cs typeface="Times New Roman" panose="02020603050405020304" pitchFamily="18" charset="0"/>
              </a:rPr>
              <a:t>consistent</a:t>
            </a:r>
            <a:r>
              <a:rPr lang="en-US" sz="2800" dirty="0">
                <a:latin typeface="Times New Roman" panose="02020603050405020304" pitchFamily="18" charset="0"/>
                <a:ea typeface="Calibri" panose="020F0502020204030204" pitchFamily="34" charset="0"/>
                <a:cs typeface="Times New Roman" panose="02020603050405020304" pitchFamily="18" charset="0"/>
              </a:rPr>
              <a:t>. </a:t>
            </a:r>
          </a:p>
          <a:p>
            <a:pPr marL="457200" indent="-457200">
              <a:lnSpc>
                <a:spcPct val="115000"/>
              </a:lnSpc>
              <a:spcAft>
                <a:spcPts val="1000"/>
              </a:spcAft>
              <a:buFont typeface="Arial" panose="020B0604020202020204" pitchFamily="34" charset="0"/>
              <a:buChar char="•"/>
            </a:pPr>
            <a:r>
              <a:rPr lang="en-US" sz="2800" dirty="0">
                <a:latin typeface="Times New Roman" panose="02020603050405020304" pitchFamily="18" charset="0"/>
                <a:ea typeface="Calibri" panose="020F0502020204030204" pitchFamily="34" charset="0"/>
                <a:cs typeface="Times New Roman" panose="02020603050405020304" pitchFamily="18" charset="0"/>
              </a:rPr>
              <a:t>They must be consistent with each other and with the other standards and beliefs the person holds. </a:t>
            </a:r>
          </a:p>
          <a:p>
            <a:pPr marL="457200" indent="-457200">
              <a:lnSpc>
                <a:spcPct val="115000"/>
              </a:lnSpc>
              <a:spcAft>
                <a:spcPts val="1000"/>
              </a:spcAft>
              <a:buFont typeface="Arial" panose="020B0604020202020204" pitchFamily="34" charset="0"/>
              <a:buChar char="•"/>
            </a:pPr>
            <a:r>
              <a:rPr lang="en-US" sz="2800" dirty="0">
                <a:latin typeface="Times New Roman" panose="02020603050405020304" pitchFamily="18" charset="0"/>
                <a:ea typeface="Calibri" panose="020F0502020204030204" pitchFamily="34" charset="0"/>
                <a:cs typeface="Times New Roman" panose="02020603050405020304" pitchFamily="18" charset="0"/>
              </a:rPr>
              <a:t>Inconsistency between a person’s moral standards can be uncovered and corrected by examining situations in which these moral standards require incompatibility things. </a:t>
            </a:r>
            <a:endParaRPr lang="en-GB" sz="24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90543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Moral Reasoning">
            <a:extLst>
              <a:ext uri="{FF2B5EF4-FFF2-40B4-BE49-F238E27FC236}">
                <a16:creationId xmlns:a16="http://schemas.microsoft.com/office/drawing/2014/main" id="{E17B9F51-26FA-4038-88D4-60E4E846A3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99443" y="1325012"/>
            <a:ext cx="3338720" cy="3734032"/>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normAutofit/>
          </a:bodyPr>
          <a:lstStyle/>
          <a:p>
            <a:r>
              <a:rPr lang="en-US" sz="4400" b="1" dirty="0"/>
              <a:t>Analyzing Moral Reasoning </a:t>
            </a:r>
          </a:p>
        </p:txBody>
      </p:sp>
      <p:sp>
        <p:nvSpPr>
          <p:cNvPr id="4" name="Rectangle 3">
            <a:extLst>
              <a:ext uri="{FF2B5EF4-FFF2-40B4-BE49-F238E27FC236}">
                <a16:creationId xmlns:a16="http://schemas.microsoft.com/office/drawing/2014/main" id="{B8E440E8-0DF5-4FDC-AA29-46C036ABC722}"/>
              </a:ext>
            </a:extLst>
          </p:cNvPr>
          <p:cNvSpPr/>
          <p:nvPr/>
        </p:nvSpPr>
        <p:spPr>
          <a:xfrm>
            <a:off x="1232450" y="1566495"/>
            <a:ext cx="7447723" cy="5008743"/>
          </a:xfrm>
          <a:prstGeom prst="rect">
            <a:avLst/>
          </a:prstGeom>
        </p:spPr>
        <p:txBody>
          <a:bodyPr wrap="square">
            <a:spAutoFit/>
          </a:bodyPr>
          <a:lstStyle/>
          <a:p>
            <a:pPr>
              <a:lnSpc>
                <a:spcPct val="115000"/>
              </a:lnSpc>
              <a:spcAft>
                <a:spcPts val="1000"/>
              </a:spcAft>
            </a:pPr>
            <a:r>
              <a:rPr lang="en-US" sz="2400" dirty="0">
                <a:latin typeface="+mj-lt"/>
                <a:ea typeface="Calibri" panose="020F0502020204030204" pitchFamily="34" charset="0"/>
                <a:cs typeface="Times New Roman" panose="02020603050405020304" pitchFamily="18" charset="0"/>
              </a:rPr>
              <a:t>Suppose that I believe that; </a:t>
            </a:r>
            <a:endParaRPr lang="en-GB" sz="2000" dirty="0">
              <a:latin typeface="+mj-lt"/>
              <a:ea typeface="Calibri" panose="020F0502020204030204" pitchFamily="34" charset="0"/>
              <a:cs typeface="Times New Roman" panose="02020603050405020304" pitchFamily="18" charset="0"/>
            </a:endParaRPr>
          </a:p>
          <a:p>
            <a:pPr marL="800100" lvl="1" indent="-342900">
              <a:lnSpc>
                <a:spcPct val="115000"/>
              </a:lnSpc>
              <a:buFont typeface="+mj-lt"/>
              <a:buAutoNum type="arabicPeriod"/>
            </a:pPr>
            <a:r>
              <a:rPr lang="en-US" sz="2400" dirty="0">
                <a:latin typeface="+mj-lt"/>
                <a:ea typeface="Calibri" panose="020F0502020204030204" pitchFamily="34" charset="0"/>
                <a:cs typeface="Times New Roman" panose="02020603050405020304" pitchFamily="18" charset="0"/>
              </a:rPr>
              <a:t>It is wrong to disobey an employer whom one has contractually agreed to obey, and I also believe that</a:t>
            </a:r>
            <a:endParaRPr lang="en-GB" sz="2000" dirty="0">
              <a:latin typeface="+mj-lt"/>
              <a:ea typeface="Calibri" panose="020F0502020204030204" pitchFamily="34" charset="0"/>
              <a:cs typeface="Times New Roman" panose="02020603050405020304" pitchFamily="18" charset="0"/>
            </a:endParaRPr>
          </a:p>
          <a:p>
            <a:pPr marL="800100" lvl="1" indent="-342900">
              <a:lnSpc>
                <a:spcPct val="115000"/>
              </a:lnSpc>
              <a:spcAft>
                <a:spcPts val="1000"/>
              </a:spcAft>
              <a:buFont typeface="+mj-lt"/>
              <a:buAutoNum type="arabicPeriod"/>
            </a:pPr>
            <a:r>
              <a:rPr lang="en-US" sz="2400" dirty="0">
                <a:latin typeface="+mj-lt"/>
                <a:ea typeface="Calibri" panose="020F0502020204030204" pitchFamily="34" charset="0"/>
                <a:cs typeface="Times New Roman" panose="02020603050405020304" pitchFamily="18" charset="0"/>
              </a:rPr>
              <a:t>It is wrong to help someone who is endangering innocent people’s lives.</a:t>
            </a:r>
            <a:endParaRPr lang="en-GB" sz="2000" dirty="0">
              <a:latin typeface="+mj-lt"/>
              <a:ea typeface="Calibri" panose="020F0502020204030204" pitchFamily="34" charset="0"/>
              <a:cs typeface="Times New Roman" panose="02020603050405020304" pitchFamily="18" charset="0"/>
            </a:endParaRPr>
          </a:p>
          <a:p>
            <a:pPr marL="228600">
              <a:lnSpc>
                <a:spcPct val="115000"/>
              </a:lnSpc>
              <a:spcAft>
                <a:spcPts val="1000"/>
              </a:spcAft>
            </a:pPr>
            <a:r>
              <a:rPr lang="en-US" sz="2000" dirty="0">
                <a:latin typeface="+mj-lt"/>
                <a:ea typeface="Calibri" panose="020F0502020204030204" pitchFamily="34" charset="0"/>
                <a:cs typeface="Times New Roman" panose="02020603050405020304" pitchFamily="18" charset="0"/>
              </a:rPr>
              <a:t>Then suppose that one day my employer insists that I work on a project that might result in the death of several innocent people. The situation now reveals an inconsistency between these two moral standards: I can either obey my employer and avoid helping disloyalty, or I can disobey him and avoid helping endanger people’s lives, but I cannot do both.</a:t>
            </a:r>
            <a:endParaRPr lang="en-GB" dirty="0">
              <a:latin typeface="+mj-l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325810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Kohlberg's Stages of Moral Development (6 Stages + Examples) - Practical  Psychology">
            <a:extLst>
              <a:ext uri="{FF2B5EF4-FFF2-40B4-BE49-F238E27FC236}">
                <a16:creationId xmlns:a16="http://schemas.microsoft.com/office/drawing/2014/main" id="{CB198725-1CB2-407C-B47D-ECBDA7B2C4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82678" y="1500233"/>
            <a:ext cx="4762708" cy="5152357"/>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normAutofit/>
          </a:bodyPr>
          <a:lstStyle/>
          <a:p>
            <a:pPr marL="228600">
              <a:lnSpc>
                <a:spcPct val="115000"/>
              </a:lnSpc>
              <a:spcAft>
                <a:spcPts val="1000"/>
              </a:spcAft>
            </a:pPr>
            <a:r>
              <a:rPr lang="en-US" sz="4400" b="1" dirty="0">
                <a:latin typeface="Times New Roman" panose="02020603050405020304" pitchFamily="18" charset="0"/>
                <a:ea typeface="Calibri" panose="020F0502020204030204" pitchFamily="34" charset="0"/>
                <a:cs typeface="Times New Roman" panose="02020603050405020304" pitchFamily="18" charset="0"/>
              </a:rPr>
              <a:t>Moral Development and Moral Reasoning</a:t>
            </a:r>
            <a:endParaRPr lang="en-GB" sz="4000" dirty="0">
              <a:latin typeface="Calibri" panose="020F0502020204030204" pitchFamily="34" charset="0"/>
              <a:ea typeface="Calibri" panose="020F0502020204030204" pitchFamily="34" charset="0"/>
              <a:cs typeface="Times New Roman" panose="02020603050405020304" pitchFamily="18" charset="0"/>
            </a:endParaRPr>
          </a:p>
        </p:txBody>
      </p:sp>
      <p:sp>
        <p:nvSpPr>
          <p:cNvPr id="4" name="Rectangle 3">
            <a:extLst>
              <a:ext uri="{FF2B5EF4-FFF2-40B4-BE49-F238E27FC236}">
                <a16:creationId xmlns:a16="http://schemas.microsoft.com/office/drawing/2014/main" id="{B8E440E8-0DF5-4FDC-AA29-46C036ABC722}"/>
              </a:ext>
            </a:extLst>
          </p:cNvPr>
          <p:cNvSpPr/>
          <p:nvPr/>
        </p:nvSpPr>
        <p:spPr>
          <a:xfrm>
            <a:off x="675860" y="1342938"/>
            <a:ext cx="9674089" cy="5466946"/>
          </a:xfrm>
          <a:prstGeom prst="rect">
            <a:avLst/>
          </a:prstGeom>
        </p:spPr>
        <p:txBody>
          <a:bodyPr wrap="square">
            <a:spAutoFit/>
          </a:bodyPr>
          <a:lstStyle/>
          <a:p>
            <a:pPr marL="228600">
              <a:lnSpc>
                <a:spcPct val="115000"/>
              </a:lnSpc>
              <a:spcAft>
                <a:spcPts val="1000"/>
              </a:spcAft>
            </a:pPr>
            <a:r>
              <a:rPr lang="en-US" sz="2400" b="1" dirty="0">
                <a:latin typeface="Times New Roman" panose="02020603050405020304" pitchFamily="18" charset="0"/>
                <a:ea typeface="Calibri" panose="020F0502020204030204" pitchFamily="34" charset="0"/>
                <a:cs typeface="Times New Roman" panose="02020603050405020304" pitchFamily="18" charset="0"/>
              </a:rPr>
              <a:t>Level I – Pre-Conventional stages</a:t>
            </a:r>
            <a:endParaRPr lang="en-GB" sz="2000" dirty="0">
              <a:latin typeface="Calibri" panose="020F0502020204030204" pitchFamily="34" charset="0"/>
              <a:ea typeface="Calibri" panose="020F0502020204030204" pitchFamily="34" charset="0"/>
              <a:cs typeface="Times New Roman" panose="02020603050405020304" pitchFamily="18" charset="0"/>
            </a:endParaRPr>
          </a:p>
          <a:p>
            <a:pPr marL="685800" lvl="1">
              <a:lnSpc>
                <a:spcPct val="115000"/>
              </a:lnSpc>
              <a:spcAft>
                <a:spcPts val="10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Stage 1. Punishment and obedience orientation</a:t>
            </a:r>
            <a:endParaRPr lang="en-GB" sz="2000" dirty="0">
              <a:latin typeface="Calibri" panose="020F0502020204030204" pitchFamily="34" charset="0"/>
              <a:ea typeface="Calibri" panose="020F0502020204030204" pitchFamily="34" charset="0"/>
              <a:cs typeface="Times New Roman" panose="02020603050405020304" pitchFamily="18" charset="0"/>
            </a:endParaRPr>
          </a:p>
          <a:p>
            <a:pPr marL="685800" lvl="1">
              <a:lnSpc>
                <a:spcPct val="115000"/>
              </a:lnSpc>
              <a:spcAft>
                <a:spcPts val="10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Stage 2. Instrumental and relative orientation</a:t>
            </a:r>
            <a:endParaRPr lang="en-GB" sz="2000" dirty="0">
              <a:latin typeface="Calibri" panose="020F0502020204030204" pitchFamily="34" charset="0"/>
              <a:ea typeface="Calibri" panose="020F0502020204030204" pitchFamily="34" charset="0"/>
              <a:cs typeface="Times New Roman" panose="02020603050405020304" pitchFamily="18" charset="0"/>
            </a:endParaRPr>
          </a:p>
          <a:p>
            <a:pPr marL="228600">
              <a:lnSpc>
                <a:spcPct val="115000"/>
              </a:lnSpc>
              <a:spcAft>
                <a:spcPts val="1000"/>
              </a:spcAft>
            </a:pPr>
            <a:r>
              <a:rPr lang="en-US" sz="2400" b="1" dirty="0">
                <a:latin typeface="Times New Roman" panose="02020603050405020304" pitchFamily="18" charset="0"/>
                <a:ea typeface="Calibri" panose="020F0502020204030204" pitchFamily="34" charset="0"/>
                <a:cs typeface="Times New Roman" panose="02020603050405020304" pitchFamily="18" charset="0"/>
              </a:rPr>
              <a:t>Level II – Conventional stages</a:t>
            </a:r>
            <a:endParaRPr lang="en-GB" sz="2000" dirty="0">
              <a:latin typeface="Calibri" panose="020F0502020204030204" pitchFamily="34" charset="0"/>
              <a:ea typeface="Calibri" panose="020F0502020204030204" pitchFamily="34" charset="0"/>
              <a:cs typeface="Times New Roman" panose="02020603050405020304" pitchFamily="18" charset="0"/>
            </a:endParaRPr>
          </a:p>
          <a:p>
            <a:pPr marL="685800" lvl="1">
              <a:lnSpc>
                <a:spcPct val="115000"/>
              </a:lnSpc>
              <a:spcAft>
                <a:spcPts val="10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Stage 3. Interpersonal concordance orientation</a:t>
            </a:r>
            <a:endParaRPr lang="en-GB" sz="2000" dirty="0">
              <a:latin typeface="Calibri" panose="020F0502020204030204" pitchFamily="34" charset="0"/>
              <a:ea typeface="Calibri" panose="020F0502020204030204" pitchFamily="34" charset="0"/>
              <a:cs typeface="Times New Roman" panose="02020603050405020304" pitchFamily="18" charset="0"/>
            </a:endParaRPr>
          </a:p>
          <a:p>
            <a:pPr marL="685800" lvl="1">
              <a:lnSpc>
                <a:spcPct val="115000"/>
              </a:lnSpc>
              <a:spcAft>
                <a:spcPts val="10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Stage 4. Law and order orientation</a:t>
            </a:r>
            <a:endParaRPr lang="en-GB" sz="2000" dirty="0">
              <a:latin typeface="Calibri" panose="020F0502020204030204" pitchFamily="34" charset="0"/>
              <a:ea typeface="Calibri" panose="020F0502020204030204" pitchFamily="34" charset="0"/>
              <a:cs typeface="Times New Roman" panose="02020603050405020304" pitchFamily="18" charset="0"/>
            </a:endParaRPr>
          </a:p>
          <a:p>
            <a:pPr marL="228600">
              <a:lnSpc>
                <a:spcPct val="115000"/>
              </a:lnSpc>
              <a:spcAft>
                <a:spcPts val="1000"/>
              </a:spcAft>
            </a:pPr>
            <a:r>
              <a:rPr lang="en-US" sz="2400" b="1" dirty="0">
                <a:latin typeface="Times New Roman" panose="02020603050405020304" pitchFamily="18" charset="0"/>
                <a:ea typeface="Calibri" panose="020F0502020204030204" pitchFamily="34" charset="0"/>
                <a:cs typeface="Times New Roman" panose="02020603050405020304" pitchFamily="18" charset="0"/>
              </a:rPr>
              <a:t>Level III – Post-Conventional, autonomous </a:t>
            </a:r>
          </a:p>
          <a:p>
            <a:pPr marL="228600">
              <a:lnSpc>
                <a:spcPct val="115000"/>
              </a:lnSpc>
              <a:spcAft>
                <a:spcPts val="1000"/>
              </a:spcAft>
            </a:pPr>
            <a:r>
              <a:rPr lang="en-US" sz="2400" b="1" dirty="0">
                <a:latin typeface="Times New Roman" panose="02020603050405020304" pitchFamily="18" charset="0"/>
                <a:ea typeface="Calibri" panose="020F0502020204030204" pitchFamily="34" charset="0"/>
                <a:cs typeface="Times New Roman" panose="02020603050405020304" pitchFamily="18" charset="0"/>
              </a:rPr>
              <a:t>or principled stage</a:t>
            </a:r>
            <a:endParaRPr lang="en-GB" sz="2000" dirty="0">
              <a:latin typeface="Calibri" panose="020F0502020204030204" pitchFamily="34" charset="0"/>
              <a:ea typeface="Calibri" panose="020F0502020204030204" pitchFamily="34" charset="0"/>
              <a:cs typeface="Times New Roman" panose="02020603050405020304" pitchFamily="18" charset="0"/>
            </a:endParaRPr>
          </a:p>
          <a:p>
            <a:pPr marL="685800" lvl="1">
              <a:lnSpc>
                <a:spcPct val="115000"/>
              </a:lnSpc>
              <a:spcAft>
                <a:spcPts val="10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Stage 5. Social contract orientation</a:t>
            </a:r>
            <a:endParaRPr lang="en-GB" sz="2000" dirty="0">
              <a:latin typeface="Calibri" panose="020F0502020204030204" pitchFamily="34" charset="0"/>
              <a:ea typeface="Calibri" panose="020F0502020204030204" pitchFamily="34" charset="0"/>
              <a:cs typeface="Times New Roman" panose="02020603050405020304" pitchFamily="18" charset="0"/>
            </a:endParaRPr>
          </a:p>
          <a:p>
            <a:pPr marL="685800" lvl="1">
              <a:lnSpc>
                <a:spcPct val="115000"/>
              </a:lnSpc>
              <a:spcAft>
                <a:spcPts val="10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Stage 6. Universal ethical principles orientation</a:t>
            </a:r>
            <a:endParaRPr lang="en-GB" sz="20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941154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771A975-FB9A-4423-A173-4797BAB2451C}"/>
              </a:ext>
            </a:extLst>
          </p:cNvPr>
          <p:cNvPicPr>
            <a:picLocks noChangeAspect="1"/>
          </p:cNvPicPr>
          <p:nvPr/>
        </p:nvPicPr>
        <p:blipFill>
          <a:blip r:embed="rId2"/>
          <a:stretch>
            <a:fillRect/>
          </a:stretch>
        </p:blipFill>
        <p:spPr>
          <a:xfrm>
            <a:off x="6387549" y="1086146"/>
            <a:ext cx="5804452" cy="4691802"/>
          </a:xfrm>
          <a:prstGeom prst="rect">
            <a:avLst/>
          </a:prstGeom>
        </p:spPr>
      </p:pic>
      <p:sp>
        <p:nvSpPr>
          <p:cNvPr id="2" name="Title 1"/>
          <p:cNvSpPr>
            <a:spLocks noGrp="1"/>
          </p:cNvSpPr>
          <p:nvPr>
            <p:ph type="ctrTitle"/>
          </p:nvPr>
        </p:nvSpPr>
        <p:spPr>
          <a:xfrm>
            <a:off x="1489213" y="2610146"/>
            <a:ext cx="6422335" cy="2219691"/>
          </a:xfrm>
        </p:spPr>
        <p:txBody>
          <a:bodyPr>
            <a:normAutofit/>
          </a:bodyPr>
          <a:lstStyle/>
          <a:p>
            <a:r>
              <a:rPr lang="en-US" b="1" dirty="0"/>
              <a:t>SECULAR ETHICAL SYSTEM</a:t>
            </a:r>
            <a:endParaRPr lang="en-GB" dirty="0"/>
          </a:p>
        </p:txBody>
      </p:sp>
    </p:spTree>
    <p:extLst>
      <p:ext uri="{BB962C8B-B14F-4D97-AF65-F5344CB8AC3E}">
        <p14:creationId xmlns:p14="http://schemas.microsoft.com/office/powerpoint/2010/main" val="1387305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Moral Reasoning">
            <a:extLst>
              <a:ext uri="{FF2B5EF4-FFF2-40B4-BE49-F238E27FC236}">
                <a16:creationId xmlns:a16="http://schemas.microsoft.com/office/drawing/2014/main" id="{E17B9F51-26FA-4038-88D4-60E4E846A3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99443" y="1325012"/>
            <a:ext cx="3338720" cy="3734032"/>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normAutofit/>
          </a:bodyPr>
          <a:lstStyle/>
          <a:p>
            <a:r>
              <a:rPr lang="en-US" sz="4400" b="1" dirty="0"/>
              <a:t>Secular Ethical Systems </a:t>
            </a:r>
          </a:p>
        </p:txBody>
      </p:sp>
      <p:sp>
        <p:nvSpPr>
          <p:cNvPr id="4" name="Rectangle 3">
            <a:extLst>
              <a:ext uri="{FF2B5EF4-FFF2-40B4-BE49-F238E27FC236}">
                <a16:creationId xmlns:a16="http://schemas.microsoft.com/office/drawing/2014/main" id="{B8E440E8-0DF5-4FDC-AA29-46C036ABC722}"/>
              </a:ext>
            </a:extLst>
          </p:cNvPr>
          <p:cNvSpPr/>
          <p:nvPr/>
        </p:nvSpPr>
        <p:spPr>
          <a:xfrm>
            <a:off x="1232450" y="1566495"/>
            <a:ext cx="7447723" cy="4281557"/>
          </a:xfrm>
          <a:prstGeom prst="rect">
            <a:avLst/>
          </a:prstGeom>
        </p:spPr>
        <p:txBody>
          <a:bodyPr wrap="square">
            <a:spAutoFit/>
          </a:bodyPr>
          <a:lstStyle/>
          <a:p>
            <a:pPr>
              <a:lnSpc>
                <a:spcPct val="115000"/>
              </a:lnSpc>
              <a:spcAft>
                <a:spcPts val="1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Our study of ethics thus far has been rooted in the Bible and biblical principles. </a:t>
            </a:r>
          </a:p>
          <a:p>
            <a:pPr marL="457200" indent="-457200">
              <a:lnSpc>
                <a:spcPct val="115000"/>
              </a:lnSpc>
              <a:spcAft>
                <a:spcPts val="1000"/>
              </a:spcAft>
              <a:buFont typeface="Arial" panose="020B0604020202020204" pitchFamily="34" charset="0"/>
              <a:buChar char="•"/>
            </a:pPr>
            <a:r>
              <a:rPr lang="en-US" sz="2800" dirty="0">
                <a:latin typeface="Times New Roman" panose="02020603050405020304" pitchFamily="18" charset="0"/>
                <a:ea typeface="Calibri" panose="020F0502020204030204" pitchFamily="34" charset="0"/>
                <a:cs typeface="Times New Roman" panose="02020603050405020304" pitchFamily="18" charset="0"/>
              </a:rPr>
              <a:t>But many philosophical systems of ethics do not start with this biblical presupposition. </a:t>
            </a:r>
          </a:p>
          <a:p>
            <a:pPr marL="457200" indent="-457200">
              <a:lnSpc>
                <a:spcPct val="115000"/>
              </a:lnSpc>
              <a:spcAft>
                <a:spcPts val="1000"/>
              </a:spcAft>
              <a:buFont typeface="Arial" panose="020B0604020202020204" pitchFamily="34" charset="0"/>
              <a:buChar char="•"/>
            </a:pPr>
            <a:r>
              <a:rPr lang="en-US" sz="2800" dirty="0">
                <a:latin typeface="Times New Roman" panose="02020603050405020304" pitchFamily="18" charset="0"/>
                <a:ea typeface="Calibri" panose="020F0502020204030204" pitchFamily="34" charset="0"/>
                <a:cs typeface="Times New Roman" panose="02020603050405020304" pitchFamily="18" charset="0"/>
              </a:rPr>
              <a:t>The following is a brief summary of the more popular contemporary ethical systems that rest on secular assumptions rather than a biblical foundation.</a:t>
            </a:r>
            <a:endParaRPr lang="en-GB" sz="24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40625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Moral Reasoning">
            <a:extLst>
              <a:ext uri="{FF2B5EF4-FFF2-40B4-BE49-F238E27FC236}">
                <a16:creationId xmlns:a16="http://schemas.microsoft.com/office/drawing/2014/main" id="{E17B9F51-26FA-4038-88D4-60E4E846A3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99443" y="1325012"/>
            <a:ext cx="3338720" cy="168323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normAutofit/>
          </a:bodyPr>
          <a:lstStyle/>
          <a:p>
            <a:pPr>
              <a:lnSpc>
                <a:spcPct val="115000"/>
              </a:lnSpc>
              <a:spcAft>
                <a:spcPts val="1000"/>
              </a:spcAft>
            </a:pPr>
            <a:r>
              <a:rPr lang="en-US" sz="4400" b="1" dirty="0">
                <a:latin typeface="Times New Roman" panose="02020603050405020304" pitchFamily="18" charset="0"/>
                <a:ea typeface="Calibri" panose="020F0502020204030204" pitchFamily="34" charset="0"/>
                <a:cs typeface="Times New Roman" panose="02020603050405020304" pitchFamily="18" charset="0"/>
              </a:rPr>
              <a:t>Cultural Relativism</a:t>
            </a:r>
            <a:endParaRPr lang="en-GB" sz="4000" dirty="0">
              <a:latin typeface="Calibri" panose="020F0502020204030204" pitchFamily="34" charset="0"/>
              <a:ea typeface="Calibri" panose="020F0502020204030204" pitchFamily="34" charset="0"/>
              <a:cs typeface="Times New Roman" panose="02020603050405020304" pitchFamily="18" charset="0"/>
            </a:endParaRPr>
          </a:p>
        </p:txBody>
      </p:sp>
      <p:sp>
        <p:nvSpPr>
          <p:cNvPr id="4" name="Rectangle 3">
            <a:extLst>
              <a:ext uri="{FF2B5EF4-FFF2-40B4-BE49-F238E27FC236}">
                <a16:creationId xmlns:a16="http://schemas.microsoft.com/office/drawing/2014/main" id="{B8E440E8-0DF5-4FDC-AA29-46C036ABC722}"/>
              </a:ext>
            </a:extLst>
          </p:cNvPr>
          <p:cNvSpPr/>
          <p:nvPr/>
        </p:nvSpPr>
        <p:spPr>
          <a:xfrm>
            <a:off x="569842" y="1420721"/>
            <a:ext cx="6838124" cy="4625177"/>
          </a:xfrm>
          <a:prstGeom prst="rect">
            <a:avLst/>
          </a:prstGeom>
        </p:spPr>
        <p:txBody>
          <a:bodyPr wrap="square">
            <a:spAutoFit/>
          </a:bodyPr>
          <a:lstStyle/>
          <a:p>
            <a:pPr>
              <a:lnSpc>
                <a:spcPct val="115000"/>
              </a:lnSpc>
              <a:spcAft>
                <a:spcPts val="10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A student in a class on anthropology cannot help but notice the differences between various cultures of the world. Differences in dress, diet, and social norms are readily apparent. </a:t>
            </a:r>
          </a:p>
          <a:p>
            <a:pPr marL="457200" indent="-457200">
              <a:lnSpc>
                <a:spcPct val="115000"/>
              </a:lnSpc>
              <a:spcAft>
                <a:spcPts val="1000"/>
              </a:spcAft>
              <a:buFont typeface="Arial" panose="020B0604020202020204" pitchFamily="34" charset="0"/>
              <a:buChar char="•"/>
            </a:pPr>
            <a:r>
              <a:rPr lang="en-US" sz="2000" dirty="0">
                <a:latin typeface="Times New Roman" panose="02020603050405020304" pitchFamily="18" charset="0"/>
                <a:ea typeface="Calibri" panose="020F0502020204030204" pitchFamily="34" charset="0"/>
                <a:cs typeface="Times New Roman" panose="02020603050405020304" pitchFamily="18" charset="0"/>
              </a:rPr>
              <a:t>Such diversity in terms of ethics and justice are also easily seen. These are apparently shaped by the culture in which we live.</a:t>
            </a:r>
            <a:endParaRPr lang="en-GB" dirty="0">
              <a:latin typeface="Calibri" panose="020F0502020204030204" pitchFamily="34" charset="0"/>
              <a:ea typeface="Calibri" panose="020F0502020204030204" pitchFamily="34" charset="0"/>
              <a:cs typeface="Times New Roman" panose="02020603050405020304" pitchFamily="18" charset="0"/>
            </a:endParaRPr>
          </a:p>
          <a:p>
            <a:pPr marL="457200" indent="-457200">
              <a:lnSpc>
                <a:spcPct val="115000"/>
              </a:lnSpc>
              <a:spcAft>
                <a:spcPts val="1000"/>
              </a:spcAft>
              <a:buFont typeface="Arial" panose="020B0604020202020204" pitchFamily="34" charset="0"/>
              <a:buChar char="•"/>
            </a:pPr>
            <a:r>
              <a:rPr lang="en-US" sz="2000" dirty="0">
                <a:latin typeface="Times New Roman" panose="02020603050405020304" pitchFamily="18" charset="0"/>
                <a:ea typeface="Calibri" panose="020F0502020204030204" pitchFamily="34" charset="0"/>
                <a:cs typeface="Times New Roman" panose="02020603050405020304" pitchFamily="18" charset="0"/>
              </a:rPr>
              <a:t>If there is no transcendent ethical standard, then culture often becomes the ethical norm for determining whether an action is right or wrong. </a:t>
            </a:r>
          </a:p>
          <a:p>
            <a:pPr marL="457200" indent="-457200">
              <a:lnSpc>
                <a:spcPct val="115000"/>
              </a:lnSpc>
              <a:spcAft>
                <a:spcPts val="1000"/>
              </a:spcAft>
              <a:buFont typeface="Arial" panose="020B0604020202020204" pitchFamily="34" charset="0"/>
              <a:buChar char="•"/>
            </a:pPr>
            <a:r>
              <a:rPr lang="en-US" sz="2000" dirty="0">
                <a:latin typeface="Times New Roman" panose="02020603050405020304" pitchFamily="18" charset="0"/>
                <a:ea typeface="Calibri" panose="020F0502020204030204" pitchFamily="34" charset="0"/>
                <a:cs typeface="Times New Roman" panose="02020603050405020304" pitchFamily="18" charset="0"/>
              </a:rPr>
              <a:t>This ethical system is known as cultural relativism. </a:t>
            </a:r>
          </a:p>
        </p:txBody>
      </p:sp>
      <p:sp>
        <p:nvSpPr>
          <p:cNvPr id="3" name="Rectangle 2">
            <a:extLst>
              <a:ext uri="{FF2B5EF4-FFF2-40B4-BE49-F238E27FC236}">
                <a16:creationId xmlns:a16="http://schemas.microsoft.com/office/drawing/2014/main" id="{9C435B17-6B87-46E6-B9DF-459DE51E74D6}"/>
              </a:ext>
            </a:extLst>
          </p:cNvPr>
          <p:cNvSpPr/>
          <p:nvPr/>
        </p:nvSpPr>
        <p:spPr>
          <a:xfrm>
            <a:off x="7129670" y="3152916"/>
            <a:ext cx="5008493" cy="3463320"/>
          </a:xfrm>
          <a:prstGeom prst="rect">
            <a:avLst/>
          </a:prstGeom>
        </p:spPr>
        <p:txBody>
          <a:bodyPr wrap="square">
            <a:spAutoFit/>
          </a:bodyPr>
          <a:lstStyle/>
          <a:p>
            <a:pPr marL="457200" lvl="0" indent="-457200">
              <a:lnSpc>
                <a:spcPct val="115000"/>
              </a:lnSpc>
              <a:spcAft>
                <a:spcPts val="1000"/>
              </a:spcAft>
              <a:buFont typeface="Arial" panose="020B0604020202020204" pitchFamily="34" charset="0"/>
              <a:buChar char="•"/>
            </a:pPr>
            <a:r>
              <a:rPr lang="en-US" sz="2400" b="1" dirty="0">
                <a:solidFill>
                  <a:srgbClr val="C00000"/>
                </a:solidFill>
                <a:latin typeface="+mj-lt"/>
                <a:ea typeface="Calibri" panose="020F0502020204030204" pitchFamily="34" charset="0"/>
                <a:cs typeface="Times New Roman" panose="02020603050405020304" pitchFamily="18" charset="0"/>
              </a:rPr>
              <a:t>Cultural relativism is the view that </a:t>
            </a:r>
            <a:r>
              <a:rPr lang="en-US" sz="2400" b="1" u="sng" dirty="0">
                <a:solidFill>
                  <a:srgbClr val="C00000"/>
                </a:solidFill>
                <a:latin typeface="+mj-lt"/>
                <a:ea typeface="Calibri" panose="020F0502020204030204" pitchFamily="34" charset="0"/>
                <a:cs typeface="Times New Roman" panose="02020603050405020304" pitchFamily="18" charset="0"/>
              </a:rPr>
              <a:t>all ethical truth is relative to a specific culture. </a:t>
            </a:r>
            <a:r>
              <a:rPr lang="en-US" sz="2400" b="1" dirty="0">
                <a:solidFill>
                  <a:srgbClr val="C00000"/>
                </a:solidFill>
                <a:latin typeface="+mj-lt"/>
                <a:ea typeface="Calibri" panose="020F0502020204030204" pitchFamily="34" charset="0"/>
                <a:cs typeface="Times New Roman" panose="02020603050405020304" pitchFamily="18" charset="0"/>
              </a:rPr>
              <a:t>Whatever a cultural group approves is considered right within that culture. Conversely, whatever a cultural group condemns is wrong.</a:t>
            </a:r>
            <a:endParaRPr lang="en-GB" sz="2000" b="1" dirty="0">
              <a:solidFill>
                <a:srgbClr val="C00000"/>
              </a:solidFill>
              <a:latin typeface="+mj-l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36467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Moral Reasoning">
            <a:extLst>
              <a:ext uri="{FF2B5EF4-FFF2-40B4-BE49-F238E27FC236}">
                <a16:creationId xmlns:a16="http://schemas.microsoft.com/office/drawing/2014/main" id="{E17B9F51-26FA-4038-88D4-60E4E846A3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37983" y="1325012"/>
            <a:ext cx="3100180" cy="168323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normAutofit/>
          </a:bodyPr>
          <a:lstStyle/>
          <a:p>
            <a:pPr>
              <a:lnSpc>
                <a:spcPct val="115000"/>
              </a:lnSpc>
              <a:spcAft>
                <a:spcPts val="1000"/>
              </a:spcAft>
            </a:pPr>
            <a:r>
              <a:rPr lang="en-US" sz="4400" b="1" dirty="0">
                <a:latin typeface="Times New Roman" panose="02020603050405020304" pitchFamily="18" charset="0"/>
                <a:ea typeface="Calibri" panose="020F0502020204030204" pitchFamily="34" charset="0"/>
                <a:cs typeface="Times New Roman" panose="02020603050405020304" pitchFamily="18" charset="0"/>
              </a:rPr>
              <a:t>Cultural Relativism</a:t>
            </a:r>
            <a:endParaRPr lang="en-GB" sz="4000" dirty="0">
              <a:latin typeface="Calibri" panose="020F0502020204030204" pitchFamily="34" charset="0"/>
              <a:ea typeface="Calibri" panose="020F0502020204030204" pitchFamily="34" charset="0"/>
              <a:cs typeface="Times New Roman" panose="02020603050405020304" pitchFamily="18" charset="0"/>
            </a:endParaRPr>
          </a:p>
        </p:txBody>
      </p:sp>
      <p:sp>
        <p:nvSpPr>
          <p:cNvPr id="4" name="Rectangle 3">
            <a:extLst>
              <a:ext uri="{FF2B5EF4-FFF2-40B4-BE49-F238E27FC236}">
                <a16:creationId xmlns:a16="http://schemas.microsoft.com/office/drawing/2014/main" id="{B8E440E8-0DF5-4FDC-AA29-46C036ABC722}"/>
              </a:ext>
            </a:extLst>
          </p:cNvPr>
          <p:cNvSpPr/>
          <p:nvPr/>
        </p:nvSpPr>
        <p:spPr>
          <a:xfrm>
            <a:off x="569841" y="1420721"/>
            <a:ext cx="8653671" cy="5112682"/>
          </a:xfrm>
          <a:prstGeom prst="rect">
            <a:avLst/>
          </a:prstGeom>
        </p:spPr>
        <p:txBody>
          <a:bodyPr wrap="square">
            <a:spAutoFit/>
          </a:bodyPr>
          <a:lstStyle/>
          <a:p>
            <a:pPr>
              <a:lnSpc>
                <a:spcPct val="115000"/>
              </a:lnSpc>
              <a:spcAft>
                <a:spcPts val="1000"/>
              </a:spcAft>
            </a:pPr>
            <a:r>
              <a:rPr lang="en-US" sz="2200" dirty="0">
                <a:latin typeface="Times New Roman" panose="02020603050405020304" pitchFamily="18" charset="0"/>
                <a:ea typeface="Calibri" panose="020F0502020204030204" pitchFamily="34" charset="0"/>
                <a:cs typeface="Times New Roman" panose="02020603050405020304" pitchFamily="18" charset="0"/>
              </a:rPr>
              <a:t>The key to cultural relativism is that right and wrong can only be judged relative to a specified society. </a:t>
            </a:r>
            <a:r>
              <a:rPr lang="en-US" sz="2200" i="1" u="sng" dirty="0">
                <a:latin typeface="Times New Roman" panose="02020603050405020304" pitchFamily="18" charset="0"/>
                <a:ea typeface="Calibri" panose="020F0502020204030204" pitchFamily="34" charset="0"/>
                <a:cs typeface="Times New Roman" panose="02020603050405020304" pitchFamily="18" charset="0"/>
              </a:rPr>
              <a:t>No ultimate standard of right and wrong exists by which to judge culture.</a:t>
            </a:r>
            <a:endParaRPr lang="en-GB" sz="2200" i="1" u="sng" dirty="0">
              <a:latin typeface="Calibri" panose="020F0502020204030204" pitchFamily="34" charset="0"/>
              <a:ea typeface="Calibri" panose="020F0502020204030204" pitchFamily="34" charset="0"/>
              <a:cs typeface="Times New Roman" panose="02020603050405020304" pitchFamily="18" charset="0"/>
            </a:endParaRPr>
          </a:p>
          <a:p>
            <a:pPr marL="342900" indent="-342900">
              <a:buFont typeface="Arial" panose="020B0604020202020204" pitchFamily="34" charset="0"/>
              <a:buChar char="•"/>
            </a:pPr>
            <a:r>
              <a:rPr lang="en-US" sz="2200" dirty="0">
                <a:latin typeface="Times New Roman" panose="02020603050405020304" pitchFamily="18" charset="0"/>
                <a:ea typeface="Calibri" panose="020F0502020204030204" pitchFamily="34" charset="0"/>
              </a:rPr>
              <a:t>A famous proponent of this view was John Dewey, often considered the father of American education. He thought that moral standards were like language and therefore the result of custom. </a:t>
            </a:r>
          </a:p>
          <a:p>
            <a:pPr marL="342900" indent="-342900">
              <a:buFont typeface="Arial" panose="020B0604020202020204" pitchFamily="34" charset="0"/>
              <a:buChar char="•"/>
            </a:pPr>
            <a:r>
              <a:rPr lang="en-US" sz="2200" dirty="0">
                <a:latin typeface="Times New Roman" panose="02020603050405020304" pitchFamily="18" charset="0"/>
                <a:ea typeface="Calibri" panose="020F0502020204030204" pitchFamily="34" charset="0"/>
              </a:rPr>
              <a:t>Language evolved overtime and eventually became organized by a set of principles known as grammar. But language also changes overtime to adapt to the changing circumstances of its culture. </a:t>
            </a:r>
          </a:p>
          <a:p>
            <a:pPr marL="342900" indent="-342900">
              <a:buFont typeface="Arial" panose="020B0604020202020204" pitchFamily="34" charset="0"/>
              <a:buChar char="•"/>
            </a:pPr>
            <a:r>
              <a:rPr lang="en-US" sz="2200" dirty="0">
                <a:latin typeface="Times New Roman" panose="02020603050405020304" pitchFamily="18" charset="0"/>
                <a:ea typeface="Calibri" panose="020F0502020204030204" pitchFamily="34" charset="0"/>
              </a:rPr>
              <a:t>Likewise, Dewey said, </a:t>
            </a:r>
            <a:r>
              <a:rPr lang="en-US" sz="2200" u="sng" dirty="0">
                <a:latin typeface="Times New Roman" panose="02020603050405020304" pitchFamily="18" charset="0"/>
                <a:ea typeface="Calibri" panose="020F0502020204030204" pitchFamily="34" charset="0"/>
              </a:rPr>
              <a:t>ethics were also the product of an evolutionary process</a:t>
            </a:r>
            <a:r>
              <a:rPr lang="en-US" sz="2200" dirty="0">
                <a:latin typeface="Times New Roman" panose="02020603050405020304" pitchFamily="18" charset="0"/>
                <a:ea typeface="Calibri" panose="020F0502020204030204" pitchFamily="34" charset="0"/>
              </a:rPr>
              <a:t>. No fixed ethical norms exist. </a:t>
            </a:r>
          </a:p>
          <a:p>
            <a:pPr marL="342900" indent="-342900">
              <a:buFont typeface="Arial" panose="020B0604020202020204" pitchFamily="34" charset="0"/>
              <a:buChar char="•"/>
            </a:pPr>
            <a:r>
              <a:rPr lang="en-US" sz="2200" dirty="0">
                <a:latin typeface="Times New Roman" panose="02020603050405020304" pitchFamily="18" charset="0"/>
                <a:ea typeface="Calibri" panose="020F0502020204030204" pitchFamily="34" charset="0"/>
              </a:rPr>
              <a:t>Rather, ethics are merely the result of particular cultures attempting to organize a set of moral principles. But these principles can also change overtime to adapt to the changing circumstances of the culture. </a:t>
            </a:r>
            <a:endParaRPr lang="en-US" sz="22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68286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Moral Reasoning">
            <a:extLst>
              <a:ext uri="{FF2B5EF4-FFF2-40B4-BE49-F238E27FC236}">
                <a16:creationId xmlns:a16="http://schemas.microsoft.com/office/drawing/2014/main" id="{E17B9F51-26FA-4038-88D4-60E4E846A3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23511" y="1325012"/>
            <a:ext cx="2914651" cy="168323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normAutofit/>
          </a:bodyPr>
          <a:lstStyle/>
          <a:p>
            <a:pPr>
              <a:lnSpc>
                <a:spcPct val="115000"/>
              </a:lnSpc>
              <a:spcAft>
                <a:spcPts val="1000"/>
              </a:spcAft>
            </a:pPr>
            <a:r>
              <a:rPr lang="en-US" sz="4400" b="1" dirty="0">
                <a:latin typeface="Times New Roman" panose="02020603050405020304" pitchFamily="18" charset="0"/>
                <a:ea typeface="Calibri" panose="020F0502020204030204" pitchFamily="34" charset="0"/>
                <a:cs typeface="Times New Roman" panose="02020603050405020304" pitchFamily="18" charset="0"/>
              </a:rPr>
              <a:t>Cultural Relativism</a:t>
            </a:r>
            <a:endParaRPr lang="en-GB" sz="4000" dirty="0">
              <a:latin typeface="Calibri" panose="020F0502020204030204" pitchFamily="34" charset="0"/>
              <a:ea typeface="Calibri" panose="020F0502020204030204" pitchFamily="34" charset="0"/>
              <a:cs typeface="Times New Roman" panose="02020603050405020304" pitchFamily="18" charset="0"/>
            </a:endParaRPr>
          </a:p>
        </p:txBody>
      </p:sp>
      <p:sp>
        <p:nvSpPr>
          <p:cNvPr id="4" name="Rectangle 3">
            <a:extLst>
              <a:ext uri="{FF2B5EF4-FFF2-40B4-BE49-F238E27FC236}">
                <a16:creationId xmlns:a16="http://schemas.microsoft.com/office/drawing/2014/main" id="{B8E440E8-0DF5-4FDC-AA29-46C036ABC722}"/>
              </a:ext>
            </a:extLst>
          </p:cNvPr>
          <p:cNvSpPr/>
          <p:nvPr/>
        </p:nvSpPr>
        <p:spPr>
          <a:xfrm>
            <a:off x="569841" y="1420721"/>
            <a:ext cx="8653671" cy="4569264"/>
          </a:xfrm>
          <a:prstGeom prst="rect">
            <a:avLst/>
          </a:prstGeom>
        </p:spPr>
        <p:txBody>
          <a:bodyPr wrap="square">
            <a:spAutoFit/>
          </a:bodyPr>
          <a:lstStyle/>
          <a:p>
            <a:pPr>
              <a:lnSpc>
                <a:spcPct val="115000"/>
              </a:lnSpc>
              <a:spcAft>
                <a:spcPts val="10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This would also mean that different forms of morality evolved in different communities. Thus, there are no universal ethical principles. What may be right in one culture would be wrong in another culture, and vice versa.</a:t>
            </a:r>
            <a:endParaRPr lang="en-GB" sz="2000" dirty="0">
              <a:latin typeface="Calibri" panose="020F0502020204030204" pitchFamily="34" charset="0"/>
              <a:ea typeface="Calibri" panose="020F0502020204030204" pitchFamily="34" charset="0"/>
              <a:cs typeface="Times New Roman" panose="02020603050405020304" pitchFamily="18" charset="0"/>
            </a:endParaRPr>
          </a:p>
          <a:p>
            <a:pPr marL="342900" indent="-342900">
              <a:lnSpc>
                <a:spcPct val="115000"/>
              </a:lnSpc>
              <a:spcAft>
                <a:spcPts val="1000"/>
              </a:spcAft>
              <a:buFont typeface="Arial" panose="020B0604020202020204" pitchFamily="34" charset="0"/>
              <a:buChar char="•"/>
            </a:pPr>
            <a:r>
              <a:rPr lang="en-US" sz="2400" dirty="0">
                <a:latin typeface="Times New Roman" panose="02020603050405020304" pitchFamily="18" charset="0"/>
                <a:ea typeface="Calibri" panose="020F0502020204030204" pitchFamily="34" charset="0"/>
                <a:cs typeface="Times New Roman" panose="02020603050405020304" pitchFamily="18" charset="0"/>
              </a:rPr>
              <a:t>Although it is hard for us in the modern world to imagine, a primitive culture might value genocide, treachery, deception, and even torture. </a:t>
            </a:r>
          </a:p>
          <a:p>
            <a:pPr marL="342900" indent="-342900">
              <a:lnSpc>
                <a:spcPct val="115000"/>
              </a:lnSpc>
              <a:spcAft>
                <a:spcPts val="1000"/>
              </a:spcAft>
              <a:buFont typeface="Arial" panose="020B0604020202020204" pitchFamily="34" charset="0"/>
              <a:buChar char="•"/>
            </a:pPr>
            <a:r>
              <a:rPr lang="en-US" sz="2400" dirty="0">
                <a:latin typeface="Times New Roman" panose="02020603050405020304" pitchFamily="18" charset="0"/>
                <a:ea typeface="Calibri" panose="020F0502020204030204" pitchFamily="34" charset="0"/>
                <a:cs typeface="Times New Roman" panose="02020603050405020304" pitchFamily="18" charset="0"/>
              </a:rPr>
              <a:t>While we may not like these traits, a true follower of cultural relativism could not say that these acts are wrong since they are merely the product of cultural adaptation.</a:t>
            </a:r>
            <a:endParaRPr lang="en-GB" sz="20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509112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Moral Reasoning">
            <a:extLst>
              <a:ext uri="{FF2B5EF4-FFF2-40B4-BE49-F238E27FC236}">
                <a16:creationId xmlns:a16="http://schemas.microsoft.com/office/drawing/2014/main" id="{E17B9F51-26FA-4038-88D4-60E4E846A3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23511" y="1325012"/>
            <a:ext cx="2914651" cy="168323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normAutofit/>
          </a:bodyPr>
          <a:lstStyle/>
          <a:p>
            <a:pPr>
              <a:lnSpc>
                <a:spcPct val="115000"/>
              </a:lnSpc>
              <a:spcAft>
                <a:spcPts val="1000"/>
              </a:spcAft>
            </a:pPr>
            <a:r>
              <a:rPr lang="en-US" sz="4400" b="1" dirty="0">
                <a:latin typeface="Times New Roman" panose="02020603050405020304" pitchFamily="18" charset="0"/>
                <a:ea typeface="Calibri" panose="020F0502020204030204" pitchFamily="34" charset="0"/>
                <a:cs typeface="Times New Roman" panose="02020603050405020304" pitchFamily="18" charset="0"/>
              </a:rPr>
              <a:t>Ethical Emotivism </a:t>
            </a:r>
            <a:endParaRPr lang="en-GB" sz="4000" dirty="0">
              <a:latin typeface="Calibri" panose="020F0502020204030204" pitchFamily="34" charset="0"/>
              <a:ea typeface="Calibri" panose="020F0502020204030204" pitchFamily="34" charset="0"/>
              <a:cs typeface="Times New Roman" panose="02020603050405020304" pitchFamily="18" charset="0"/>
            </a:endParaRPr>
          </a:p>
        </p:txBody>
      </p:sp>
      <p:sp>
        <p:nvSpPr>
          <p:cNvPr id="4" name="Rectangle 3">
            <a:extLst>
              <a:ext uri="{FF2B5EF4-FFF2-40B4-BE49-F238E27FC236}">
                <a16:creationId xmlns:a16="http://schemas.microsoft.com/office/drawing/2014/main" id="{B8E440E8-0DF5-4FDC-AA29-46C036ABC722}"/>
              </a:ext>
            </a:extLst>
          </p:cNvPr>
          <p:cNvSpPr/>
          <p:nvPr/>
        </p:nvSpPr>
        <p:spPr>
          <a:xfrm>
            <a:off x="1104900" y="1420721"/>
            <a:ext cx="8118612" cy="4865947"/>
          </a:xfrm>
          <a:prstGeom prst="rect">
            <a:avLst/>
          </a:prstGeom>
        </p:spPr>
        <p:txBody>
          <a:bodyPr wrap="square">
            <a:spAutoFit/>
          </a:bodyPr>
          <a:lstStyle/>
          <a:p>
            <a:pPr>
              <a:lnSpc>
                <a:spcPct val="115000"/>
              </a:lnSpc>
              <a:spcAft>
                <a:spcPts val="1000"/>
              </a:spcAft>
            </a:pPr>
            <a:r>
              <a:rPr lang="en-US" sz="4400" dirty="0">
                <a:solidFill>
                  <a:srgbClr val="202124"/>
                </a:solidFill>
                <a:latin typeface="+mj-lt"/>
              </a:rPr>
              <a:t>Emotivism is </a:t>
            </a:r>
            <a:r>
              <a:rPr lang="en-US" sz="4400" dirty="0">
                <a:solidFill>
                  <a:srgbClr val="040C28"/>
                </a:solidFill>
                <a:latin typeface="+mj-lt"/>
              </a:rPr>
              <a:t>an ethical theory that posits that it is impossible to determine right from wrong</a:t>
            </a:r>
            <a:r>
              <a:rPr lang="en-US" sz="4400" dirty="0">
                <a:solidFill>
                  <a:srgbClr val="202124"/>
                </a:solidFill>
                <a:latin typeface="+mj-lt"/>
              </a:rPr>
              <a:t>. </a:t>
            </a:r>
          </a:p>
          <a:p>
            <a:pPr marL="571500" indent="-571500">
              <a:lnSpc>
                <a:spcPct val="115000"/>
              </a:lnSpc>
              <a:spcAft>
                <a:spcPts val="1000"/>
              </a:spcAft>
              <a:buFont typeface="Arial" panose="020B0604020202020204" pitchFamily="34" charset="0"/>
              <a:buChar char="•"/>
            </a:pPr>
            <a:r>
              <a:rPr lang="en-US" sz="4400" dirty="0">
                <a:solidFill>
                  <a:srgbClr val="202124"/>
                </a:solidFill>
                <a:latin typeface="+mj-lt"/>
              </a:rPr>
              <a:t>Instead, any moral statement is simply a reflection of the speaker's emotions.</a:t>
            </a:r>
            <a:endParaRPr lang="en-GB" sz="4000" dirty="0">
              <a:latin typeface="+mj-l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994569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115000"/>
              </a:lnSpc>
              <a:spcAft>
                <a:spcPts val="1000"/>
              </a:spcAft>
            </a:pPr>
            <a:r>
              <a:rPr lang="en-US" sz="4400" b="1" dirty="0">
                <a:latin typeface="Times New Roman" panose="02020603050405020304" pitchFamily="18" charset="0"/>
                <a:ea typeface="Calibri" panose="020F0502020204030204" pitchFamily="34" charset="0"/>
                <a:cs typeface="Times New Roman" panose="02020603050405020304" pitchFamily="18" charset="0"/>
              </a:rPr>
              <a:t>Ethical Emotivism </a:t>
            </a:r>
            <a:endParaRPr lang="en-GB" sz="4000" dirty="0">
              <a:latin typeface="Calibri" panose="020F0502020204030204" pitchFamily="34" charset="0"/>
              <a:ea typeface="Calibri" panose="020F0502020204030204" pitchFamily="34" charset="0"/>
              <a:cs typeface="Times New Roman" panose="02020603050405020304" pitchFamily="18" charset="0"/>
            </a:endParaRPr>
          </a:p>
        </p:txBody>
      </p:sp>
      <p:sp>
        <p:nvSpPr>
          <p:cNvPr id="4" name="Rectangle 3">
            <a:extLst>
              <a:ext uri="{FF2B5EF4-FFF2-40B4-BE49-F238E27FC236}">
                <a16:creationId xmlns:a16="http://schemas.microsoft.com/office/drawing/2014/main" id="{B8E440E8-0DF5-4FDC-AA29-46C036ABC722}"/>
              </a:ext>
            </a:extLst>
          </p:cNvPr>
          <p:cNvSpPr/>
          <p:nvPr/>
        </p:nvSpPr>
        <p:spPr>
          <a:xfrm>
            <a:off x="892865" y="1341618"/>
            <a:ext cx="8502926" cy="5516382"/>
          </a:xfrm>
          <a:prstGeom prst="rect">
            <a:avLst/>
          </a:prstGeom>
        </p:spPr>
        <p:txBody>
          <a:bodyPr wrap="square">
            <a:spAutoFit/>
          </a:bodyPr>
          <a:lstStyle/>
          <a:p>
            <a:pPr>
              <a:lnSpc>
                <a:spcPct val="115000"/>
              </a:lnSpc>
              <a:spcAft>
                <a:spcPts val="1000"/>
              </a:spcAft>
            </a:pPr>
            <a:r>
              <a:rPr lang="en-US" sz="4400" dirty="0">
                <a:solidFill>
                  <a:srgbClr val="202124"/>
                </a:solidFill>
                <a:latin typeface="+mj-lt"/>
              </a:rPr>
              <a:t>Ethical Emotivism is </a:t>
            </a:r>
            <a:r>
              <a:rPr lang="en-US" sz="4400" dirty="0">
                <a:solidFill>
                  <a:srgbClr val="040C28"/>
                </a:solidFill>
                <a:latin typeface="+mj-lt"/>
              </a:rPr>
              <a:t>a branch of metaethics that holds the view that the view that moral judgments do not function as statements of fact but rather as expressions of the speaker's or writer's feelings.</a:t>
            </a:r>
            <a:endParaRPr lang="en-GB" sz="4000" dirty="0">
              <a:latin typeface="+mj-lt"/>
              <a:ea typeface="Calibri" panose="020F050202020403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46D7453F-33FA-40AF-AB10-B8E2E8A01E2F}"/>
              </a:ext>
            </a:extLst>
          </p:cNvPr>
          <p:cNvPicPr>
            <a:picLocks noChangeAspect="1"/>
          </p:cNvPicPr>
          <p:nvPr/>
        </p:nvPicPr>
        <p:blipFill>
          <a:blip r:embed="rId2"/>
          <a:stretch>
            <a:fillRect/>
          </a:stretch>
        </p:blipFill>
        <p:spPr>
          <a:xfrm>
            <a:off x="9064487" y="5022574"/>
            <a:ext cx="3127513" cy="1759226"/>
          </a:xfrm>
          <a:prstGeom prst="rect">
            <a:avLst/>
          </a:prstGeom>
        </p:spPr>
      </p:pic>
    </p:spTree>
    <p:extLst>
      <p:ext uri="{BB962C8B-B14F-4D97-AF65-F5344CB8AC3E}">
        <p14:creationId xmlns:p14="http://schemas.microsoft.com/office/powerpoint/2010/main" val="1613729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Cooking 16x9">
  <a:themeElements>
    <a:clrScheme name="Cooking_16x9">
      <a:dk1>
        <a:srgbClr val="000000"/>
      </a:dk1>
      <a:lt1>
        <a:sysClr val="window" lastClr="FFFFFF"/>
      </a:lt1>
      <a:dk2>
        <a:srgbClr val="7F7F7F"/>
      </a:dk2>
      <a:lt2>
        <a:srgbClr val="E6E6E6"/>
      </a:lt2>
      <a:accent1>
        <a:srgbClr val="89C01C"/>
      </a:accent1>
      <a:accent2>
        <a:srgbClr val="FCB22C"/>
      </a:accent2>
      <a:accent3>
        <a:srgbClr val="FE750E"/>
      </a:accent3>
      <a:accent4>
        <a:srgbClr val="F23610"/>
      </a:accent4>
      <a:accent5>
        <a:srgbClr val="7C283A"/>
      </a:accent5>
      <a:accent6>
        <a:srgbClr val="3E7520"/>
      </a:accent6>
      <a:hlink>
        <a:srgbClr val="89C01C"/>
      </a:hlink>
      <a:folHlink>
        <a:srgbClr val="A6A6A6"/>
      </a:folHlink>
    </a:clrScheme>
    <a:fontScheme name="Constantia">
      <a:majorFont>
        <a:latin typeface="Constant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nstant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1Subtle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gradFill rotWithShape="1">
          <a:gsLst>
            <a:gs pos="0">
              <a:schemeClr val="phClr">
                <a:tint val="50000"/>
                <a:satMod val="180000"/>
              </a:schemeClr>
            </a:gs>
            <a:gs pos="100000">
              <a:schemeClr val="phClr">
                <a:shade val="45000"/>
                <a:satMod val="120000"/>
              </a:schemeClr>
            </a:gs>
          </a:gsLst>
          <a:path path="circle">
            <a:fillToRect r="100000" b="100000"/>
          </a:path>
        </a:gradFill>
        <a:gradFill rotWithShape="1">
          <a:gsLst>
            <a:gs pos="0">
              <a:schemeClr val="phClr">
                <a:tint val="50000"/>
                <a:satMod val="180000"/>
              </a:schemeClr>
            </a:gs>
            <a:gs pos="100000">
              <a:schemeClr val="phClr">
                <a:shade val="45000"/>
                <a:satMod val="120000"/>
              </a:schemeClr>
            </a:gs>
          </a:gsLst>
          <a:path path="circle">
            <a:fillToRect l="180000" t="50000" b="50000"/>
          </a:path>
        </a:gradFill>
      </a:bgFillStyleLst>
    </a:fmtScheme>
  </a:themeElements>
  <a:objectDefaults/>
  <a:extraClrSchemeLst/>
  <a:extLst>
    <a:ext uri="{05A4C25C-085E-4340-85A3-A5531E510DB2}">
      <thm15:themeFamily xmlns:thm15="http://schemas.microsoft.com/office/thememl/2012/main" name="Fresh food presentation (widescreen).potx" id="{63DD3034-9CB5-4B6F-BCA0-530A5E267AB2}" vid="{9783A5E3-1DF2-4F3C-8902-0C2EB8A188D6}"/>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32422</TotalTime>
  <Words>14731</Words>
  <Application>Microsoft Office PowerPoint</Application>
  <PresentationFormat>Widescreen</PresentationFormat>
  <Paragraphs>708</Paragraphs>
  <Slides>145</Slides>
  <Notes>28</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145</vt:i4>
      </vt:variant>
    </vt:vector>
  </HeadingPairs>
  <TitlesOfParts>
    <vt:vector size="158" baseType="lpstr">
      <vt:lpstr>Arial</vt:lpstr>
      <vt:lpstr>Calibri</vt:lpstr>
      <vt:lpstr>Calibri Light</vt:lpstr>
      <vt:lpstr>Constantia</vt:lpstr>
      <vt:lpstr>DM Sans</vt:lpstr>
      <vt:lpstr>ff1</vt:lpstr>
      <vt:lpstr>ff2</vt:lpstr>
      <vt:lpstr>ff4</vt:lpstr>
      <vt:lpstr>Garamond</vt:lpstr>
      <vt:lpstr>Impact</vt:lpstr>
      <vt:lpstr>Times New Roman</vt:lpstr>
      <vt:lpstr>Cooking 16x9</vt:lpstr>
      <vt:lpstr>1_Office Theme</vt:lpstr>
      <vt:lpstr>PowerPoint Presentation</vt:lpstr>
      <vt:lpstr>Let’s take a quick test!</vt:lpstr>
      <vt:lpstr>Overview of the Course </vt:lpstr>
      <vt:lpstr> Overview of Christian Ethics </vt:lpstr>
      <vt:lpstr>Definition &amp; Concepts of Ethics</vt:lpstr>
      <vt:lpstr>Definition of Ethics</vt:lpstr>
      <vt:lpstr>What is Ethics?</vt:lpstr>
      <vt:lpstr>PowerPoint Presentation</vt:lpstr>
      <vt:lpstr>PowerPoint Presentation</vt:lpstr>
      <vt:lpstr>PowerPoint Presentation</vt:lpstr>
      <vt:lpstr>PowerPoint Presentation</vt:lpstr>
      <vt:lpstr>What is Christian ethics?</vt:lpstr>
      <vt:lpstr>Types of Ethics </vt:lpstr>
      <vt:lpstr>Normative Ethics </vt:lpstr>
      <vt:lpstr>Normative ethics</vt:lpstr>
      <vt:lpstr>Characteristics of normative ethics</vt:lpstr>
      <vt:lpstr>Characteristics of normative ethics</vt:lpstr>
      <vt:lpstr>Metaethics </vt:lpstr>
      <vt:lpstr>PowerPoint Presentation</vt:lpstr>
      <vt:lpstr>Applied Ethics </vt:lpstr>
      <vt:lpstr>Quiz </vt:lpstr>
      <vt:lpstr>Quiz  </vt:lpstr>
      <vt:lpstr>Quiz </vt:lpstr>
      <vt:lpstr>PowerPoint Presentation</vt:lpstr>
      <vt:lpstr>The Nature of Ethics and Morality </vt:lpstr>
      <vt:lpstr>Moral vs Amoral Issues </vt:lpstr>
      <vt:lpstr>Moral vs Amoral Issues </vt:lpstr>
      <vt:lpstr>Sources of Ethics </vt:lpstr>
      <vt:lpstr>Sources of Christian Ethics </vt:lpstr>
      <vt:lpstr>Christian Ethics and Philosophical Ethics  </vt:lpstr>
      <vt:lpstr>PowerPoint Presentation</vt:lpstr>
      <vt:lpstr>PowerPoint Presentation</vt:lpstr>
      <vt:lpstr>PowerPoint Presentation</vt:lpstr>
      <vt:lpstr>Related Concepts in the Study of Christian Ethics </vt:lpstr>
      <vt:lpstr>PowerPoint Presentation</vt:lpstr>
      <vt:lpstr>PowerPoint Presentation</vt:lpstr>
      <vt:lpstr>Summary </vt:lpstr>
      <vt:lpstr>Key terms</vt:lpstr>
      <vt:lpstr>Check Your EQ (Ethics Quotient) </vt:lpstr>
      <vt:lpstr>Discussion Questions </vt:lpstr>
      <vt:lpstr>End of Lesson One</vt:lpstr>
      <vt:lpstr>Lesson Two</vt:lpstr>
      <vt:lpstr>Varieties of Ethics and Moral Thought </vt:lpstr>
      <vt:lpstr>Men go abroad to admire the heights of mountains, the mighty waves of the sea, the broad tides of rivers, the compass of the ocean, and the circuits of the stars, yet pass over the mystery of themselves without a thought.      - Augustine, Confessions </vt:lpstr>
      <vt:lpstr>Introduction  </vt:lpstr>
      <vt:lpstr>Christian Ethics and Moral Philosophy </vt:lpstr>
      <vt:lpstr>Difference between Morality and Ethics </vt:lpstr>
      <vt:lpstr>Difference between Morality and Ethics </vt:lpstr>
      <vt:lpstr>Difference between Morality and Ethics </vt:lpstr>
      <vt:lpstr>Questions that arise thus…</vt:lpstr>
      <vt:lpstr>Difference between Morality and Ethics </vt:lpstr>
      <vt:lpstr>Difference between Morality and Ethics </vt:lpstr>
      <vt:lpstr>PowerPoint Presentation</vt:lpstr>
      <vt:lpstr> </vt:lpstr>
      <vt:lpstr> </vt:lpstr>
      <vt:lpstr> </vt:lpstr>
      <vt:lpstr> </vt:lpstr>
      <vt:lpstr> </vt:lpstr>
      <vt:lpstr>The Intersection of Moral Philosophy and Moral Theology </vt:lpstr>
      <vt:lpstr>Methods in Ethics  </vt:lpstr>
      <vt:lpstr>Methods in Ethics  </vt:lpstr>
      <vt:lpstr>Theological Approaches </vt:lpstr>
      <vt:lpstr>Approaches to Moral Theology  </vt:lpstr>
      <vt:lpstr>Characteristics of Christian Ethics </vt:lpstr>
      <vt:lpstr>Characteristics of Christian Ethics </vt:lpstr>
      <vt:lpstr>What is a morally good action?</vt:lpstr>
      <vt:lpstr>What is a morally good action?</vt:lpstr>
      <vt:lpstr>PowerPoint Presentation</vt:lpstr>
      <vt:lpstr>PowerPoint Presentation</vt:lpstr>
      <vt:lpstr>PowerPoint Presentation</vt:lpstr>
      <vt:lpstr>PowerPoint Presentation</vt:lpstr>
      <vt:lpstr>PowerPoint Presentation</vt:lpstr>
      <vt:lpstr>Christian Ethical Foundations</vt:lpstr>
      <vt:lpstr>Christian Ethical Foundations</vt:lpstr>
      <vt:lpstr>Christian Ethical Foundations</vt:lpstr>
      <vt:lpstr>Christian Ethical Foundations</vt:lpstr>
      <vt:lpstr>Christian Ethical Foundations</vt:lpstr>
      <vt:lpstr>Characteristics of Christian Ethics </vt:lpstr>
      <vt:lpstr>Parameters of Christian Moral Conduct </vt:lpstr>
      <vt:lpstr>Parameters of Christian Moral Conduct </vt:lpstr>
      <vt:lpstr>Parameters of Christian Moral Conduct </vt:lpstr>
      <vt:lpstr>Parameters of Christian Moral Conduct </vt:lpstr>
      <vt:lpstr>Parameters of Christian Moral Conduct </vt:lpstr>
      <vt:lpstr>Functions of Moral Values  </vt:lpstr>
      <vt:lpstr>Foundations of Christian Moral Conduct with Creation as Basis and Man as a Moral Being  </vt:lpstr>
      <vt:lpstr>Foundations of Christian Moral Conduct with Creation as Basis and Man as a Moral Being  </vt:lpstr>
      <vt:lpstr>Foundations of Christian Moral Conduct with Creation as Basis and Man as a Moral Being  </vt:lpstr>
      <vt:lpstr>Foundations of Christian Moral Conduct with Creation as Basis and Man as a Moral Being  </vt:lpstr>
      <vt:lpstr>Foundations of Christian Moral Conduct with Creation as Basis and Man as a Moral Being  </vt:lpstr>
      <vt:lpstr>Foundations of Christian Moral Conduct with Creation as Basis and Man as a Moral Being  </vt:lpstr>
      <vt:lpstr>Man as a Moral Being  </vt:lpstr>
      <vt:lpstr>Micah 6:8</vt:lpstr>
      <vt:lpstr>Matthew 7:12</vt:lpstr>
      <vt:lpstr>PowerPoint Presentation</vt:lpstr>
      <vt:lpstr>Answer all questions </vt:lpstr>
      <vt:lpstr>PowerPoint Presentation</vt:lpstr>
      <vt:lpstr>Answer all questions – write short answers (10 marks)</vt:lpstr>
      <vt:lpstr>PowerPoint Presentation</vt:lpstr>
      <vt:lpstr>Customary OR Traditional Reflective Morality</vt:lpstr>
      <vt:lpstr>Traditional/Reflective Morality</vt:lpstr>
      <vt:lpstr>What is Reflective Morality?</vt:lpstr>
      <vt:lpstr>What is Reflective Morality?</vt:lpstr>
      <vt:lpstr>PowerPoint Presentation</vt:lpstr>
      <vt:lpstr>What is Conscience?</vt:lpstr>
      <vt:lpstr>What is Conscience?</vt:lpstr>
      <vt:lpstr>What is Conscience?</vt:lpstr>
      <vt:lpstr>What is Conscience?</vt:lpstr>
      <vt:lpstr>What is Conscience?</vt:lpstr>
      <vt:lpstr>What is Conscience?</vt:lpstr>
      <vt:lpstr>What does the Conscience do?</vt:lpstr>
      <vt:lpstr>The Essential Parts of the Conscience</vt:lpstr>
      <vt:lpstr>Role of the Conscience</vt:lpstr>
      <vt:lpstr>When Does the Conscience Address Us?</vt:lpstr>
      <vt:lpstr>Making Moral Decisions</vt:lpstr>
      <vt:lpstr>What is a Moral Decision?</vt:lpstr>
      <vt:lpstr>Moral Decision-Making</vt:lpstr>
      <vt:lpstr>Moral Decision-Making</vt:lpstr>
      <vt:lpstr>Moral Decision-Making</vt:lpstr>
      <vt:lpstr>Moral Decision-Making</vt:lpstr>
      <vt:lpstr>Moral Decision-Making</vt:lpstr>
      <vt:lpstr>Moral Decision-Making</vt:lpstr>
      <vt:lpstr>Scott Rae’s 7-Step Moral Reasoning Model</vt:lpstr>
      <vt:lpstr>Scott Rae’s 7-Step Moral Reasoning Model</vt:lpstr>
      <vt:lpstr>Scott Rae’s 7-Step Moral Reasoning Model</vt:lpstr>
      <vt:lpstr>Scott Rae’s 7-Step Moral Reasoning Model</vt:lpstr>
      <vt:lpstr>Scott Rae’s 7-Step Moral Reasoning Model</vt:lpstr>
      <vt:lpstr>Scott Rae’s 7-Step Moral Reasoning Model</vt:lpstr>
      <vt:lpstr>Scott Rae’s 7-Step Moral Reasoning Model</vt:lpstr>
      <vt:lpstr>Scott Rae’s 7-Step Moral Reasoning Model</vt:lpstr>
      <vt:lpstr>Moral Reasoning</vt:lpstr>
      <vt:lpstr>Moral Reasoning </vt:lpstr>
      <vt:lpstr>Moral Reasoning </vt:lpstr>
      <vt:lpstr>Add a Slide Title - 3</vt:lpstr>
      <vt:lpstr>Analyzing Moral Reasoning </vt:lpstr>
      <vt:lpstr>Analyzing Moral Reasoning </vt:lpstr>
      <vt:lpstr>Analyzing Moral Reasoning </vt:lpstr>
      <vt:lpstr>Analyzing Moral Reasoning </vt:lpstr>
      <vt:lpstr>Moral Development and Moral Reasoning</vt:lpstr>
      <vt:lpstr>SECULAR ETHICAL SYSTEM</vt:lpstr>
      <vt:lpstr>Secular Ethical Systems </vt:lpstr>
      <vt:lpstr>Cultural Relativism</vt:lpstr>
      <vt:lpstr>Cultural Relativism</vt:lpstr>
      <vt:lpstr>Cultural Relativism</vt:lpstr>
      <vt:lpstr>Ethical Emotivism </vt:lpstr>
      <vt:lpstr>Ethical Emotivism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PC</dc:creator>
  <cp:lastModifiedBy>PC</cp:lastModifiedBy>
  <cp:revision>15</cp:revision>
  <dcterms:created xsi:type="dcterms:W3CDTF">2025-09-08T13:11:40Z</dcterms:created>
  <dcterms:modified xsi:type="dcterms:W3CDTF">2025-11-20T09:06:07Z</dcterms:modified>
</cp:coreProperties>
</file>